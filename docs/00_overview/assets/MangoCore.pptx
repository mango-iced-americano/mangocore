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notesSlides/notesSlide3.xml" ContentType="application/vnd.openxmlformats-officedocument.presentationml.notesSlide+xml"/>
  <Override PartName="/ppt/tags/tag74.xml" ContentType="application/vnd.openxmlformats-officedocument.presentationml.tags+xml"/>
  <Override PartName="/ppt/notesSlides/notesSlide4.xml" ContentType="application/vnd.openxmlformats-officedocument.presentationml.notesSlide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23"/>
  </p:notesMasterIdLst>
  <p:sldIdLst>
    <p:sldId id="307" r:id="rId3"/>
    <p:sldId id="299" r:id="rId4"/>
    <p:sldId id="292" r:id="rId5"/>
    <p:sldId id="259" r:id="rId6"/>
    <p:sldId id="256" r:id="rId7"/>
    <p:sldId id="308" r:id="rId8"/>
    <p:sldId id="293" r:id="rId9"/>
    <p:sldId id="262" r:id="rId10"/>
    <p:sldId id="263" r:id="rId11"/>
    <p:sldId id="294" r:id="rId12"/>
    <p:sldId id="268" r:id="rId13"/>
    <p:sldId id="265" r:id="rId14"/>
    <p:sldId id="267" r:id="rId15"/>
    <p:sldId id="309" r:id="rId16"/>
    <p:sldId id="266" r:id="rId17"/>
    <p:sldId id="310" r:id="rId18"/>
    <p:sldId id="264" r:id="rId19"/>
    <p:sldId id="295" r:id="rId20"/>
    <p:sldId id="311" r:id="rId21"/>
    <p:sldId id="261" r:id="rId2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5" userDrawn="1">
          <p15:clr>
            <a:srgbClr val="A4A3A4"/>
          </p15:clr>
        </p15:guide>
        <p15:guide id="2" pos="384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71" d="100"/>
          <a:sy n="71" d="100"/>
        </p:scale>
        <p:origin x="91" y="355"/>
      </p:cViewPr>
      <p:guideLst>
        <p:guide orient="horz" pos="2185"/>
        <p:guide pos="3845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1C48CB-4CF2-4CE7-B64A-4B2E5BB9715F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4551CA-CA30-41FF-9E3B-AE50A2C7C8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11838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6.xml"/><Relationship Id="rId4" Type="http://schemas.openxmlformats.org/officeDocument/2006/relationships/tags" Target="../tags/tag15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1.xml"/><Relationship Id="rId4" Type="http://schemas.openxmlformats.org/officeDocument/2006/relationships/tags" Target="../tags/tag20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9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3.xml"/><Relationship Id="rId4" Type="http://schemas.openxmlformats.org/officeDocument/2006/relationships/tags" Target="../tags/tag5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7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2.xml"/><Relationship Id="rId4" Type="http://schemas.openxmlformats.org/officeDocument/2006/relationships/tags" Target="../tags/tag6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2026/6/29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2026/6/29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2026/6/29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2026/6/29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18" Type="http://schemas.openxmlformats.org/officeDocument/2006/relationships/tags" Target="../tags/tag5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ags" Target="../tags/tag4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3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2.xml"/><Relationship Id="rId10" Type="http://schemas.openxmlformats.org/officeDocument/2006/relationships/slideLayout" Target="../slideLayouts/slideLayout10.xml"/><Relationship Id="rId19" Type="http://schemas.openxmlformats.org/officeDocument/2006/relationships/tags" Target="../tags/tag6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5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6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7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2026/6/29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8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9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4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6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7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王湘浩楼"/>
          <p:cNvPicPr>
            <a:picLocks noChangeAspect="1"/>
          </p:cNvPicPr>
          <p:nvPr/>
        </p:nvPicPr>
        <p:blipFill>
          <a:blip r:embed="rId3"/>
          <a:srcRect l="4998" t="42898" r="5103"/>
          <a:stretch>
            <a:fillRect/>
          </a:stretch>
        </p:blipFill>
        <p:spPr>
          <a:xfrm>
            <a:off x="-118110" y="4272280"/>
            <a:ext cx="12310110" cy="266636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8" name="矩形 17"/>
          <p:cNvSpPr/>
          <p:nvPr/>
        </p:nvSpPr>
        <p:spPr>
          <a:xfrm>
            <a:off x="0" y="80645"/>
            <a:ext cx="12192000" cy="6858000"/>
          </a:xfrm>
          <a:prstGeom prst="rect">
            <a:avLst/>
          </a:prstGeom>
          <a:gradFill>
            <a:gsLst>
              <a:gs pos="42000">
                <a:schemeClr val="bg1">
                  <a:alpha val="83000"/>
                </a:schemeClr>
              </a:gs>
              <a:gs pos="100000">
                <a:schemeClr val="bg1">
                  <a:alpha val="90000"/>
                </a:schemeClr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200"/>
          </a:p>
        </p:txBody>
      </p:sp>
      <p:grpSp>
        <p:nvGrpSpPr>
          <p:cNvPr id="17" name="组合 16"/>
          <p:cNvGrpSpPr/>
          <p:nvPr/>
        </p:nvGrpSpPr>
        <p:grpSpPr>
          <a:xfrm>
            <a:off x="552450" y="326390"/>
            <a:ext cx="2881630" cy="918210"/>
            <a:chOff x="406" y="193"/>
            <a:chExt cx="4538" cy="1446"/>
          </a:xfrm>
          <a:noFill/>
        </p:grpSpPr>
        <p:pic>
          <p:nvPicPr>
            <p:cNvPr id="12" name="图片 11" descr="吉林大学标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994" y="193"/>
              <a:ext cx="2950" cy="915"/>
            </a:xfrm>
            <a:prstGeom prst="rect">
              <a:avLst/>
            </a:prstGeom>
            <a:grpFill/>
          </p:spPr>
        </p:pic>
        <p:pic>
          <p:nvPicPr>
            <p:cNvPr id="14" name="图片 13" descr="吉林大学校徽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06" y="193"/>
              <a:ext cx="1446" cy="1446"/>
            </a:xfrm>
            <a:prstGeom prst="rect">
              <a:avLst/>
            </a:prstGeom>
            <a:grpFill/>
          </p:spPr>
        </p:pic>
        <p:sp>
          <p:nvSpPr>
            <p:cNvPr id="15" name="文本框 14"/>
            <p:cNvSpPr txBox="1"/>
            <p:nvPr/>
          </p:nvSpPr>
          <p:spPr>
            <a:xfrm>
              <a:off x="1994" y="1205"/>
              <a:ext cx="2949" cy="434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836BF"/>
                  </a:solidFill>
                  <a:effectLst/>
                  <a:uLnTx/>
                  <a:uFillTx/>
                  <a:latin typeface="Arial Rounded MT Bold" panose="020F0704030504030204" pitchFamily="34" charset="0"/>
                  <a:ea typeface="宋体" panose="02010600030101010101" pitchFamily="2" charset="-122"/>
                  <a:cs typeface="+mn-cs"/>
                </a:rPr>
                <a:t>JILIN UNIVERSITY</a:t>
              </a:r>
            </a:p>
          </p:txBody>
        </p:sp>
      </p:grpSp>
      <p:pic>
        <p:nvPicPr>
          <p:cNvPr id="8" name="图片 7" descr="001"/>
          <p:cNvPicPr>
            <a:picLocks noChangeAspect="1"/>
          </p:cNvPicPr>
          <p:nvPr/>
        </p:nvPicPr>
        <p:blipFill>
          <a:blip r:embed="rId6"/>
          <a:srcRect l="5389" t="37981" r="4352" b="38194"/>
          <a:stretch>
            <a:fillRect/>
          </a:stretch>
        </p:blipFill>
        <p:spPr>
          <a:xfrm>
            <a:off x="8499793" y="326073"/>
            <a:ext cx="3340735" cy="882015"/>
          </a:xfrm>
          <a:prstGeom prst="rect">
            <a:avLst/>
          </a:prstGeom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id="{2064E42B-6597-466F-8DF1-D86B7FD436F4}"/>
              </a:ext>
            </a:extLst>
          </p:cNvPr>
          <p:cNvSpPr/>
          <p:nvPr/>
        </p:nvSpPr>
        <p:spPr>
          <a:xfrm>
            <a:off x="1524000" y="1625600"/>
            <a:ext cx="9144000" cy="32385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01D9119-A062-4D2E-9A89-5742E341C114}"/>
              </a:ext>
            </a:extLst>
          </p:cNvPr>
          <p:cNvSpPr txBox="1"/>
          <p:nvPr/>
        </p:nvSpPr>
        <p:spPr>
          <a:xfrm>
            <a:off x="2730500" y="1981200"/>
            <a:ext cx="3429000" cy="660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altLang="zh-CN" sz="3200" b="1">
                <a:solidFill>
                  <a:srgbClr val="3F70B7"/>
                </a:solidFill>
                <a:latin typeface="Arial"/>
                <a:cs typeface="Arial"/>
              </a:rPr>
              <a:t>MangoCore</a:t>
            </a:r>
            <a:r>
              <a:rPr lang="zh-CN" altLang="en-US" sz="3200" b="1">
                <a:solidFill>
                  <a:srgbClr val="3F70B7"/>
                </a:solidFill>
                <a:latin typeface="Arial"/>
                <a:cs typeface="Arial"/>
              </a:rPr>
              <a:t>：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B0BB6C0-7D08-428D-A85E-D7BA6F0B2A9F}"/>
              </a:ext>
            </a:extLst>
          </p:cNvPr>
          <p:cNvSpPr txBox="1"/>
          <p:nvPr/>
        </p:nvSpPr>
        <p:spPr>
          <a:xfrm>
            <a:off x="5715000" y="1993900"/>
            <a:ext cx="4318000" cy="660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zh-CN" altLang="en-US" sz="3000" b="1">
                <a:solidFill>
                  <a:srgbClr val="3F70B7"/>
                </a:solidFill>
                <a:latin typeface="Microsoft YaHei UI"/>
                <a:ea typeface="Microsoft YaHei UI"/>
              </a:rPr>
              <a:t>工程化 </a:t>
            </a:r>
            <a:r>
              <a:rPr lang="en-US" altLang="zh-CN" sz="3000" b="1">
                <a:solidFill>
                  <a:srgbClr val="3F70B7"/>
                </a:solidFill>
                <a:latin typeface="Microsoft YaHei UI"/>
                <a:ea typeface="Microsoft YaHei UI"/>
              </a:rPr>
              <a:t>Rust </a:t>
            </a:r>
            <a:r>
              <a:rPr lang="zh-CN" altLang="en-US" sz="3000" b="1">
                <a:solidFill>
                  <a:srgbClr val="3F70B7"/>
                </a:solidFill>
                <a:latin typeface="Microsoft YaHei UI"/>
                <a:ea typeface="Microsoft YaHei UI"/>
              </a:rPr>
              <a:t>内核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ACCFC142-CD1D-4AB6-8E94-2C6AF942524C}"/>
              </a:ext>
            </a:extLst>
          </p:cNvPr>
          <p:cNvSpPr txBox="1"/>
          <p:nvPr/>
        </p:nvSpPr>
        <p:spPr>
          <a:xfrm>
            <a:off x="2857500" y="3238500"/>
            <a:ext cx="64770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zh-CN" altLang="en-US" sz="1700">
                <a:solidFill>
                  <a:srgbClr val="0B2F55"/>
                </a:solidFill>
                <a:latin typeface="Microsoft YaHei UI"/>
                <a:ea typeface="Microsoft YaHei UI"/>
              </a:rPr>
              <a:t>面向 </a:t>
            </a:r>
            <a:r>
              <a:rPr lang="en-US" altLang="zh-CN" sz="1700">
                <a:solidFill>
                  <a:srgbClr val="0B2F55"/>
                </a:solidFill>
                <a:latin typeface="Microsoft YaHei UI"/>
                <a:ea typeface="Microsoft YaHei UI"/>
              </a:rPr>
              <a:t>Linux </a:t>
            </a:r>
            <a:r>
              <a:rPr lang="zh-CN" altLang="en-US" sz="1700">
                <a:solidFill>
                  <a:srgbClr val="0B2F55"/>
                </a:solidFill>
                <a:latin typeface="Microsoft YaHei UI"/>
                <a:ea typeface="Microsoft YaHei UI"/>
              </a:rPr>
              <a:t>兼容性的双架构操作系统内核实现技术报告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F1D4D300-3C45-4C3C-A8EE-A1D04779A24D}"/>
              </a:ext>
            </a:extLst>
          </p:cNvPr>
          <p:cNvSpPr txBox="1"/>
          <p:nvPr/>
        </p:nvSpPr>
        <p:spPr>
          <a:xfrm>
            <a:off x="3302000" y="3632200"/>
            <a:ext cx="5588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altLang="zh-CN" sz="1600">
                <a:solidFill>
                  <a:srgbClr val="0B2F55"/>
                </a:solidFill>
                <a:latin typeface="Arial"/>
                <a:cs typeface="Arial"/>
              </a:rPr>
              <a:t>RISC-V64 / LoongArch64 · Rust no_std · Linux ABI · Benchmark Driven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E197AA9C-5483-4193-AE3C-DD338C8D93BC}"/>
              </a:ext>
            </a:extLst>
          </p:cNvPr>
          <p:cNvSpPr txBox="1"/>
          <p:nvPr/>
        </p:nvSpPr>
        <p:spPr>
          <a:xfrm>
            <a:off x="3238500" y="4521200"/>
            <a:ext cx="57150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altLang="zh-CN" sz="1700" b="1">
                <a:solidFill>
                  <a:srgbClr val="3F70B7"/>
                </a:solidFill>
                <a:latin typeface="Microsoft YaHei UI"/>
                <a:ea typeface="Microsoft YaHei UI"/>
              </a:rPr>
              <a:t>MangoCore Team · </a:t>
            </a:r>
            <a:r>
              <a:rPr lang="zh-CN" altLang="en-US" sz="1700" b="1">
                <a:solidFill>
                  <a:srgbClr val="3F70B7"/>
                </a:solidFill>
                <a:latin typeface="Microsoft YaHei UI"/>
                <a:ea typeface="Microsoft YaHei UI"/>
              </a:rPr>
              <a:t>吉林大学 </a:t>
            </a:r>
            <a:r>
              <a:rPr lang="en-US" altLang="zh-CN" sz="1700" b="1">
                <a:solidFill>
                  <a:srgbClr val="3F70B7"/>
                </a:solidFill>
                <a:latin typeface="Microsoft YaHei UI"/>
                <a:ea typeface="Microsoft YaHei UI"/>
              </a:rPr>
              <a:t>ICS Lab · 2026.6</a:t>
            </a:r>
            <a:endParaRPr lang="zh-CN" altLang="en-US" sz="1700" b="1">
              <a:solidFill>
                <a:srgbClr val="3F70B7"/>
              </a:solidFill>
              <a:latin typeface="Microsoft YaHei UI"/>
              <a:ea typeface="Microsoft YaHei UI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B856E53-63E8-43B8-9D8A-84C51BFE877E}"/>
              </a:ext>
            </a:extLst>
          </p:cNvPr>
          <p:cNvSpPr/>
          <p:nvPr/>
        </p:nvSpPr>
        <p:spPr>
          <a:xfrm>
            <a:off x="1460500" y="1587500"/>
            <a:ext cx="9271000" cy="3429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CA103D16-6A8C-4C16-B78E-9C03B1B08169}"/>
              </a:ext>
            </a:extLst>
          </p:cNvPr>
          <p:cNvSpPr txBox="1"/>
          <p:nvPr/>
        </p:nvSpPr>
        <p:spPr>
          <a:xfrm>
            <a:off x="2540000" y="2131130"/>
            <a:ext cx="3302000" cy="70788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4000" b="1" dirty="0" err="1">
                <a:solidFill>
                  <a:srgbClr val="3F70B7"/>
                </a:solidFill>
                <a:latin typeface="Arial"/>
                <a:cs typeface="Arial"/>
              </a:rPr>
              <a:t>MangoCore</a:t>
            </a:r>
            <a:r>
              <a:rPr lang="zh-CN" altLang="en-US" sz="4000" b="1" dirty="0">
                <a:solidFill>
                  <a:srgbClr val="3F70B7"/>
                </a:solidFill>
                <a:latin typeface="Arial"/>
                <a:cs typeface="Arial"/>
              </a:rPr>
              <a:t>：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3C24684E-1773-4300-B983-8613272E78DC}"/>
              </a:ext>
            </a:extLst>
          </p:cNvPr>
          <p:cNvSpPr txBox="1"/>
          <p:nvPr/>
        </p:nvSpPr>
        <p:spPr>
          <a:xfrm>
            <a:off x="5842000" y="2088654"/>
            <a:ext cx="4191000" cy="70788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4000" b="1" dirty="0">
                <a:solidFill>
                  <a:srgbClr val="3F70B7"/>
                </a:solidFill>
                <a:latin typeface="Microsoft YaHei UI"/>
                <a:ea typeface="Microsoft YaHei UI"/>
              </a:rPr>
              <a:t>工程化 </a:t>
            </a:r>
            <a:r>
              <a:rPr lang="en-US" altLang="zh-CN" sz="4000" b="1" dirty="0">
                <a:solidFill>
                  <a:srgbClr val="3F70B7"/>
                </a:solidFill>
                <a:latin typeface="Microsoft YaHei UI"/>
                <a:ea typeface="Microsoft YaHei UI"/>
              </a:rPr>
              <a:t>Rust </a:t>
            </a:r>
            <a:r>
              <a:rPr lang="zh-CN" altLang="en-US" sz="4000" b="1" dirty="0">
                <a:solidFill>
                  <a:srgbClr val="3F70B7"/>
                </a:solidFill>
                <a:latin typeface="Microsoft YaHei UI"/>
                <a:ea typeface="Microsoft YaHei UI"/>
              </a:rPr>
              <a:t>内核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0EABD177-4D71-4069-9F9E-CC1F7E3DE796}"/>
              </a:ext>
            </a:extLst>
          </p:cNvPr>
          <p:cNvSpPr txBox="1"/>
          <p:nvPr/>
        </p:nvSpPr>
        <p:spPr>
          <a:xfrm>
            <a:off x="3614568" y="3238500"/>
            <a:ext cx="6032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700" dirty="0">
                <a:solidFill>
                  <a:srgbClr val="0B2F55"/>
                </a:solidFill>
                <a:latin typeface="Microsoft YaHei UI"/>
                <a:ea typeface="Microsoft YaHei UI"/>
              </a:rPr>
              <a:t>面向 </a:t>
            </a:r>
            <a:r>
              <a:rPr lang="en-US" altLang="zh-CN" sz="1700" dirty="0">
                <a:solidFill>
                  <a:srgbClr val="0B2F55"/>
                </a:solidFill>
                <a:latin typeface="Microsoft YaHei UI"/>
                <a:ea typeface="Microsoft YaHei UI"/>
              </a:rPr>
              <a:t>Linux </a:t>
            </a:r>
            <a:r>
              <a:rPr lang="zh-CN" altLang="en-US" sz="1700" dirty="0">
                <a:solidFill>
                  <a:srgbClr val="0B2F55"/>
                </a:solidFill>
                <a:latin typeface="Microsoft YaHei UI"/>
                <a:ea typeface="Microsoft YaHei UI"/>
              </a:rPr>
              <a:t>兼容性的双架构操作系统内核实现技术报告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4D02BB35-BEF1-48B4-965E-8C1E60D4E530}"/>
              </a:ext>
            </a:extLst>
          </p:cNvPr>
          <p:cNvSpPr txBox="1"/>
          <p:nvPr/>
        </p:nvSpPr>
        <p:spPr>
          <a:xfrm>
            <a:off x="3614568" y="4521200"/>
            <a:ext cx="5338931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1700" b="1" dirty="0" err="1">
                <a:solidFill>
                  <a:srgbClr val="3F70B7"/>
                </a:solidFill>
                <a:latin typeface="Microsoft YaHei UI"/>
                <a:ea typeface="Microsoft YaHei UI"/>
              </a:rPr>
              <a:t>MangoCore</a:t>
            </a:r>
            <a:r>
              <a:rPr lang="en-US" altLang="zh-CN" sz="1700" b="1" dirty="0">
                <a:solidFill>
                  <a:srgbClr val="3F70B7"/>
                </a:solidFill>
                <a:latin typeface="Microsoft YaHei UI"/>
                <a:ea typeface="Microsoft YaHei UI"/>
              </a:rPr>
              <a:t> Team · </a:t>
            </a:r>
            <a:r>
              <a:rPr lang="zh-CN" altLang="en-US" sz="1700" b="1" dirty="0">
                <a:solidFill>
                  <a:srgbClr val="3F70B7"/>
                </a:solidFill>
                <a:latin typeface="Microsoft YaHei UI"/>
                <a:ea typeface="Microsoft YaHei UI"/>
              </a:rPr>
              <a:t>吉林大学 </a:t>
            </a:r>
            <a:r>
              <a:rPr lang="en-US" altLang="zh-CN" sz="1700" b="1" dirty="0">
                <a:solidFill>
                  <a:srgbClr val="3F70B7"/>
                </a:solidFill>
                <a:latin typeface="Microsoft YaHei UI"/>
                <a:ea typeface="Microsoft YaHei UI"/>
              </a:rPr>
              <a:t>ICS Lab · 2026.6</a:t>
            </a:r>
            <a:endParaRPr lang="zh-CN" altLang="en-US" sz="1700" b="1" dirty="0">
              <a:solidFill>
                <a:srgbClr val="3F70B7"/>
              </a:solidFill>
              <a:latin typeface="Microsoft YaHei UI"/>
              <a:ea typeface="Microsoft YaHei UI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143042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2926080" cy="6858000"/>
          </a:xfrm>
          <a:prstGeom prst="rect">
            <a:avLst/>
          </a:prstGeom>
          <a:gradFill>
            <a:gsLst>
              <a:gs pos="100000">
                <a:schemeClr val="accent1">
                  <a:alpha val="0"/>
                </a:schemeClr>
              </a:gs>
              <a:gs pos="16000">
                <a:schemeClr val="accent1">
                  <a:alpha val="2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HarmonyOS Sans SC" panose="00000500000000000000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0" y="0"/>
            <a:ext cx="2865120" cy="6858000"/>
          </a:xfrm>
          <a:prstGeom prst="rect">
            <a:avLst/>
          </a:prstGeom>
          <a:gradFill flip="none" rotWithShape="1">
            <a:gsLst>
              <a:gs pos="50000">
                <a:schemeClr val="accent1"/>
              </a:gs>
              <a:gs pos="100000">
                <a:schemeClr val="accent1">
                  <a:lumMod val="95000"/>
                  <a:lumOff val="5000"/>
                </a:schemeClr>
              </a:gs>
              <a:gs pos="73000">
                <a:schemeClr val="accent1"/>
              </a:gs>
              <a:gs pos="13000">
                <a:schemeClr val="accent1">
                  <a:lumMod val="90000"/>
                  <a:lumOff val="10000"/>
                </a:schemeClr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HarmonyOS Sans SC" panose="00000500000000000000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06400" y="2768600"/>
            <a:ext cx="2032000" cy="1016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200" b="1">
                <a:solidFill>
                  <a:srgbClr val="FFFFFF"/>
                </a:solidFill>
                <a:latin typeface="+mj-ea"/>
                <a:ea typeface="+mj-ea"/>
              </a:rPr>
              <a:t>目录</a:t>
            </a:r>
            <a:endParaRPr lang="zh-CN" altLang="en-US" sz="5200" b="1" dirty="0">
              <a:solidFill>
                <a:srgbClr val="FFFFFF"/>
              </a:solidFill>
              <a:latin typeface="+mj-ea"/>
              <a:ea typeface="+mj-ea"/>
            </a:endParaRPr>
          </a:p>
        </p:txBody>
      </p:sp>
      <p:sp>
        <p:nvSpPr>
          <p:cNvPr id="3" name="PA-原创作者：剑如虹设计"/>
          <p:cNvSpPr>
            <a:spLocks noSelect="1" noMove="1"/>
          </p:cNvSpPr>
          <p:nvPr>
            <p:custDataLst>
              <p:tags r:id="rId1"/>
            </p:custDataLst>
          </p:nvPr>
        </p:nvSpPr>
        <p:spPr>
          <a:xfrm>
            <a:off x="0" y="-1975556"/>
            <a:ext cx="12192000" cy="1270000"/>
          </a:xfrm>
          <a:prstGeom prst="roundRect">
            <a:avLst>
              <a:gd name="adj" fmla="val 0"/>
            </a:avLst>
          </a:prstGeom>
          <a:solidFill>
            <a:srgbClr val="E4E4E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6000" dirty="0">
                <a:solidFill>
                  <a:srgbClr val="E4E4E4"/>
                </a:solidFill>
                <a:latin typeface="HarmonyOS Sans SC" panose="00000500000000000000" pitchFamily="2" charset="-122"/>
              </a:rPr>
              <a:t>原创作者：剑如虹设计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84D1452-DFB5-4738-8A4C-44EA7AEC7F16}"/>
              </a:ext>
            </a:extLst>
          </p:cNvPr>
          <p:cNvSpPr txBox="1"/>
          <p:nvPr/>
        </p:nvSpPr>
        <p:spPr>
          <a:xfrm>
            <a:off x="457200" y="6553200"/>
            <a:ext cx="2794000" cy="1524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fontScale="77500" lnSpcReduction="20000"/>
          </a:bodyPr>
          <a:lstStyle/>
          <a:p>
            <a:pPr algn="l"/>
            <a:r>
              <a:rPr lang="en-US" altLang="zh-CN" sz="650">
                <a:solidFill>
                  <a:srgbClr val="D7E1F5"/>
                </a:solidFill>
                <a:latin typeface="Microsoft YaHei"/>
                <a:ea typeface="Microsoft YaHei"/>
              </a:rPr>
              <a:t>MangoCore · OS Kernel Competition 2026</a:t>
            </a:r>
            <a:endParaRPr lang="zh-CN" altLang="en-US" sz="650">
              <a:solidFill>
                <a:srgbClr val="D7E1F5"/>
              </a:solidFill>
              <a:latin typeface="Microsoft YaHei"/>
              <a:ea typeface="Microsoft YaHei"/>
            </a:endParaRPr>
          </a:p>
        </p:txBody>
      </p:sp>
      <p:sp>
        <p:nvSpPr>
          <p:cNvPr id="55" name="矩形: 圆角 54">
            <a:extLst>
              <a:ext uri="{FF2B5EF4-FFF2-40B4-BE49-F238E27FC236}">
                <a16:creationId xmlns:a16="http://schemas.microsoft.com/office/drawing/2014/main" id="{6738BC7A-7CC9-467D-9C50-08A4401BDB5C}"/>
              </a:ext>
            </a:extLst>
          </p:cNvPr>
          <p:cNvSpPr/>
          <p:nvPr/>
        </p:nvSpPr>
        <p:spPr>
          <a:xfrm>
            <a:off x="4038600" y="1092200"/>
            <a:ext cx="7112000" cy="7874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6E1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56" name="椭圆 55">
            <a:extLst>
              <a:ext uri="{FF2B5EF4-FFF2-40B4-BE49-F238E27FC236}">
                <a16:creationId xmlns:a16="http://schemas.microsoft.com/office/drawing/2014/main" id="{EB76B39B-06CD-4E63-B604-6D268FB19A4C}"/>
              </a:ext>
            </a:extLst>
          </p:cNvPr>
          <p:cNvSpPr/>
          <p:nvPr/>
        </p:nvSpPr>
        <p:spPr>
          <a:xfrm>
            <a:off x="4419600" y="1155700"/>
            <a:ext cx="660400" cy="660400"/>
          </a:xfrm>
          <a:prstGeom prst="ellipse">
            <a:avLst/>
          </a:prstGeom>
          <a:solidFill>
            <a:srgbClr val="3F70B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en-US" altLang="zh-CN" sz="2000" b="1">
                <a:solidFill>
                  <a:srgbClr val="FFFFFF"/>
                </a:solidFill>
              </a:rPr>
              <a:t>01</a:t>
            </a:r>
            <a:endParaRPr lang="zh-CN" altLang="en-US" sz="2000" b="1">
              <a:solidFill>
                <a:srgbClr val="FFFFFF"/>
              </a:solidFill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7EDDF79A-4F75-42A1-91C7-963ECCEA86BA}"/>
              </a:ext>
            </a:extLst>
          </p:cNvPr>
          <p:cNvSpPr txBox="1"/>
          <p:nvPr/>
        </p:nvSpPr>
        <p:spPr>
          <a:xfrm>
            <a:off x="5461000" y="1308100"/>
            <a:ext cx="5207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r>
              <a:rPr lang="zh-CN" altLang="en-US" sz="1800" b="1">
                <a:solidFill>
                  <a:srgbClr val="0B2F55"/>
                </a:solidFill>
                <a:latin typeface="Microsoft YaHei"/>
                <a:ea typeface="Microsoft YaHei"/>
              </a:rPr>
              <a:t>内核简介：目标 / 演进 / 架构</a:t>
            </a:r>
          </a:p>
        </p:txBody>
      </p:sp>
      <p:sp>
        <p:nvSpPr>
          <p:cNvPr id="58" name="矩形: 圆角 57">
            <a:extLst>
              <a:ext uri="{FF2B5EF4-FFF2-40B4-BE49-F238E27FC236}">
                <a16:creationId xmlns:a16="http://schemas.microsoft.com/office/drawing/2014/main" id="{0EFCD1DC-165D-4BF0-8008-CE66E78B0601}"/>
              </a:ext>
            </a:extLst>
          </p:cNvPr>
          <p:cNvSpPr/>
          <p:nvPr/>
        </p:nvSpPr>
        <p:spPr>
          <a:xfrm>
            <a:off x="4038600" y="2235200"/>
            <a:ext cx="7112000" cy="7874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6E1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59" name="椭圆 58">
            <a:extLst>
              <a:ext uri="{FF2B5EF4-FFF2-40B4-BE49-F238E27FC236}">
                <a16:creationId xmlns:a16="http://schemas.microsoft.com/office/drawing/2014/main" id="{C07C51C7-9FC9-4309-B699-6E70B3858AC9}"/>
              </a:ext>
            </a:extLst>
          </p:cNvPr>
          <p:cNvSpPr/>
          <p:nvPr/>
        </p:nvSpPr>
        <p:spPr>
          <a:xfrm>
            <a:off x="4419600" y="2298700"/>
            <a:ext cx="660400" cy="660400"/>
          </a:xfrm>
          <a:prstGeom prst="ellipse">
            <a:avLst/>
          </a:prstGeom>
          <a:solidFill>
            <a:srgbClr val="3F70B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en-US" altLang="zh-CN" sz="2000" b="1">
                <a:solidFill>
                  <a:srgbClr val="FFFFFF"/>
                </a:solidFill>
              </a:rPr>
              <a:t>02</a:t>
            </a:r>
            <a:endParaRPr lang="zh-CN" altLang="en-US" sz="2000" b="1">
              <a:solidFill>
                <a:srgbClr val="FFFFFF"/>
              </a:solidFill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8389A3F6-DA6A-43DA-A9D8-E61E1FBBC095}"/>
              </a:ext>
            </a:extLst>
          </p:cNvPr>
          <p:cNvSpPr txBox="1"/>
          <p:nvPr/>
        </p:nvSpPr>
        <p:spPr>
          <a:xfrm>
            <a:off x="5461000" y="2451100"/>
            <a:ext cx="5207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r>
              <a:rPr lang="zh-CN" altLang="en-US" sz="1800" b="1">
                <a:solidFill>
                  <a:srgbClr val="0B2F55"/>
                </a:solidFill>
                <a:latin typeface="Microsoft YaHei"/>
                <a:ea typeface="Microsoft YaHei"/>
              </a:rPr>
              <a:t>问题解决：Debug case 与回归闭环</a:t>
            </a:r>
          </a:p>
        </p:txBody>
      </p:sp>
      <p:sp>
        <p:nvSpPr>
          <p:cNvPr id="61" name="矩形: 圆角 60">
            <a:extLst>
              <a:ext uri="{FF2B5EF4-FFF2-40B4-BE49-F238E27FC236}">
                <a16:creationId xmlns:a16="http://schemas.microsoft.com/office/drawing/2014/main" id="{1E58E555-51C6-47CC-9C2F-5950804F09DC}"/>
              </a:ext>
            </a:extLst>
          </p:cNvPr>
          <p:cNvSpPr/>
          <p:nvPr/>
        </p:nvSpPr>
        <p:spPr>
          <a:xfrm>
            <a:off x="4038600" y="3378200"/>
            <a:ext cx="7112000" cy="7874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6E1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62" name="椭圆 61">
            <a:extLst>
              <a:ext uri="{FF2B5EF4-FFF2-40B4-BE49-F238E27FC236}">
                <a16:creationId xmlns:a16="http://schemas.microsoft.com/office/drawing/2014/main" id="{0E7712A9-77C3-4F83-B5A8-79B85956AB02}"/>
              </a:ext>
            </a:extLst>
          </p:cNvPr>
          <p:cNvSpPr/>
          <p:nvPr/>
        </p:nvSpPr>
        <p:spPr>
          <a:xfrm>
            <a:off x="4419600" y="3441700"/>
            <a:ext cx="660400" cy="660400"/>
          </a:xfrm>
          <a:prstGeom prst="ellipse">
            <a:avLst/>
          </a:prstGeom>
          <a:solidFill>
            <a:srgbClr val="3F70B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en-US" altLang="zh-CN" sz="2000" b="1">
                <a:solidFill>
                  <a:srgbClr val="FFFFFF"/>
                </a:solidFill>
              </a:rPr>
              <a:t>03</a:t>
            </a:r>
            <a:endParaRPr lang="zh-CN" altLang="en-US" sz="2000" b="1">
              <a:solidFill>
                <a:srgbClr val="FFFFFF"/>
              </a:solidFill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5BEF1C9E-191E-4C9E-B6C2-42CE01D3CC58}"/>
              </a:ext>
            </a:extLst>
          </p:cNvPr>
          <p:cNvSpPr txBox="1"/>
          <p:nvPr/>
        </p:nvSpPr>
        <p:spPr>
          <a:xfrm>
            <a:off x="5461000" y="3594100"/>
            <a:ext cx="5207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r>
              <a:rPr lang="zh-CN" altLang="en-US" sz="1800" b="1">
                <a:solidFill>
                  <a:srgbClr val="0B2F55"/>
                </a:solidFill>
                <a:latin typeface="Microsoft YaHei"/>
                <a:ea typeface="Microsoft YaHei"/>
              </a:rPr>
              <a:t>实现细节：Boot / Memory / VFS / Network</a:t>
            </a:r>
          </a:p>
        </p:txBody>
      </p:sp>
      <p:sp>
        <p:nvSpPr>
          <p:cNvPr id="1024" name="矩形: 圆角 1023">
            <a:extLst>
              <a:ext uri="{FF2B5EF4-FFF2-40B4-BE49-F238E27FC236}">
                <a16:creationId xmlns:a16="http://schemas.microsoft.com/office/drawing/2014/main" id="{52F9458A-FF00-4063-909B-39A764BB97F5}"/>
              </a:ext>
            </a:extLst>
          </p:cNvPr>
          <p:cNvSpPr/>
          <p:nvPr/>
        </p:nvSpPr>
        <p:spPr>
          <a:xfrm>
            <a:off x="4038600" y="4521200"/>
            <a:ext cx="7112000" cy="7874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6E1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025" name="椭圆 1024">
            <a:extLst>
              <a:ext uri="{FF2B5EF4-FFF2-40B4-BE49-F238E27FC236}">
                <a16:creationId xmlns:a16="http://schemas.microsoft.com/office/drawing/2014/main" id="{27DA7C2B-6BA5-420D-B9E6-DFD3949CCC9C}"/>
              </a:ext>
            </a:extLst>
          </p:cNvPr>
          <p:cNvSpPr/>
          <p:nvPr/>
        </p:nvSpPr>
        <p:spPr>
          <a:xfrm>
            <a:off x="4419600" y="4584700"/>
            <a:ext cx="660400" cy="660400"/>
          </a:xfrm>
          <a:prstGeom prst="ellipse">
            <a:avLst/>
          </a:prstGeom>
          <a:solidFill>
            <a:srgbClr val="3F70B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en-US" altLang="zh-CN" sz="2000" b="1">
                <a:solidFill>
                  <a:srgbClr val="FFFFFF"/>
                </a:solidFill>
              </a:rPr>
              <a:t>04</a:t>
            </a:r>
            <a:endParaRPr lang="zh-CN" altLang="en-US" sz="2000" b="1">
              <a:solidFill>
                <a:srgbClr val="FFFFFF"/>
              </a:solidFill>
            </a:endParaRPr>
          </a:p>
        </p:txBody>
      </p:sp>
      <p:sp>
        <p:nvSpPr>
          <p:cNvPr id="1027" name="文本框 1026">
            <a:extLst>
              <a:ext uri="{FF2B5EF4-FFF2-40B4-BE49-F238E27FC236}">
                <a16:creationId xmlns:a16="http://schemas.microsoft.com/office/drawing/2014/main" id="{E7F27C01-A515-449E-AB3B-8679840DCFBE}"/>
              </a:ext>
            </a:extLst>
          </p:cNvPr>
          <p:cNvSpPr txBox="1"/>
          <p:nvPr/>
        </p:nvSpPr>
        <p:spPr>
          <a:xfrm>
            <a:off x="5461000" y="4737100"/>
            <a:ext cx="5207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r>
              <a:rPr lang="zh-CN" altLang="en-US" sz="1800" b="1">
                <a:solidFill>
                  <a:srgbClr val="0B2F55"/>
                </a:solidFill>
                <a:latin typeface="Microsoft YaHei"/>
                <a:ea typeface="Microsoft YaHei"/>
              </a:rPr>
              <a:t>总结：Benchmark 与工程化展望</a:t>
            </a:r>
          </a:p>
        </p:txBody>
      </p:sp>
    </p:spTree>
    <p:extLst>
      <p:ext uri="{BB962C8B-B14F-4D97-AF65-F5344CB8AC3E}">
        <p14:creationId xmlns:p14="http://schemas.microsoft.com/office/powerpoint/2010/main" val="4666893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王湘浩楼"/>
          <p:cNvPicPr>
            <a:picLocks noChangeAspect="1"/>
          </p:cNvPicPr>
          <p:nvPr/>
        </p:nvPicPr>
        <p:blipFill>
          <a:blip r:embed="rId3">
            <a:alphaModFix amt="36000"/>
          </a:blip>
          <a:srcRect l="4998" t="42898" r="5103"/>
          <a:stretch>
            <a:fillRect/>
          </a:stretch>
        </p:blipFill>
        <p:spPr>
          <a:xfrm>
            <a:off x="-118110" y="4234180"/>
            <a:ext cx="12310110" cy="270446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8" name="矩形 17"/>
          <p:cNvSpPr/>
          <p:nvPr/>
        </p:nvSpPr>
        <p:spPr>
          <a:xfrm>
            <a:off x="0" y="0"/>
            <a:ext cx="12192000" cy="6938010"/>
          </a:xfrm>
          <a:prstGeom prst="rect">
            <a:avLst/>
          </a:prstGeom>
          <a:gradFill>
            <a:gsLst>
              <a:gs pos="42000">
                <a:schemeClr val="bg1">
                  <a:alpha val="83000"/>
                </a:schemeClr>
              </a:gs>
              <a:gs pos="100000">
                <a:schemeClr val="bg1">
                  <a:alpha val="90000"/>
                </a:schemeClr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br>
              <a:rPr lang="zh-CN" altLang="en-US" sz="1200" dirty="0">
                <a:sym typeface="+mn-ea"/>
              </a:rPr>
            </a:br>
            <a:r>
              <a:rPr lang="zh-CN" altLang="en-US" sz="1200" dirty="0">
                <a:sym typeface="+mn-ea"/>
              </a:rPr>
              <a:t>数据洪流与</a:t>
            </a:r>
            <a:r>
              <a:rPr lang="en-US" altLang="zh-CN" sz="1200" dirty="0">
                <a:sym typeface="+mn-ea"/>
              </a:rPr>
              <a:t>AI</a:t>
            </a:r>
            <a:r>
              <a:rPr lang="zh-CN" altLang="en-US" sz="1200" dirty="0">
                <a:sym typeface="+mn-ea"/>
              </a:rPr>
              <a:t>的</a:t>
            </a:r>
            <a:br>
              <a:rPr lang="zh-CN" altLang="en-US" sz="1200" dirty="0">
                <a:sym typeface="+mn-ea"/>
              </a:rPr>
            </a:br>
            <a:r>
              <a:rPr lang="zh-CN" altLang="en-US" sz="1200" dirty="0">
                <a:sym typeface="+mn-ea"/>
              </a:rPr>
              <a:t>变革性影响</a:t>
            </a:r>
            <a:endParaRPr lang="en-US" sz="1200"/>
          </a:p>
        </p:txBody>
      </p:sp>
      <p:sp>
        <p:nvSpPr>
          <p:cNvPr id="4" name="标题"/>
          <p:cNvSpPr>
            <a:spLocks noGrp="1"/>
          </p:cNvSpPr>
          <p:nvPr/>
        </p:nvSpPr>
        <p:spPr>
          <a:xfrm>
            <a:off x="3121025" y="2167890"/>
            <a:ext cx="8462645" cy="212725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30000"/>
              </a:lnSpc>
            </a:pPr>
            <a:br>
              <a:rPr lang="zh-CN" altLang="en-US" sz="40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40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内核简介</a:t>
            </a:r>
          </a:p>
          <a:p>
            <a:pPr algn="ctr">
              <a:lnSpc>
                <a:spcPct val="130000"/>
              </a:lnSpc>
            </a:pPr>
            <a:r>
              <a:rPr lang="zh-CN" altLang="en-US" sz="40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目标、演进与总体架构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780540" y="2372995"/>
            <a:ext cx="2261870" cy="1861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36926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001"/>
          <p:cNvPicPr>
            <a:picLocks noChangeAspect="1"/>
          </p:cNvPicPr>
          <p:nvPr/>
        </p:nvPicPr>
        <p:blipFill>
          <a:blip r:embed="rId3"/>
          <a:srcRect l="5389" t="37981" r="4352" b="38194"/>
          <a:stretch>
            <a:fillRect/>
          </a:stretch>
        </p:blipFill>
        <p:spPr>
          <a:xfrm>
            <a:off x="9106535" y="123825"/>
            <a:ext cx="2757805" cy="728345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AD0C2083-4914-4A04-B608-6AF0FEEE6333}"/>
              </a:ext>
            </a:extLst>
          </p:cNvPr>
          <p:cNvSpPr txBox="1"/>
          <p:nvPr/>
        </p:nvSpPr>
        <p:spPr>
          <a:xfrm>
            <a:off x="736600" y="1168400"/>
            <a:ext cx="107315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altLang="zh-CN" sz="1450" b="1">
                <a:solidFill>
                  <a:srgbClr val="0B2F55"/>
                </a:solidFill>
                <a:latin typeface="Microsoft YaHei UI"/>
                <a:ea typeface="Microsoft YaHei UI"/>
              </a:rPr>
              <a:t>MangoCore </a:t>
            </a:r>
            <a:r>
              <a:rPr lang="zh-CN" altLang="en-US" sz="1450" b="1">
                <a:solidFill>
                  <a:srgbClr val="0B2F55"/>
                </a:solidFill>
                <a:latin typeface="Microsoft YaHei UI"/>
                <a:ea typeface="Microsoft YaHei UI"/>
              </a:rPr>
              <a:t>的目标是在 </a:t>
            </a:r>
            <a:r>
              <a:rPr lang="en-US" altLang="zh-CN" sz="1450" b="1">
                <a:solidFill>
                  <a:srgbClr val="0B2F55"/>
                </a:solidFill>
                <a:latin typeface="Microsoft YaHei UI"/>
                <a:ea typeface="Microsoft YaHei UI"/>
              </a:rPr>
              <a:t>riscv64 / loongarch64 </a:t>
            </a:r>
            <a:r>
              <a:rPr lang="zh-CN" altLang="en-US" sz="1450" b="1">
                <a:solidFill>
                  <a:srgbClr val="0B2F55"/>
                </a:solidFill>
                <a:latin typeface="Microsoft YaHei UI"/>
                <a:ea typeface="Microsoft YaHei UI"/>
              </a:rPr>
              <a:t>上，用同一套 </a:t>
            </a:r>
            <a:r>
              <a:rPr lang="en-US" altLang="zh-CN" sz="1450" b="1">
                <a:solidFill>
                  <a:srgbClr val="0B2F55"/>
                </a:solidFill>
                <a:latin typeface="Microsoft YaHei UI"/>
                <a:ea typeface="Microsoft YaHei UI"/>
              </a:rPr>
              <a:t>Linux </a:t>
            </a:r>
            <a:r>
              <a:rPr lang="zh-CN" altLang="en-US" sz="1450" b="1">
                <a:solidFill>
                  <a:srgbClr val="0B2F55"/>
                </a:solidFill>
                <a:latin typeface="Microsoft YaHei UI"/>
                <a:ea typeface="Microsoft YaHei UI"/>
              </a:rPr>
              <a:t>语义稳定运行 </a:t>
            </a:r>
            <a:r>
              <a:rPr lang="en-US" altLang="zh-CN" sz="1450" b="1">
                <a:solidFill>
                  <a:srgbClr val="0B2F55"/>
                </a:solidFill>
                <a:latin typeface="Microsoft YaHei UI"/>
                <a:ea typeface="Microsoft YaHei UI"/>
              </a:rPr>
              <a:t>basic</a:t>
            </a:r>
            <a:r>
              <a:rPr lang="zh-CN" altLang="en-US" sz="1450" b="1">
                <a:solidFill>
                  <a:srgbClr val="0B2F55"/>
                </a:solidFill>
                <a:latin typeface="Microsoft YaHei UI"/>
                <a:ea typeface="Microsoft YaHei UI"/>
              </a:rPr>
              <a:t>、</a:t>
            </a:r>
            <a:r>
              <a:rPr lang="en-US" altLang="zh-CN" sz="1450" b="1">
                <a:solidFill>
                  <a:srgbClr val="0B2F55"/>
                </a:solidFill>
                <a:latin typeface="Microsoft YaHei UI"/>
                <a:ea typeface="Microsoft YaHei UI"/>
              </a:rPr>
              <a:t>BusyBox</a:t>
            </a:r>
            <a:r>
              <a:rPr lang="zh-CN" altLang="en-US" sz="1450" b="1">
                <a:solidFill>
                  <a:srgbClr val="0B2F55"/>
                </a:solidFill>
                <a:latin typeface="Microsoft YaHei UI"/>
                <a:ea typeface="Microsoft YaHei UI"/>
              </a:rPr>
              <a:t>、</a:t>
            </a:r>
            <a:r>
              <a:rPr lang="en-US" altLang="zh-CN" sz="1450" b="1">
                <a:solidFill>
                  <a:srgbClr val="0B2F55"/>
                </a:solidFill>
                <a:latin typeface="Microsoft YaHei UI"/>
                <a:ea typeface="Microsoft YaHei UI"/>
              </a:rPr>
              <a:t>libc </a:t>
            </a:r>
            <a:r>
              <a:rPr lang="zh-CN" altLang="en-US" sz="1450" b="1">
                <a:solidFill>
                  <a:srgbClr val="0B2F55"/>
                </a:solidFill>
                <a:latin typeface="Microsoft YaHei UI"/>
                <a:ea typeface="Microsoft YaHei UI"/>
              </a:rPr>
              <a:t>与 </a:t>
            </a:r>
            <a:r>
              <a:rPr lang="en-US" altLang="zh-CN" sz="1450" b="1">
                <a:solidFill>
                  <a:srgbClr val="0B2F55"/>
                </a:solidFill>
                <a:latin typeface="Microsoft YaHei UI"/>
                <a:ea typeface="Microsoft YaHei UI"/>
              </a:rPr>
              <a:t>LTP </a:t>
            </a:r>
            <a:r>
              <a:rPr lang="zh-CN" altLang="en-US" sz="1450" b="1">
                <a:solidFill>
                  <a:srgbClr val="0B2F55"/>
                </a:solidFill>
                <a:latin typeface="Microsoft YaHei UI"/>
                <a:ea typeface="Microsoft YaHei UI"/>
              </a:rPr>
              <a:t>测例。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1F6FC3B-1DFD-4E69-AFAC-DF5224D42465}"/>
              </a:ext>
            </a:extLst>
          </p:cNvPr>
          <p:cNvSpPr/>
          <p:nvPr/>
        </p:nvSpPr>
        <p:spPr>
          <a:xfrm>
            <a:off x="736600" y="2006600"/>
            <a:ext cx="2489200" cy="14986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9E3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42433F8-959B-4A8F-8732-3D80B1C5AEE5}"/>
              </a:ext>
            </a:extLst>
          </p:cNvPr>
          <p:cNvSpPr/>
          <p:nvPr/>
        </p:nvSpPr>
        <p:spPr>
          <a:xfrm>
            <a:off x="736600" y="2006600"/>
            <a:ext cx="63500" cy="1498600"/>
          </a:xfrm>
          <a:prstGeom prst="rect">
            <a:avLst/>
          </a:prstGeom>
          <a:solidFill>
            <a:srgbClr val="4A76D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15E11A1C-9955-4642-BF29-0B2978858D32}"/>
              </a:ext>
            </a:extLst>
          </p:cNvPr>
          <p:cNvSpPr/>
          <p:nvPr/>
        </p:nvSpPr>
        <p:spPr>
          <a:xfrm>
            <a:off x="914400" y="2184400"/>
            <a:ext cx="558800" cy="330200"/>
          </a:xfrm>
          <a:prstGeom prst="roundRect">
            <a:avLst/>
          </a:prstGeom>
          <a:solidFill>
            <a:srgbClr val="4A76D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altLang="zh-CN" sz="1000" b="1">
                <a:solidFill>
                  <a:srgbClr val="FFFFFF"/>
                </a:solidFill>
                <a:latin typeface="Microsoft YaHei"/>
                <a:ea typeface="Microsoft YaHei"/>
              </a:rPr>
              <a:t>Rust</a:t>
            </a:r>
            <a:endParaRPr lang="zh-CN" altLang="en-US" sz="1000" b="1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68990C7-85E8-4D85-830C-3DA60E611A09}"/>
              </a:ext>
            </a:extLst>
          </p:cNvPr>
          <p:cNvSpPr txBox="1"/>
          <p:nvPr/>
        </p:nvSpPr>
        <p:spPr>
          <a:xfrm>
            <a:off x="1600200" y="2197100"/>
            <a:ext cx="14478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fontScale="92500"/>
          </a:bodyPr>
          <a:lstStyle/>
          <a:p>
            <a:pPr algn="l"/>
            <a:r>
              <a:rPr lang="en-US" altLang="zh-CN" sz="1320" b="1">
                <a:solidFill>
                  <a:srgbClr val="123B67"/>
                </a:solidFill>
                <a:latin typeface="Microsoft YaHei"/>
                <a:ea typeface="Microsoft YaHei"/>
              </a:rPr>
              <a:t>no_std </a:t>
            </a:r>
            <a:r>
              <a:rPr lang="zh-CN" altLang="en-US" sz="1320" b="1">
                <a:solidFill>
                  <a:srgbClr val="123B67"/>
                </a:solidFill>
                <a:latin typeface="Microsoft YaHei"/>
                <a:ea typeface="Microsoft YaHei"/>
              </a:rPr>
              <a:t>裸机内核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D56FFAA-AD1F-4463-8BE7-2458F477D6DE}"/>
              </a:ext>
            </a:extLst>
          </p:cNvPr>
          <p:cNvSpPr txBox="1"/>
          <p:nvPr/>
        </p:nvSpPr>
        <p:spPr>
          <a:xfrm>
            <a:off x="965200" y="2616200"/>
            <a:ext cx="21082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zh-CN" altLang="en-US" sz="1020">
                <a:solidFill>
                  <a:srgbClr val="5F6B7A"/>
                </a:solidFill>
                <a:latin typeface="Microsoft YaHei"/>
                <a:ea typeface="Microsoft YaHei"/>
              </a:rPr>
              <a:t>内核主体位于 </a:t>
            </a:r>
            <a:r>
              <a:rPr lang="en-US" altLang="zh-CN" sz="1020">
                <a:solidFill>
                  <a:srgbClr val="5F6B7A"/>
                </a:solidFill>
                <a:latin typeface="Microsoft YaHei"/>
                <a:ea typeface="Microsoft YaHei"/>
              </a:rPr>
              <a:t>os/</a:t>
            </a:r>
            <a:r>
              <a:rPr lang="zh-CN" altLang="en-US" sz="1020">
                <a:solidFill>
                  <a:srgbClr val="5F6B7A"/>
                </a:solidFill>
                <a:latin typeface="Microsoft YaHei"/>
                <a:ea typeface="Microsoft YaHei"/>
              </a:rPr>
              <a:t>，模块化组织 </a:t>
            </a:r>
            <a:r>
              <a:rPr lang="en-US" altLang="zh-CN" sz="1020">
                <a:solidFill>
                  <a:srgbClr val="5F6B7A"/>
                </a:solidFill>
                <a:latin typeface="Microsoft YaHei"/>
                <a:ea typeface="Microsoft YaHei"/>
              </a:rPr>
              <a:t>mm / fs / net / task / syscall</a:t>
            </a:r>
            <a:r>
              <a:rPr lang="zh-CN" altLang="en-US" sz="1020">
                <a:solidFill>
                  <a:srgbClr val="5F6B7A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8DD498A-A47B-4EFF-8006-643C2F78252F}"/>
              </a:ext>
            </a:extLst>
          </p:cNvPr>
          <p:cNvSpPr/>
          <p:nvPr/>
        </p:nvSpPr>
        <p:spPr>
          <a:xfrm>
            <a:off x="3530600" y="2006600"/>
            <a:ext cx="2489200" cy="14986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9E3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7E62440-E260-4D6E-9CB2-A2BA31AB917B}"/>
              </a:ext>
            </a:extLst>
          </p:cNvPr>
          <p:cNvSpPr/>
          <p:nvPr/>
        </p:nvSpPr>
        <p:spPr>
          <a:xfrm>
            <a:off x="3530600" y="2006600"/>
            <a:ext cx="63500" cy="1498600"/>
          </a:xfrm>
          <a:prstGeom prst="rect">
            <a:avLst/>
          </a:prstGeom>
          <a:solidFill>
            <a:srgbClr val="31A16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8CF5DE16-BD5E-46AF-924C-821F1D82F5EE}"/>
              </a:ext>
            </a:extLst>
          </p:cNvPr>
          <p:cNvSpPr/>
          <p:nvPr/>
        </p:nvSpPr>
        <p:spPr>
          <a:xfrm>
            <a:off x="3708400" y="2184400"/>
            <a:ext cx="558800" cy="330200"/>
          </a:xfrm>
          <a:prstGeom prst="roundRect">
            <a:avLst/>
          </a:prstGeom>
          <a:solidFill>
            <a:srgbClr val="31A16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altLang="zh-CN" sz="1000" b="1">
                <a:solidFill>
                  <a:srgbClr val="FFFFFF"/>
                </a:solidFill>
                <a:latin typeface="Microsoft YaHei"/>
                <a:ea typeface="Microsoft YaHei"/>
              </a:rPr>
              <a:t>HAL</a:t>
            </a:r>
            <a:endParaRPr lang="zh-CN" altLang="en-US" sz="1000" b="1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0B96F65-33F7-4E3F-8A73-F7E993D4752B}"/>
              </a:ext>
            </a:extLst>
          </p:cNvPr>
          <p:cNvSpPr txBox="1"/>
          <p:nvPr/>
        </p:nvSpPr>
        <p:spPr>
          <a:xfrm>
            <a:off x="4394200" y="2197100"/>
            <a:ext cx="14478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altLang="zh-CN" sz="1320" b="1">
                <a:solidFill>
                  <a:srgbClr val="123B67"/>
                </a:solidFill>
                <a:latin typeface="Microsoft YaHei"/>
                <a:ea typeface="Microsoft YaHei"/>
              </a:rPr>
              <a:t>rv64 + la64</a:t>
            </a:r>
            <a:endParaRPr lang="zh-CN" altLang="en-US" sz="1320" b="1">
              <a:solidFill>
                <a:srgbClr val="123B67"/>
              </a:solidFill>
              <a:latin typeface="Microsoft YaHei"/>
              <a:ea typeface="Microsoft YaHei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420F268-128E-412B-A73A-114E516EF45D}"/>
              </a:ext>
            </a:extLst>
          </p:cNvPr>
          <p:cNvSpPr txBox="1"/>
          <p:nvPr/>
        </p:nvSpPr>
        <p:spPr>
          <a:xfrm>
            <a:off x="3759200" y="2616200"/>
            <a:ext cx="21082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altLang="zh-CN" sz="1020">
                <a:solidFill>
                  <a:srgbClr val="5F6B7A"/>
                </a:solidFill>
                <a:latin typeface="Microsoft YaHei"/>
                <a:ea typeface="Microsoft YaHei"/>
              </a:rPr>
              <a:t>riscv64 </a:t>
            </a:r>
            <a:r>
              <a:rPr lang="zh-CN" altLang="en-US" sz="1020">
                <a:solidFill>
                  <a:srgbClr val="5F6B7A"/>
                </a:solidFill>
                <a:latin typeface="Microsoft YaHei"/>
                <a:ea typeface="Microsoft YaHei"/>
              </a:rPr>
              <a:t>与 </a:t>
            </a:r>
            <a:r>
              <a:rPr lang="en-US" altLang="zh-CN" sz="1020">
                <a:solidFill>
                  <a:srgbClr val="5F6B7A"/>
                </a:solidFill>
                <a:latin typeface="Microsoft YaHei"/>
                <a:ea typeface="Microsoft YaHei"/>
              </a:rPr>
              <a:t>loongarch64 </a:t>
            </a:r>
            <a:r>
              <a:rPr lang="zh-CN" altLang="en-US" sz="1020">
                <a:solidFill>
                  <a:srgbClr val="5F6B7A"/>
                </a:solidFill>
                <a:latin typeface="Microsoft YaHei"/>
                <a:ea typeface="Microsoft YaHei"/>
              </a:rPr>
              <a:t>分别构建；启动、</a:t>
            </a:r>
            <a:r>
              <a:rPr lang="en-US" altLang="zh-CN" sz="1020">
                <a:solidFill>
                  <a:srgbClr val="5F6B7A"/>
                </a:solidFill>
                <a:latin typeface="Microsoft YaHei"/>
                <a:ea typeface="Microsoft YaHei"/>
              </a:rPr>
              <a:t>Trap</a:t>
            </a:r>
            <a:r>
              <a:rPr lang="zh-CN" altLang="en-US" sz="1020">
                <a:solidFill>
                  <a:srgbClr val="5F6B7A"/>
                </a:solidFill>
                <a:latin typeface="Microsoft YaHei"/>
                <a:ea typeface="Microsoft YaHei"/>
              </a:rPr>
              <a:t>、</a:t>
            </a:r>
            <a:r>
              <a:rPr lang="en-US" altLang="zh-CN" sz="1020">
                <a:solidFill>
                  <a:srgbClr val="5F6B7A"/>
                </a:solidFill>
                <a:latin typeface="Microsoft YaHei"/>
                <a:ea typeface="Microsoft YaHei"/>
              </a:rPr>
              <a:t>TLB </a:t>
            </a:r>
            <a:r>
              <a:rPr lang="zh-CN" altLang="en-US" sz="1020">
                <a:solidFill>
                  <a:srgbClr val="5F6B7A"/>
                </a:solidFill>
                <a:latin typeface="Microsoft YaHei"/>
                <a:ea typeface="Microsoft YaHei"/>
              </a:rPr>
              <a:t>差异由 </a:t>
            </a:r>
            <a:r>
              <a:rPr lang="en-US" altLang="zh-CN" sz="1020">
                <a:solidFill>
                  <a:srgbClr val="5F6B7A"/>
                </a:solidFill>
                <a:latin typeface="Microsoft YaHei"/>
                <a:ea typeface="Microsoft YaHei"/>
              </a:rPr>
              <a:t>HAL </a:t>
            </a:r>
            <a:r>
              <a:rPr lang="zh-CN" altLang="en-US" sz="1020">
                <a:solidFill>
                  <a:srgbClr val="5F6B7A"/>
                </a:solidFill>
                <a:latin typeface="Microsoft YaHei"/>
                <a:ea typeface="Microsoft YaHei"/>
              </a:rPr>
              <a:t>承担。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ED38852-BF38-4709-85E3-C901ED64A25C}"/>
              </a:ext>
            </a:extLst>
          </p:cNvPr>
          <p:cNvSpPr/>
          <p:nvPr/>
        </p:nvSpPr>
        <p:spPr>
          <a:xfrm>
            <a:off x="6324600" y="2006600"/>
            <a:ext cx="2489200" cy="14986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9E3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E13391A-E2DD-40C9-A1F4-16FD544FA1A0}"/>
              </a:ext>
            </a:extLst>
          </p:cNvPr>
          <p:cNvSpPr/>
          <p:nvPr/>
        </p:nvSpPr>
        <p:spPr>
          <a:xfrm>
            <a:off x="6324600" y="2006600"/>
            <a:ext cx="63500" cy="1498600"/>
          </a:xfrm>
          <a:prstGeom prst="rect">
            <a:avLst/>
          </a:prstGeom>
          <a:solidFill>
            <a:srgbClr val="F1993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DCC04D91-8B2D-4E7A-B0B6-0B7A17769C59}"/>
              </a:ext>
            </a:extLst>
          </p:cNvPr>
          <p:cNvSpPr/>
          <p:nvPr/>
        </p:nvSpPr>
        <p:spPr>
          <a:xfrm>
            <a:off x="6502400" y="2184400"/>
            <a:ext cx="558800" cy="330200"/>
          </a:xfrm>
          <a:prstGeom prst="roundRect">
            <a:avLst/>
          </a:prstGeom>
          <a:solidFill>
            <a:srgbClr val="F1993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altLang="zh-CN" sz="1000" b="1">
                <a:solidFill>
                  <a:srgbClr val="FFFFFF"/>
                </a:solidFill>
                <a:latin typeface="Microsoft YaHei"/>
                <a:ea typeface="Microsoft YaHei"/>
              </a:rPr>
              <a:t>ABI</a:t>
            </a:r>
            <a:endParaRPr lang="zh-CN" altLang="en-US" sz="1000" b="1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3D14D4D-7BEA-4852-A016-A0915FFD0DCF}"/>
              </a:ext>
            </a:extLst>
          </p:cNvPr>
          <p:cNvSpPr txBox="1"/>
          <p:nvPr/>
        </p:nvSpPr>
        <p:spPr>
          <a:xfrm>
            <a:off x="7188200" y="2197100"/>
            <a:ext cx="14478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altLang="zh-CN" sz="1320" b="1">
                <a:solidFill>
                  <a:srgbClr val="123B67"/>
                </a:solidFill>
                <a:latin typeface="Microsoft YaHei"/>
                <a:ea typeface="Microsoft YaHei"/>
              </a:rPr>
              <a:t>Linux </a:t>
            </a:r>
            <a:r>
              <a:rPr lang="zh-CN" altLang="en-US" sz="1320" b="1">
                <a:solidFill>
                  <a:srgbClr val="123B67"/>
                </a:solidFill>
                <a:latin typeface="Microsoft YaHei"/>
                <a:ea typeface="Microsoft YaHei"/>
              </a:rPr>
              <a:t>兼容面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FBE2364-7C0F-4D90-B31D-ECA8D32381EF}"/>
              </a:ext>
            </a:extLst>
          </p:cNvPr>
          <p:cNvSpPr txBox="1"/>
          <p:nvPr/>
        </p:nvSpPr>
        <p:spPr>
          <a:xfrm>
            <a:off x="6553200" y="2616200"/>
            <a:ext cx="21082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zh-CN" altLang="en-US" sz="1020">
                <a:solidFill>
                  <a:srgbClr val="5F6B7A"/>
                </a:solidFill>
                <a:latin typeface="Microsoft YaHei"/>
                <a:ea typeface="Microsoft YaHei"/>
              </a:rPr>
              <a:t>约 </a:t>
            </a:r>
            <a:r>
              <a:rPr lang="en-US" altLang="zh-CN" sz="1020">
                <a:solidFill>
                  <a:srgbClr val="5F6B7A"/>
                </a:solidFill>
                <a:latin typeface="Microsoft YaHei"/>
                <a:ea typeface="Microsoft YaHei"/>
              </a:rPr>
              <a:t>218 </a:t>
            </a:r>
            <a:r>
              <a:rPr lang="zh-CN" altLang="en-US" sz="1020">
                <a:solidFill>
                  <a:srgbClr val="5F6B7A"/>
                </a:solidFill>
                <a:latin typeface="Microsoft YaHei"/>
                <a:ea typeface="Microsoft YaHei"/>
              </a:rPr>
              <a:t>个 </a:t>
            </a:r>
            <a:r>
              <a:rPr lang="en-US" altLang="zh-CN" sz="1020">
                <a:solidFill>
                  <a:srgbClr val="5F6B7A"/>
                </a:solidFill>
                <a:latin typeface="Microsoft YaHei"/>
                <a:ea typeface="Microsoft YaHei"/>
              </a:rPr>
              <a:t>syscall</a:t>
            </a:r>
            <a:r>
              <a:rPr lang="zh-CN" altLang="en-US" sz="1020">
                <a:solidFill>
                  <a:srgbClr val="5F6B7A"/>
                </a:solidFill>
                <a:latin typeface="Microsoft YaHei"/>
                <a:ea typeface="Microsoft YaHei"/>
              </a:rPr>
              <a:t>，覆盖进程、内存、</a:t>
            </a:r>
            <a:r>
              <a:rPr lang="en-US" altLang="zh-CN" sz="1020">
                <a:solidFill>
                  <a:srgbClr val="5F6B7A"/>
                </a:solidFill>
                <a:latin typeface="Microsoft YaHei"/>
                <a:ea typeface="Microsoft YaHei"/>
              </a:rPr>
              <a:t>FS</a:t>
            </a:r>
            <a:r>
              <a:rPr lang="zh-CN" altLang="en-US" sz="1020">
                <a:solidFill>
                  <a:srgbClr val="5F6B7A"/>
                </a:solidFill>
                <a:latin typeface="Microsoft YaHei"/>
                <a:ea typeface="Microsoft YaHei"/>
              </a:rPr>
              <a:t>、网络、</a:t>
            </a:r>
            <a:r>
              <a:rPr lang="en-US" altLang="zh-CN" sz="1020">
                <a:solidFill>
                  <a:srgbClr val="5F6B7A"/>
                </a:solidFill>
                <a:latin typeface="Microsoft YaHei"/>
                <a:ea typeface="Microsoft YaHei"/>
              </a:rPr>
              <a:t>IPC </a:t>
            </a:r>
            <a:r>
              <a:rPr lang="zh-CN" altLang="en-US" sz="1020">
                <a:solidFill>
                  <a:srgbClr val="5F6B7A"/>
                </a:solidFill>
                <a:latin typeface="Microsoft YaHei"/>
                <a:ea typeface="Microsoft YaHei"/>
              </a:rPr>
              <a:t>与事件通知。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36A2997-A656-4D5C-BBC1-5BE9A22BDCA9}"/>
              </a:ext>
            </a:extLst>
          </p:cNvPr>
          <p:cNvSpPr/>
          <p:nvPr/>
        </p:nvSpPr>
        <p:spPr>
          <a:xfrm>
            <a:off x="9118600" y="2006600"/>
            <a:ext cx="2489200" cy="14986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9E3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69E3AE5-7C1B-4EE0-A7CE-1B49E38A4991}"/>
              </a:ext>
            </a:extLst>
          </p:cNvPr>
          <p:cNvSpPr/>
          <p:nvPr/>
        </p:nvSpPr>
        <p:spPr>
          <a:xfrm>
            <a:off x="9118600" y="2006600"/>
            <a:ext cx="63500" cy="1498600"/>
          </a:xfrm>
          <a:prstGeom prst="rect">
            <a:avLst/>
          </a:prstGeom>
          <a:solidFill>
            <a:srgbClr val="D64B4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0B04F851-067D-43BF-B97B-28E58710972A}"/>
              </a:ext>
            </a:extLst>
          </p:cNvPr>
          <p:cNvSpPr/>
          <p:nvPr/>
        </p:nvSpPr>
        <p:spPr>
          <a:xfrm>
            <a:off x="9296400" y="2184400"/>
            <a:ext cx="558800" cy="330200"/>
          </a:xfrm>
          <a:prstGeom prst="roundRect">
            <a:avLst/>
          </a:prstGeom>
          <a:solidFill>
            <a:srgbClr val="D64B4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altLang="zh-CN" sz="1000" b="1">
                <a:solidFill>
                  <a:srgbClr val="FFFFFF"/>
                </a:solidFill>
                <a:latin typeface="Microsoft YaHei"/>
                <a:ea typeface="Microsoft YaHei"/>
              </a:rPr>
              <a:t>LTP</a:t>
            </a:r>
            <a:endParaRPr lang="zh-CN" altLang="en-US" sz="1000" b="1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9438B0EF-F9F1-4829-B2F3-8AB890637AA5}"/>
              </a:ext>
            </a:extLst>
          </p:cNvPr>
          <p:cNvSpPr txBox="1"/>
          <p:nvPr/>
        </p:nvSpPr>
        <p:spPr>
          <a:xfrm>
            <a:off x="9982200" y="2197100"/>
            <a:ext cx="14478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zh-CN" altLang="en-US" sz="1320" b="1">
                <a:solidFill>
                  <a:srgbClr val="123B67"/>
                </a:solidFill>
                <a:latin typeface="Microsoft YaHei"/>
                <a:ea typeface="Microsoft YaHei"/>
              </a:rPr>
              <a:t>测试牵引迭代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F2318B36-9DFB-4D5C-A631-8FFA36D51BFE}"/>
              </a:ext>
            </a:extLst>
          </p:cNvPr>
          <p:cNvSpPr txBox="1"/>
          <p:nvPr/>
        </p:nvSpPr>
        <p:spPr>
          <a:xfrm>
            <a:off x="9347200" y="2616200"/>
            <a:ext cx="21082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altLang="zh-CN" sz="1020">
                <a:solidFill>
                  <a:srgbClr val="5F6B7A"/>
                </a:solidFill>
                <a:latin typeface="Microsoft YaHei"/>
                <a:ea typeface="Microsoft YaHei"/>
              </a:rPr>
              <a:t>basic / busybox / libc / LTP </a:t>
            </a:r>
            <a:r>
              <a:rPr lang="zh-CN" altLang="en-US" sz="1020">
                <a:solidFill>
                  <a:srgbClr val="5F6B7A"/>
                </a:solidFill>
                <a:latin typeface="Microsoft YaHei"/>
                <a:ea typeface="Microsoft YaHei"/>
              </a:rPr>
              <a:t>分组运行；</a:t>
            </a:r>
            <a:r>
              <a:rPr lang="en-US" altLang="zh-CN" sz="1020">
                <a:solidFill>
                  <a:srgbClr val="5F6B7A"/>
                </a:solidFill>
                <a:latin typeface="Microsoft YaHei"/>
                <a:ea typeface="Microsoft YaHei"/>
              </a:rPr>
              <a:t>os_test.conf </a:t>
            </a:r>
            <a:r>
              <a:rPr lang="zh-CN" altLang="en-US" sz="1020">
                <a:solidFill>
                  <a:srgbClr val="5F6B7A"/>
                </a:solidFill>
                <a:latin typeface="Microsoft YaHei"/>
                <a:ea typeface="Microsoft YaHei"/>
              </a:rPr>
              <a:t>控制开放测试矩阵。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45D1DCB-B3C2-438E-BA94-74964FF1FD19}"/>
              </a:ext>
            </a:extLst>
          </p:cNvPr>
          <p:cNvSpPr txBox="1"/>
          <p:nvPr/>
        </p:nvSpPr>
        <p:spPr>
          <a:xfrm>
            <a:off x="736600" y="3987800"/>
            <a:ext cx="1905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zh-CN" altLang="en-US" sz="1350" b="1">
                <a:solidFill>
                  <a:srgbClr val="0B2F55"/>
                </a:solidFill>
                <a:latin typeface="Microsoft YaHei UI"/>
                <a:ea typeface="Microsoft YaHei UI"/>
              </a:rPr>
              <a:t>实现路径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B863A3E8-21A0-4E29-AEF1-6C5AA7BEC06D}"/>
              </a:ext>
            </a:extLst>
          </p:cNvPr>
          <p:cNvSpPr/>
          <p:nvPr/>
        </p:nvSpPr>
        <p:spPr>
          <a:xfrm>
            <a:off x="736600" y="4368800"/>
            <a:ext cx="2260600" cy="787400"/>
          </a:xfrm>
          <a:prstGeom prst="rect">
            <a:avLst/>
          </a:prstGeom>
          <a:solidFill>
            <a:srgbClr val="F4F8FF"/>
          </a:solidFill>
          <a:ln w="9525" cap="flat" cmpd="sng" algn="ctr">
            <a:solidFill>
              <a:srgbClr val="D9E3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80FCDD4A-FEE1-41A9-8D2C-BC2B512F6F21}"/>
              </a:ext>
            </a:extLst>
          </p:cNvPr>
          <p:cNvSpPr txBox="1"/>
          <p:nvPr/>
        </p:nvSpPr>
        <p:spPr>
          <a:xfrm>
            <a:off x="939800" y="4495800"/>
            <a:ext cx="18288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zh-CN" altLang="en-US" sz="1150" b="1">
                <a:solidFill>
                  <a:srgbClr val="0B2F55"/>
                </a:solidFill>
                <a:latin typeface="Microsoft YaHei UI"/>
                <a:ea typeface="Microsoft YaHei UI"/>
              </a:rPr>
              <a:t>评测负载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5D2056E6-109F-4CE2-97FD-A1414139662D}"/>
              </a:ext>
            </a:extLst>
          </p:cNvPr>
          <p:cNvSpPr txBox="1"/>
          <p:nvPr/>
        </p:nvSpPr>
        <p:spPr>
          <a:xfrm>
            <a:off x="914400" y="4800600"/>
            <a:ext cx="1905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altLang="zh-CN" sz="850">
                <a:solidFill>
                  <a:srgbClr val="0B2F55"/>
                </a:solidFill>
                <a:latin typeface="Microsoft YaHei UI"/>
                <a:ea typeface="Microsoft YaHei UI"/>
              </a:rPr>
              <a:t>basic / busybox / libc / LTP</a:t>
            </a:r>
            <a:endParaRPr lang="zh-CN" altLang="en-US" sz="850">
              <a:solidFill>
                <a:srgbClr val="0B2F55"/>
              </a:solidFill>
              <a:latin typeface="Microsoft YaHei UI"/>
              <a:ea typeface="Microsoft YaHei UI"/>
            </a:endParaRPr>
          </a:p>
        </p:txBody>
      </p:sp>
      <p:sp>
        <p:nvSpPr>
          <p:cNvPr id="31" name="箭头: 右 30">
            <a:extLst>
              <a:ext uri="{FF2B5EF4-FFF2-40B4-BE49-F238E27FC236}">
                <a16:creationId xmlns:a16="http://schemas.microsoft.com/office/drawing/2014/main" id="{1C05BD6B-9346-4E5B-A14E-12EFFC5D307D}"/>
              </a:ext>
            </a:extLst>
          </p:cNvPr>
          <p:cNvSpPr/>
          <p:nvPr/>
        </p:nvSpPr>
        <p:spPr>
          <a:xfrm>
            <a:off x="3098800" y="4610100"/>
            <a:ext cx="330200" cy="279400"/>
          </a:xfrm>
          <a:prstGeom prst="rightArrow">
            <a:avLst/>
          </a:prstGeom>
          <a:solidFill>
            <a:srgbClr val="9AB4E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4C930BEE-46E3-4D10-A48B-EBF2CB6F2B7E}"/>
              </a:ext>
            </a:extLst>
          </p:cNvPr>
          <p:cNvSpPr/>
          <p:nvPr/>
        </p:nvSpPr>
        <p:spPr>
          <a:xfrm>
            <a:off x="3530600" y="4368800"/>
            <a:ext cx="2260600" cy="787400"/>
          </a:xfrm>
          <a:prstGeom prst="rect">
            <a:avLst/>
          </a:prstGeom>
          <a:solidFill>
            <a:srgbClr val="F7FBF7"/>
          </a:solidFill>
          <a:ln w="9525" cap="flat" cmpd="sng" algn="ctr">
            <a:solidFill>
              <a:srgbClr val="D9E3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A2BD0C76-FC03-4FE8-BB52-43BC5133B592}"/>
              </a:ext>
            </a:extLst>
          </p:cNvPr>
          <p:cNvSpPr txBox="1"/>
          <p:nvPr/>
        </p:nvSpPr>
        <p:spPr>
          <a:xfrm>
            <a:off x="3733800" y="4495800"/>
            <a:ext cx="18288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zh-CN" altLang="en-US" sz="1150" b="1">
                <a:solidFill>
                  <a:srgbClr val="0B2F55"/>
                </a:solidFill>
                <a:latin typeface="Microsoft YaHei UI"/>
                <a:ea typeface="Microsoft YaHei UI"/>
              </a:rPr>
              <a:t>统一语义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40A4112C-EEAF-43F0-82F8-74AB6015B9C0}"/>
              </a:ext>
            </a:extLst>
          </p:cNvPr>
          <p:cNvSpPr txBox="1"/>
          <p:nvPr/>
        </p:nvSpPr>
        <p:spPr>
          <a:xfrm>
            <a:off x="3708400" y="4800600"/>
            <a:ext cx="1905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altLang="zh-CN" sz="850">
                <a:solidFill>
                  <a:srgbClr val="0B2F55"/>
                </a:solidFill>
                <a:latin typeface="Microsoft YaHei UI"/>
                <a:ea typeface="Microsoft YaHei UI"/>
              </a:rPr>
              <a:t>syscall / VFS / Socket</a:t>
            </a:r>
            <a:endParaRPr lang="zh-CN" altLang="en-US" sz="850">
              <a:solidFill>
                <a:srgbClr val="0B2F55"/>
              </a:solidFill>
              <a:latin typeface="Microsoft YaHei UI"/>
              <a:ea typeface="Microsoft YaHei UI"/>
            </a:endParaRPr>
          </a:p>
        </p:txBody>
      </p:sp>
      <p:sp>
        <p:nvSpPr>
          <p:cNvPr id="35" name="箭头: 右 34">
            <a:extLst>
              <a:ext uri="{FF2B5EF4-FFF2-40B4-BE49-F238E27FC236}">
                <a16:creationId xmlns:a16="http://schemas.microsoft.com/office/drawing/2014/main" id="{4E0343A2-CEE3-4A02-A5AF-7AC3C90F0BDB}"/>
              </a:ext>
            </a:extLst>
          </p:cNvPr>
          <p:cNvSpPr/>
          <p:nvPr/>
        </p:nvSpPr>
        <p:spPr>
          <a:xfrm>
            <a:off x="5892800" y="4610100"/>
            <a:ext cx="330200" cy="279400"/>
          </a:xfrm>
          <a:prstGeom prst="rightArrow">
            <a:avLst/>
          </a:prstGeom>
          <a:solidFill>
            <a:srgbClr val="9AB4E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288B9BA5-3046-4D77-88DD-1E9A003B18F2}"/>
              </a:ext>
            </a:extLst>
          </p:cNvPr>
          <p:cNvSpPr/>
          <p:nvPr/>
        </p:nvSpPr>
        <p:spPr>
          <a:xfrm>
            <a:off x="6324600" y="4368800"/>
            <a:ext cx="2260600" cy="787400"/>
          </a:xfrm>
          <a:prstGeom prst="rect">
            <a:avLst/>
          </a:prstGeom>
          <a:solidFill>
            <a:srgbClr val="F4F8FF"/>
          </a:solidFill>
          <a:ln w="9525" cap="flat" cmpd="sng" algn="ctr">
            <a:solidFill>
              <a:srgbClr val="D9E3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ABBCF1D8-1D0A-46FC-9082-3574094570CF}"/>
              </a:ext>
            </a:extLst>
          </p:cNvPr>
          <p:cNvSpPr txBox="1"/>
          <p:nvPr/>
        </p:nvSpPr>
        <p:spPr>
          <a:xfrm>
            <a:off x="6527800" y="4495800"/>
            <a:ext cx="18288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zh-CN" altLang="en-US" sz="1150" b="1">
                <a:solidFill>
                  <a:srgbClr val="0B2F55"/>
                </a:solidFill>
                <a:latin typeface="Microsoft YaHei UI"/>
                <a:ea typeface="Microsoft YaHei UI"/>
              </a:rPr>
              <a:t>可观测修复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081F5B47-4353-4AF4-A3B2-6F28536ED0B3}"/>
              </a:ext>
            </a:extLst>
          </p:cNvPr>
          <p:cNvSpPr txBox="1"/>
          <p:nvPr/>
        </p:nvSpPr>
        <p:spPr>
          <a:xfrm>
            <a:off x="6502400" y="4800600"/>
            <a:ext cx="1905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altLang="zh-CN" sz="850">
                <a:solidFill>
                  <a:srgbClr val="0B2F55"/>
                </a:solidFill>
                <a:latin typeface="Microsoft YaHei UI"/>
                <a:ea typeface="Microsoft YaHei UI"/>
              </a:rPr>
              <a:t>procfs / sysfs / perf_diag</a:t>
            </a:r>
            <a:endParaRPr lang="zh-CN" altLang="en-US" sz="850">
              <a:solidFill>
                <a:srgbClr val="0B2F55"/>
              </a:solidFill>
              <a:latin typeface="Microsoft YaHei UI"/>
              <a:ea typeface="Microsoft YaHei UI"/>
            </a:endParaRPr>
          </a:p>
        </p:txBody>
      </p:sp>
      <p:sp>
        <p:nvSpPr>
          <p:cNvPr id="39" name="箭头: 右 38">
            <a:extLst>
              <a:ext uri="{FF2B5EF4-FFF2-40B4-BE49-F238E27FC236}">
                <a16:creationId xmlns:a16="http://schemas.microsoft.com/office/drawing/2014/main" id="{3179A082-C8F8-4EE3-B1AD-98C1F8D26839}"/>
              </a:ext>
            </a:extLst>
          </p:cNvPr>
          <p:cNvSpPr/>
          <p:nvPr/>
        </p:nvSpPr>
        <p:spPr>
          <a:xfrm>
            <a:off x="8686800" y="4610100"/>
            <a:ext cx="330200" cy="279400"/>
          </a:xfrm>
          <a:prstGeom prst="rightArrow">
            <a:avLst/>
          </a:prstGeom>
          <a:solidFill>
            <a:srgbClr val="9AB4E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9DD39F1B-C00B-406E-A9A2-A442C9650794}"/>
              </a:ext>
            </a:extLst>
          </p:cNvPr>
          <p:cNvSpPr/>
          <p:nvPr/>
        </p:nvSpPr>
        <p:spPr>
          <a:xfrm>
            <a:off x="9118600" y="4368800"/>
            <a:ext cx="2260600" cy="787400"/>
          </a:xfrm>
          <a:prstGeom prst="rect">
            <a:avLst/>
          </a:prstGeom>
          <a:solidFill>
            <a:srgbClr val="F7FBF7"/>
          </a:solidFill>
          <a:ln w="9525" cap="flat" cmpd="sng" algn="ctr">
            <a:solidFill>
              <a:srgbClr val="D9E3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2EEF316C-E8C1-47C0-A0B5-EDD4BE33A49D}"/>
              </a:ext>
            </a:extLst>
          </p:cNvPr>
          <p:cNvSpPr txBox="1"/>
          <p:nvPr/>
        </p:nvSpPr>
        <p:spPr>
          <a:xfrm>
            <a:off x="9321800" y="4495800"/>
            <a:ext cx="18288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zh-CN" altLang="en-US" sz="1150" b="1">
                <a:solidFill>
                  <a:srgbClr val="0B2F55"/>
                </a:solidFill>
                <a:latin typeface="Microsoft YaHei UI"/>
                <a:ea typeface="Microsoft YaHei UI"/>
              </a:rPr>
              <a:t>回归守门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8FDFB9D1-C24A-4653-89BA-5833C024C53D}"/>
              </a:ext>
            </a:extLst>
          </p:cNvPr>
          <p:cNvSpPr txBox="1"/>
          <p:nvPr/>
        </p:nvSpPr>
        <p:spPr>
          <a:xfrm>
            <a:off x="9296400" y="4800600"/>
            <a:ext cx="1905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altLang="zh-CN" sz="850">
                <a:solidFill>
                  <a:srgbClr val="0B2F55"/>
                </a:solidFill>
                <a:latin typeface="Microsoft YaHei UI"/>
                <a:ea typeface="Microsoft YaHei UI"/>
              </a:rPr>
              <a:t>family </a:t>
            </a:r>
            <a:r>
              <a:rPr lang="zh-CN" altLang="en-US" sz="850">
                <a:solidFill>
                  <a:srgbClr val="0B2F55"/>
                </a:solidFill>
                <a:latin typeface="Microsoft YaHei UI"/>
                <a:ea typeface="Microsoft YaHei UI"/>
              </a:rPr>
              <a:t>回归 </a:t>
            </a:r>
            <a:r>
              <a:rPr lang="en-US" altLang="zh-CN" sz="850">
                <a:solidFill>
                  <a:srgbClr val="0B2F55"/>
                </a:solidFill>
                <a:latin typeface="Microsoft YaHei UI"/>
                <a:ea typeface="Microsoft YaHei UI"/>
              </a:rPr>
              <a:t>+ </a:t>
            </a:r>
            <a:r>
              <a:rPr lang="zh-CN" altLang="en-US" sz="850">
                <a:solidFill>
                  <a:srgbClr val="0B2F55"/>
                </a:solidFill>
                <a:latin typeface="Microsoft YaHei UI"/>
                <a:ea typeface="Microsoft YaHei UI"/>
              </a:rPr>
              <a:t>双架构编译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78DC04F2-F261-4892-93FF-8BE73B1F7DA4}"/>
              </a:ext>
            </a:extLst>
          </p:cNvPr>
          <p:cNvSpPr txBox="1"/>
          <p:nvPr/>
        </p:nvSpPr>
        <p:spPr>
          <a:xfrm>
            <a:off x="482600" y="6502400"/>
            <a:ext cx="10922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fontScale="92500" lnSpcReduction="20000"/>
          </a:bodyPr>
          <a:lstStyle/>
          <a:p>
            <a:pPr algn="l"/>
            <a:r>
              <a:rPr lang="zh-CN" altLang="en-US" sz="750">
                <a:solidFill>
                  <a:srgbClr val="8A96A8"/>
                </a:solidFill>
                <a:latin typeface="Microsoft YaHei"/>
                <a:ea typeface="Microsoft YaHei"/>
              </a:rPr>
              <a:t>依据：</a:t>
            </a:r>
            <a:r>
              <a:rPr lang="en-US" altLang="zh-CN" sz="750">
                <a:solidFill>
                  <a:srgbClr val="8A96A8"/>
                </a:solidFill>
                <a:latin typeface="Microsoft YaHei"/>
                <a:ea typeface="Microsoft YaHei"/>
              </a:rPr>
              <a:t>README.md</a:t>
            </a:r>
            <a:r>
              <a:rPr lang="zh-CN" altLang="en-US" sz="750">
                <a:solidFill>
                  <a:srgbClr val="8A96A8"/>
                </a:solidFill>
                <a:latin typeface="Microsoft YaHei"/>
                <a:ea typeface="Microsoft YaHei"/>
              </a:rPr>
              <a:t>、</a:t>
            </a:r>
            <a:r>
              <a:rPr lang="en-US" altLang="zh-CN" sz="750">
                <a:solidFill>
                  <a:srgbClr val="8A96A8"/>
                </a:solidFill>
                <a:latin typeface="Microsoft YaHei"/>
                <a:ea typeface="Microsoft YaHei"/>
              </a:rPr>
              <a:t>docs/Technical-Report-MangoCore.md</a:t>
            </a:r>
            <a:r>
              <a:rPr lang="zh-CN" altLang="en-US" sz="750">
                <a:solidFill>
                  <a:srgbClr val="8A96A8"/>
                </a:solidFill>
                <a:latin typeface="Microsoft YaHei"/>
                <a:ea typeface="Microsoft YaHei"/>
              </a:rPr>
              <a:t>、</a:t>
            </a:r>
            <a:r>
              <a:rPr lang="en-US" altLang="zh-CN" sz="750">
                <a:solidFill>
                  <a:srgbClr val="8A96A8"/>
                </a:solidFill>
                <a:latin typeface="Microsoft YaHei"/>
                <a:ea typeface="Microsoft YaHei"/>
              </a:rPr>
              <a:t>docs/README.md</a:t>
            </a:r>
            <a:r>
              <a:rPr lang="zh-CN" altLang="en-US" sz="750">
                <a:solidFill>
                  <a:srgbClr val="8A96A8"/>
                </a:solidFill>
                <a:latin typeface="Microsoft YaHei"/>
                <a:ea typeface="Microsoft YaHei"/>
              </a:rPr>
              <a:t>（</a:t>
            </a:r>
            <a:r>
              <a:rPr lang="en-US" altLang="zh-CN" sz="750">
                <a:solidFill>
                  <a:srgbClr val="8A96A8"/>
                </a:solidFill>
                <a:latin typeface="Microsoft YaHei"/>
                <a:ea typeface="Microsoft YaHei"/>
              </a:rPr>
              <a:t>develop </a:t>
            </a:r>
            <a:r>
              <a:rPr lang="zh-CN" altLang="en-US" sz="750">
                <a:solidFill>
                  <a:srgbClr val="8A96A8"/>
                </a:solidFill>
                <a:latin typeface="Microsoft YaHei"/>
                <a:ea typeface="Microsoft YaHei"/>
              </a:rPr>
              <a:t>分支）。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1B01E62F-8B6E-4C64-BC19-2876A9BFED86}"/>
              </a:ext>
            </a:extLst>
          </p:cNvPr>
          <p:cNvSpPr/>
          <p:nvPr/>
        </p:nvSpPr>
        <p:spPr>
          <a:xfrm>
            <a:off x="254000" y="304800"/>
            <a:ext cx="101600" cy="482600"/>
          </a:xfrm>
          <a:prstGeom prst="rect">
            <a:avLst/>
          </a:prstGeom>
          <a:solidFill>
            <a:srgbClr val="3F70B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B0B9643D-45E6-462F-8A02-2A515AA858F8}"/>
              </a:ext>
            </a:extLst>
          </p:cNvPr>
          <p:cNvSpPr/>
          <p:nvPr/>
        </p:nvSpPr>
        <p:spPr>
          <a:xfrm>
            <a:off x="254000" y="838200"/>
            <a:ext cx="11684000" cy="19050"/>
          </a:xfrm>
          <a:prstGeom prst="rect">
            <a:avLst/>
          </a:prstGeom>
          <a:solidFill>
            <a:srgbClr val="3F70B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68F03F4B-50FB-42A5-844C-BF1FB2B6D1CA}"/>
              </a:ext>
            </a:extLst>
          </p:cNvPr>
          <p:cNvSpPr txBox="1"/>
          <p:nvPr/>
        </p:nvSpPr>
        <p:spPr>
          <a:xfrm>
            <a:off x="736600" y="228600"/>
            <a:ext cx="81280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2000" b="1">
                <a:solidFill>
                  <a:srgbClr val="3F70B7"/>
                </a:solidFill>
                <a:latin typeface="Microsoft YaHei"/>
                <a:ea typeface="Microsoft YaHei"/>
              </a:rPr>
              <a:t>项目定位：双架构承载同一套 </a:t>
            </a:r>
            <a:r>
              <a:rPr lang="en-US" altLang="zh-CN" sz="2000" b="1">
                <a:solidFill>
                  <a:srgbClr val="3F70B7"/>
                </a:solidFill>
                <a:latin typeface="Microsoft YaHei"/>
                <a:ea typeface="Microsoft YaHei"/>
              </a:rPr>
              <a:t>Linux </a:t>
            </a:r>
            <a:r>
              <a:rPr lang="zh-CN" altLang="en-US" sz="2000" b="1">
                <a:solidFill>
                  <a:srgbClr val="3F70B7"/>
                </a:solidFill>
                <a:latin typeface="Microsoft YaHei"/>
                <a:ea typeface="Microsoft YaHei"/>
              </a:rPr>
              <a:t>兼容评测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8376C155-A1FA-4279-824D-88CBA521D536}"/>
              </a:ext>
            </a:extLst>
          </p:cNvPr>
          <p:cNvSpPr/>
          <p:nvPr/>
        </p:nvSpPr>
        <p:spPr>
          <a:xfrm>
            <a:off x="0" y="0"/>
            <a:ext cx="8953500" cy="990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6FDEB015-A6D1-4BA9-A872-9400E211193E}"/>
              </a:ext>
            </a:extLst>
          </p:cNvPr>
          <p:cNvSpPr/>
          <p:nvPr/>
        </p:nvSpPr>
        <p:spPr>
          <a:xfrm>
            <a:off x="254000" y="330200"/>
            <a:ext cx="88900" cy="431800"/>
          </a:xfrm>
          <a:prstGeom prst="rect">
            <a:avLst/>
          </a:prstGeom>
          <a:solidFill>
            <a:srgbClr val="3F70B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7F9D5A24-93EE-4E47-9779-4289614673AA}"/>
              </a:ext>
            </a:extLst>
          </p:cNvPr>
          <p:cNvSpPr/>
          <p:nvPr/>
        </p:nvSpPr>
        <p:spPr>
          <a:xfrm>
            <a:off x="254000" y="838200"/>
            <a:ext cx="8763000" cy="17780"/>
          </a:xfrm>
          <a:prstGeom prst="rect">
            <a:avLst/>
          </a:prstGeom>
          <a:solidFill>
            <a:srgbClr val="3F70B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F63B92D4-19BA-4E08-9E32-1F83301EFD4C}"/>
              </a:ext>
            </a:extLst>
          </p:cNvPr>
          <p:cNvSpPr txBox="1"/>
          <p:nvPr/>
        </p:nvSpPr>
        <p:spPr>
          <a:xfrm>
            <a:off x="711200" y="279400"/>
            <a:ext cx="8064500" cy="3556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spAutoFit/>
          </a:bodyPr>
          <a:lstStyle/>
          <a:p>
            <a:pPr algn="l"/>
            <a:r>
              <a:rPr lang="zh-CN" altLang="en-US" b="1">
                <a:solidFill>
                  <a:srgbClr val="3F70B7"/>
                </a:solidFill>
                <a:latin typeface="Microsoft YaHei UI"/>
                <a:ea typeface="Microsoft YaHei UI"/>
              </a:rPr>
              <a:t>项目定位：双架构 </a:t>
            </a:r>
            <a:r>
              <a:rPr lang="en-US" altLang="zh-CN" b="1">
                <a:solidFill>
                  <a:srgbClr val="3F70B7"/>
                </a:solidFill>
                <a:latin typeface="Microsoft YaHei UI"/>
                <a:ea typeface="Microsoft YaHei UI"/>
              </a:rPr>
              <a:t>Linux </a:t>
            </a:r>
            <a:r>
              <a:rPr lang="zh-CN" altLang="en-US" b="1">
                <a:solidFill>
                  <a:srgbClr val="3F70B7"/>
                </a:solidFill>
                <a:latin typeface="Microsoft YaHei UI"/>
                <a:ea typeface="Microsoft YaHei UI"/>
              </a:rPr>
              <a:t>兼容内核</a:t>
            </a: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矩形 169">
            <a:extLst>
              <a:ext uri="{FF2B5EF4-FFF2-40B4-BE49-F238E27FC236}">
                <a16:creationId xmlns:a16="http://schemas.microsoft.com/office/drawing/2014/main" id="{545623FE-7C33-48D7-B5CA-6DB4D1A90A2A}"/>
              </a:ext>
            </a:extLst>
          </p:cNvPr>
          <p:cNvSpPr/>
          <p:nvPr/>
        </p:nvSpPr>
        <p:spPr>
          <a:xfrm>
            <a:off x="2921000" y="127000"/>
            <a:ext cx="6350000" cy="4445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altLang="zh-CN" sz="2600" b="1">
                <a:solidFill>
                  <a:srgbClr val="080F1F"/>
                </a:solidFill>
              </a:rPr>
              <a:t>MangoCore </a:t>
            </a:r>
            <a:r>
              <a:rPr lang="zh-CN" altLang="en-US" sz="2600" b="1">
                <a:solidFill>
                  <a:srgbClr val="080F1F"/>
                </a:solidFill>
              </a:rPr>
              <a:t>总体架构图</a:t>
            </a:r>
          </a:p>
        </p:txBody>
      </p:sp>
      <p:sp>
        <p:nvSpPr>
          <p:cNvPr id="171" name="矩形 170">
            <a:extLst>
              <a:ext uri="{FF2B5EF4-FFF2-40B4-BE49-F238E27FC236}">
                <a16:creationId xmlns:a16="http://schemas.microsoft.com/office/drawing/2014/main" id="{6E34B9F1-0B44-491D-BD46-897445E85D13}"/>
              </a:ext>
            </a:extLst>
          </p:cNvPr>
          <p:cNvSpPr/>
          <p:nvPr/>
        </p:nvSpPr>
        <p:spPr>
          <a:xfrm>
            <a:off x="304800" y="711200"/>
            <a:ext cx="11582400" cy="863600"/>
          </a:xfrm>
          <a:prstGeom prst="rect">
            <a:avLst/>
          </a:prstGeom>
          <a:solidFill>
            <a:srgbClr val="F3FF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72" name="矩形 171">
            <a:extLst>
              <a:ext uri="{FF2B5EF4-FFF2-40B4-BE49-F238E27FC236}">
                <a16:creationId xmlns:a16="http://schemas.microsoft.com/office/drawing/2014/main" id="{AAC43B54-C1C9-4997-A37A-63B890E9A846}"/>
              </a:ext>
            </a:extLst>
          </p:cNvPr>
          <p:cNvSpPr/>
          <p:nvPr/>
        </p:nvSpPr>
        <p:spPr>
          <a:xfrm>
            <a:off x="736600" y="965200"/>
            <a:ext cx="1143000" cy="355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zh-CN" altLang="en-US" sz="2200" b="1">
                <a:solidFill>
                  <a:srgbClr val="0F7A3A"/>
                </a:solidFill>
              </a:rPr>
              <a:t>用户态</a:t>
            </a:r>
          </a:p>
        </p:txBody>
      </p:sp>
      <p:sp>
        <p:nvSpPr>
          <p:cNvPr id="173" name="矩形 172">
            <a:extLst>
              <a:ext uri="{FF2B5EF4-FFF2-40B4-BE49-F238E27FC236}">
                <a16:creationId xmlns:a16="http://schemas.microsoft.com/office/drawing/2014/main" id="{422A4B77-F71B-45D9-A5FF-812C5DD786E4}"/>
              </a:ext>
            </a:extLst>
          </p:cNvPr>
          <p:cNvSpPr/>
          <p:nvPr/>
        </p:nvSpPr>
        <p:spPr>
          <a:xfrm>
            <a:off x="2667000" y="927100"/>
            <a:ext cx="2476500" cy="4318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zh-CN" altLang="en-US" sz="1200" b="1">
                <a:solidFill>
                  <a:srgbClr val="111827"/>
                </a:solidFill>
              </a:rPr>
              <a:t>应用 </a:t>
            </a:r>
            <a:r>
              <a:rPr lang="en-US" altLang="zh-CN" sz="1200" b="1">
                <a:solidFill>
                  <a:srgbClr val="111827"/>
                </a:solidFill>
              </a:rPr>
              <a:t>/ </a:t>
            </a:r>
            <a:r>
              <a:rPr lang="zh-CN" altLang="en-US" sz="1200" b="1">
                <a:solidFill>
                  <a:srgbClr val="111827"/>
                </a:solidFill>
              </a:rPr>
              <a:t>测试程序</a:t>
            </a:r>
          </a:p>
        </p:txBody>
      </p:sp>
      <p:sp>
        <p:nvSpPr>
          <p:cNvPr id="174" name="矩形 173">
            <a:extLst>
              <a:ext uri="{FF2B5EF4-FFF2-40B4-BE49-F238E27FC236}">
                <a16:creationId xmlns:a16="http://schemas.microsoft.com/office/drawing/2014/main" id="{DD77F2E1-AF21-4E19-BEC5-C61C156ADA53}"/>
              </a:ext>
            </a:extLst>
          </p:cNvPr>
          <p:cNvSpPr/>
          <p:nvPr/>
        </p:nvSpPr>
        <p:spPr>
          <a:xfrm>
            <a:off x="5588000" y="927100"/>
            <a:ext cx="2476500" cy="4318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altLang="zh-CN" sz="1200" b="1">
                <a:solidFill>
                  <a:srgbClr val="111827"/>
                </a:solidFill>
              </a:rPr>
              <a:t>libc / POSIX API</a:t>
            </a:r>
            <a:endParaRPr lang="zh-CN" altLang="en-US" sz="1200" b="1">
              <a:solidFill>
                <a:srgbClr val="111827"/>
              </a:solidFill>
            </a:endParaRPr>
          </a:p>
        </p:txBody>
      </p:sp>
      <p:sp>
        <p:nvSpPr>
          <p:cNvPr id="175" name="矩形 174">
            <a:extLst>
              <a:ext uri="{FF2B5EF4-FFF2-40B4-BE49-F238E27FC236}">
                <a16:creationId xmlns:a16="http://schemas.microsoft.com/office/drawing/2014/main" id="{B4133903-CAAA-448F-AD5A-F5764973EC85}"/>
              </a:ext>
            </a:extLst>
          </p:cNvPr>
          <p:cNvSpPr/>
          <p:nvPr/>
        </p:nvSpPr>
        <p:spPr>
          <a:xfrm>
            <a:off x="8509000" y="927100"/>
            <a:ext cx="2476500" cy="4318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altLang="zh-CN" sz="1200" b="1">
                <a:solidFill>
                  <a:srgbClr val="111827"/>
                </a:solidFill>
              </a:rPr>
              <a:t>BusyBox / Lua</a:t>
            </a:r>
            <a:endParaRPr lang="zh-CN" altLang="en-US" sz="1200" b="1">
              <a:solidFill>
                <a:srgbClr val="111827"/>
              </a:solidFill>
            </a:endParaRPr>
          </a:p>
        </p:txBody>
      </p:sp>
      <p:sp>
        <p:nvSpPr>
          <p:cNvPr id="176" name="矩形 175">
            <a:extLst>
              <a:ext uri="{FF2B5EF4-FFF2-40B4-BE49-F238E27FC236}">
                <a16:creationId xmlns:a16="http://schemas.microsoft.com/office/drawing/2014/main" id="{22FD9AB7-C241-4A3F-B5FC-F54688AF705A}"/>
              </a:ext>
            </a:extLst>
          </p:cNvPr>
          <p:cNvSpPr/>
          <p:nvPr/>
        </p:nvSpPr>
        <p:spPr>
          <a:xfrm>
            <a:off x="304800" y="1905000"/>
            <a:ext cx="11582400" cy="685800"/>
          </a:xfrm>
          <a:prstGeom prst="rect">
            <a:avLst/>
          </a:prstGeom>
          <a:solidFill>
            <a:srgbClr val="EFF7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77" name="矩形 176">
            <a:extLst>
              <a:ext uri="{FF2B5EF4-FFF2-40B4-BE49-F238E27FC236}">
                <a16:creationId xmlns:a16="http://schemas.microsoft.com/office/drawing/2014/main" id="{FC4689DC-712D-4E71-8785-5DEF2041C65A}"/>
              </a:ext>
            </a:extLst>
          </p:cNvPr>
          <p:cNvSpPr/>
          <p:nvPr/>
        </p:nvSpPr>
        <p:spPr>
          <a:xfrm>
            <a:off x="736600" y="2057400"/>
            <a:ext cx="1651000" cy="355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zh-CN" altLang="en-US" sz="1900" b="1">
                <a:solidFill>
                  <a:srgbClr val="0969D8"/>
                </a:solidFill>
              </a:rPr>
              <a:t>系统调用接口</a:t>
            </a:r>
          </a:p>
        </p:txBody>
      </p:sp>
      <p:sp>
        <p:nvSpPr>
          <p:cNvPr id="178" name="矩形 177">
            <a:extLst>
              <a:ext uri="{FF2B5EF4-FFF2-40B4-BE49-F238E27FC236}">
                <a16:creationId xmlns:a16="http://schemas.microsoft.com/office/drawing/2014/main" id="{AEFA82B4-8113-426D-88C2-D95AAA67A7E4}"/>
              </a:ext>
            </a:extLst>
          </p:cNvPr>
          <p:cNvSpPr/>
          <p:nvPr/>
        </p:nvSpPr>
        <p:spPr>
          <a:xfrm>
            <a:off x="3175000" y="2057400"/>
            <a:ext cx="6794500" cy="355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altLang="zh-CN" sz="1100" b="1">
                <a:solidFill>
                  <a:srgbClr val="111827"/>
                </a:solidFill>
              </a:rPr>
              <a:t>syscall/mod.rs dispatch + fs / process / net </a:t>
            </a:r>
            <a:r>
              <a:rPr lang="zh-CN" altLang="en-US" sz="1100" b="1">
                <a:solidFill>
                  <a:srgbClr val="111827"/>
                </a:solidFill>
              </a:rPr>
              <a:t>子模块</a:t>
            </a:r>
          </a:p>
        </p:txBody>
      </p:sp>
      <p:sp>
        <p:nvSpPr>
          <p:cNvPr id="179" name="矩形 178">
            <a:extLst>
              <a:ext uri="{FF2B5EF4-FFF2-40B4-BE49-F238E27FC236}">
                <a16:creationId xmlns:a16="http://schemas.microsoft.com/office/drawing/2014/main" id="{898769B5-3ADB-41AC-8658-79A2966F4E23}"/>
              </a:ext>
            </a:extLst>
          </p:cNvPr>
          <p:cNvSpPr/>
          <p:nvPr/>
        </p:nvSpPr>
        <p:spPr>
          <a:xfrm>
            <a:off x="304800" y="2921000"/>
            <a:ext cx="11582400" cy="1981200"/>
          </a:xfrm>
          <a:prstGeom prst="rect">
            <a:avLst/>
          </a:prstGeom>
          <a:solidFill>
            <a:srgbClr val="FFF9E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80" name="矩形 179">
            <a:extLst>
              <a:ext uri="{FF2B5EF4-FFF2-40B4-BE49-F238E27FC236}">
                <a16:creationId xmlns:a16="http://schemas.microsoft.com/office/drawing/2014/main" id="{F531EBFB-5F02-4E3E-9C7D-13B9C0E44DCD}"/>
              </a:ext>
            </a:extLst>
          </p:cNvPr>
          <p:cNvSpPr/>
          <p:nvPr/>
        </p:nvSpPr>
        <p:spPr>
          <a:xfrm>
            <a:off x="736600" y="3708400"/>
            <a:ext cx="1143000" cy="4064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zh-CN" altLang="en-US" sz="2200" b="1">
                <a:solidFill>
                  <a:srgbClr val="D97706"/>
                </a:solidFill>
              </a:rPr>
              <a:t>内核核心</a:t>
            </a:r>
          </a:p>
        </p:txBody>
      </p:sp>
      <p:sp>
        <p:nvSpPr>
          <p:cNvPr id="181" name="矩形 180">
            <a:extLst>
              <a:ext uri="{FF2B5EF4-FFF2-40B4-BE49-F238E27FC236}">
                <a16:creationId xmlns:a16="http://schemas.microsoft.com/office/drawing/2014/main" id="{5FA97F3A-9EAC-4355-96A2-BF0E991E18A8}"/>
              </a:ext>
            </a:extLst>
          </p:cNvPr>
          <p:cNvSpPr/>
          <p:nvPr/>
        </p:nvSpPr>
        <p:spPr>
          <a:xfrm>
            <a:off x="2159000" y="3124200"/>
            <a:ext cx="2032000" cy="3302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zh-CN" altLang="en-US" sz="1500" b="1">
                <a:solidFill>
                  <a:srgbClr val="C45100"/>
                </a:solidFill>
              </a:rPr>
              <a:t>进程 </a:t>
            </a:r>
            <a:r>
              <a:rPr lang="en-US" altLang="zh-CN" sz="1500" b="1">
                <a:solidFill>
                  <a:srgbClr val="C45100"/>
                </a:solidFill>
              </a:rPr>
              <a:t>/ </a:t>
            </a:r>
            <a:r>
              <a:rPr lang="zh-CN" altLang="en-US" sz="1500" b="1">
                <a:solidFill>
                  <a:srgbClr val="C45100"/>
                </a:solidFill>
              </a:rPr>
              <a:t>调度</a:t>
            </a:r>
          </a:p>
        </p:txBody>
      </p:sp>
      <p:sp>
        <p:nvSpPr>
          <p:cNvPr id="182" name="矩形 181">
            <a:extLst>
              <a:ext uri="{FF2B5EF4-FFF2-40B4-BE49-F238E27FC236}">
                <a16:creationId xmlns:a16="http://schemas.microsoft.com/office/drawing/2014/main" id="{C1AA2F2D-BB84-40B1-97F1-DFF19BA09486}"/>
              </a:ext>
            </a:extLst>
          </p:cNvPr>
          <p:cNvSpPr/>
          <p:nvPr/>
        </p:nvSpPr>
        <p:spPr>
          <a:xfrm>
            <a:off x="2286000" y="3530600"/>
            <a:ext cx="1778000" cy="254000"/>
          </a:xfrm>
          <a:prstGeom prst="rect">
            <a:avLst/>
          </a:prstGeom>
          <a:solidFill>
            <a:srgbClr val="FFF7E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altLang="zh-CN" sz="950" b="1">
                <a:solidFill>
                  <a:srgbClr val="111827"/>
                </a:solidFill>
              </a:rPr>
              <a:t>PCB / TCB</a:t>
            </a:r>
            <a:endParaRPr lang="zh-CN" altLang="en-US" sz="950" b="1">
              <a:solidFill>
                <a:srgbClr val="111827"/>
              </a:solidFill>
            </a:endParaRPr>
          </a:p>
        </p:txBody>
      </p:sp>
      <p:sp>
        <p:nvSpPr>
          <p:cNvPr id="183" name="矩形 182">
            <a:extLst>
              <a:ext uri="{FF2B5EF4-FFF2-40B4-BE49-F238E27FC236}">
                <a16:creationId xmlns:a16="http://schemas.microsoft.com/office/drawing/2014/main" id="{1C812825-E895-457E-912A-D97B0400283F}"/>
              </a:ext>
            </a:extLst>
          </p:cNvPr>
          <p:cNvSpPr/>
          <p:nvPr/>
        </p:nvSpPr>
        <p:spPr>
          <a:xfrm>
            <a:off x="2286000" y="3835400"/>
            <a:ext cx="1778000" cy="254000"/>
          </a:xfrm>
          <a:prstGeom prst="rect">
            <a:avLst/>
          </a:prstGeom>
          <a:solidFill>
            <a:srgbClr val="FFF7E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altLang="zh-CN" sz="950" b="1">
                <a:solidFill>
                  <a:srgbClr val="111827"/>
                </a:solidFill>
              </a:rPr>
              <a:t>TaskManager / Processor</a:t>
            </a:r>
            <a:endParaRPr lang="zh-CN" altLang="en-US" sz="950" b="1">
              <a:solidFill>
                <a:srgbClr val="111827"/>
              </a:solidFill>
            </a:endParaRPr>
          </a:p>
        </p:txBody>
      </p:sp>
      <p:sp>
        <p:nvSpPr>
          <p:cNvPr id="184" name="矩形 183">
            <a:extLst>
              <a:ext uri="{FF2B5EF4-FFF2-40B4-BE49-F238E27FC236}">
                <a16:creationId xmlns:a16="http://schemas.microsoft.com/office/drawing/2014/main" id="{71914485-33B9-4C42-8DEB-4B054C9FCDC2}"/>
              </a:ext>
            </a:extLst>
          </p:cNvPr>
          <p:cNvSpPr/>
          <p:nvPr/>
        </p:nvSpPr>
        <p:spPr>
          <a:xfrm>
            <a:off x="2286000" y="4140200"/>
            <a:ext cx="1778000" cy="254000"/>
          </a:xfrm>
          <a:prstGeom prst="rect">
            <a:avLst/>
          </a:prstGeom>
          <a:solidFill>
            <a:srgbClr val="FFF7E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altLang="zh-CN" sz="950" b="1">
                <a:solidFill>
                  <a:srgbClr val="111827"/>
                </a:solidFill>
              </a:rPr>
              <a:t>run_tasks / schedule</a:t>
            </a:r>
            <a:endParaRPr lang="zh-CN" altLang="en-US" sz="950" b="1">
              <a:solidFill>
                <a:srgbClr val="111827"/>
              </a:solidFill>
            </a:endParaRPr>
          </a:p>
        </p:txBody>
      </p:sp>
      <p:sp>
        <p:nvSpPr>
          <p:cNvPr id="185" name="矩形 184">
            <a:extLst>
              <a:ext uri="{FF2B5EF4-FFF2-40B4-BE49-F238E27FC236}">
                <a16:creationId xmlns:a16="http://schemas.microsoft.com/office/drawing/2014/main" id="{EB9823E2-C3BD-45AD-BDC2-541A9F92F7BD}"/>
              </a:ext>
            </a:extLst>
          </p:cNvPr>
          <p:cNvSpPr/>
          <p:nvPr/>
        </p:nvSpPr>
        <p:spPr>
          <a:xfrm>
            <a:off x="2286000" y="4445000"/>
            <a:ext cx="1778000" cy="254000"/>
          </a:xfrm>
          <a:prstGeom prst="rect">
            <a:avLst/>
          </a:prstGeom>
          <a:solidFill>
            <a:srgbClr val="FFF7E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altLang="zh-CN" sz="950" b="1">
                <a:solidFill>
                  <a:srgbClr val="111827"/>
                </a:solidFill>
              </a:rPr>
              <a:t>Signal / WaitQueue / Futex</a:t>
            </a:r>
            <a:endParaRPr lang="zh-CN" altLang="en-US" sz="950" b="1">
              <a:solidFill>
                <a:srgbClr val="111827"/>
              </a:solidFill>
            </a:endParaRPr>
          </a:p>
        </p:txBody>
      </p:sp>
      <p:sp>
        <p:nvSpPr>
          <p:cNvPr id="186" name="矩形 185">
            <a:extLst>
              <a:ext uri="{FF2B5EF4-FFF2-40B4-BE49-F238E27FC236}">
                <a16:creationId xmlns:a16="http://schemas.microsoft.com/office/drawing/2014/main" id="{B182236D-622A-404A-81A0-047093712DF5}"/>
              </a:ext>
            </a:extLst>
          </p:cNvPr>
          <p:cNvSpPr/>
          <p:nvPr/>
        </p:nvSpPr>
        <p:spPr>
          <a:xfrm>
            <a:off x="4445000" y="3124200"/>
            <a:ext cx="2032000" cy="3302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zh-CN" altLang="en-US" sz="1500" b="1">
                <a:solidFill>
                  <a:srgbClr val="C45100"/>
                </a:solidFill>
              </a:rPr>
              <a:t>内存管理</a:t>
            </a:r>
          </a:p>
        </p:txBody>
      </p:sp>
      <p:sp>
        <p:nvSpPr>
          <p:cNvPr id="187" name="矩形 186">
            <a:extLst>
              <a:ext uri="{FF2B5EF4-FFF2-40B4-BE49-F238E27FC236}">
                <a16:creationId xmlns:a16="http://schemas.microsoft.com/office/drawing/2014/main" id="{EE32F7AF-77E4-4D09-A725-7677D6BC6397}"/>
              </a:ext>
            </a:extLst>
          </p:cNvPr>
          <p:cNvSpPr/>
          <p:nvPr/>
        </p:nvSpPr>
        <p:spPr>
          <a:xfrm>
            <a:off x="4572000" y="3530600"/>
            <a:ext cx="1778000" cy="254000"/>
          </a:xfrm>
          <a:prstGeom prst="rect">
            <a:avLst/>
          </a:prstGeom>
          <a:solidFill>
            <a:srgbClr val="FFF7E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altLang="zh-CN" sz="950" b="1">
                <a:solidFill>
                  <a:srgbClr val="111827"/>
                </a:solidFill>
              </a:rPr>
              <a:t>StackFrameAllocator</a:t>
            </a:r>
            <a:endParaRPr lang="zh-CN" altLang="en-US" sz="950" b="1">
              <a:solidFill>
                <a:srgbClr val="111827"/>
              </a:solidFill>
            </a:endParaRPr>
          </a:p>
        </p:txBody>
      </p:sp>
      <p:sp>
        <p:nvSpPr>
          <p:cNvPr id="188" name="矩形 187">
            <a:extLst>
              <a:ext uri="{FF2B5EF4-FFF2-40B4-BE49-F238E27FC236}">
                <a16:creationId xmlns:a16="http://schemas.microsoft.com/office/drawing/2014/main" id="{C7F6AB4C-F7FE-4A58-B3FE-24C69722443A}"/>
              </a:ext>
            </a:extLst>
          </p:cNvPr>
          <p:cNvSpPr/>
          <p:nvPr/>
        </p:nvSpPr>
        <p:spPr>
          <a:xfrm>
            <a:off x="4572000" y="3835400"/>
            <a:ext cx="1778000" cy="254000"/>
          </a:xfrm>
          <a:prstGeom prst="rect">
            <a:avLst/>
          </a:prstGeom>
          <a:solidFill>
            <a:srgbClr val="FFF7E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altLang="zh-CN" sz="950" b="1">
                <a:solidFill>
                  <a:srgbClr val="111827"/>
                </a:solidFill>
              </a:rPr>
              <a:t>OomAware / Heap&lt;32&gt;</a:t>
            </a:r>
            <a:endParaRPr lang="zh-CN" altLang="en-US" sz="950" b="1">
              <a:solidFill>
                <a:srgbClr val="111827"/>
              </a:solidFill>
            </a:endParaRPr>
          </a:p>
        </p:txBody>
      </p:sp>
      <p:sp>
        <p:nvSpPr>
          <p:cNvPr id="189" name="矩形 188">
            <a:extLst>
              <a:ext uri="{FF2B5EF4-FFF2-40B4-BE49-F238E27FC236}">
                <a16:creationId xmlns:a16="http://schemas.microsoft.com/office/drawing/2014/main" id="{96B351DC-595B-480D-9BD7-23E5DEEC9ABF}"/>
              </a:ext>
            </a:extLst>
          </p:cNvPr>
          <p:cNvSpPr/>
          <p:nvPr/>
        </p:nvSpPr>
        <p:spPr>
          <a:xfrm>
            <a:off x="4572000" y="4140200"/>
            <a:ext cx="1778000" cy="254000"/>
          </a:xfrm>
          <a:prstGeom prst="rect">
            <a:avLst/>
          </a:prstGeom>
          <a:solidFill>
            <a:srgbClr val="FFF7E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altLang="zh-CN" sz="950" b="1">
                <a:solidFill>
                  <a:srgbClr val="111827"/>
                </a:solidFill>
              </a:rPr>
              <a:t>AddressSpace / VmaSet</a:t>
            </a:r>
            <a:endParaRPr lang="zh-CN" altLang="en-US" sz="950" b="1">
              <a:solidFill>
                <a:srgbClr val="111827"/>
              </a:solidFill>
            </a:endParaRPr>
          </a:p>
        </p:txBody>
      </p:sp>
      <p:sp>
        <p:nvSpPr>
          <p:cNvPr id="190" name="矩形 189">
            <a:extLst>
              <a:ext uri="{FF2B5EF4-FFF2-40B4-BE49-F238E27FC236}">
                <a16:creationId xmlns:a16="http://schemas.microsoft.com/office/drawing/2014/main" id="{1031C982-34DE-4E93-B1C1-6F26E9C57E68}"/>
              </a:ext>
            </a:extLst>
          </p:cNvPr>
          <p:cNvSpPr/>
          <p:nvPr/>
        </p:nvSpPr>
        <p:spPr>
          <a:xfrm>
            <a:off x="4572000" y="4445000"/>
            <a:ext cx="1778000" cy="254000"/>
          </a:xfrm>
          <a:prstGeom prst="rect">
            <a:avLst/>
          </a:prstGeom>
          <a:solidFill>
            <a:srgbClr val="FFF7E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altLang="zh-CN" sz="950" b="1">
                <a:solidFill>
                  <a:srgbClr val="111827"/>
                </a:solidFill>
              </a:rPr>
              <a:t>PageFault / CoW / mmap</a:t>
            </a:r>
            <a:endParaRPr lang="zh-CN" altLang="en-US" sz="950" b="1">
              <a:solidFill>
                <a:srgbClr val="111827"/>
              </a:solidFill>
            </a:endParaRPr>
          </a:p>
        </p:txBody>
      </p:sp>
      <p:sp>
        <p:nvSpPr>
          <p:cNvPr id="191" name="矩形 190">
            <a:extLst>
              <a:ext uri="{FF2B5EF4-FFF2-40B4-BE49-F238E27FC236}">
                <a16:creationId xmlns:a16="http://schemas.microsoft.com/office/drawing/2014/main" id="{80FE7374-8651-4B90-B16E-93D596B72BED}"/>
              </a:ext>
            </a:extLst>
          </p:cNvPr>
          <p:cNvSpPr/>
          <p:nvPr/>
        </p:nvSpPr>
        <p:spPr>
          <a:xfrm>
            <a:off x="6731000" y="3124200"/>
            <a:ext cx="2032000" cy="3302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zh-CN" altLang="en-US" sz="1500" b="1">
                <a:solidFill>
                  <a:srgbClr val="C45100"/>
                </a:solidFill>
              </a:rPr>
              <a:t>虚拟文件系统</a:t>
            </a:r>
          </a:p>
        </p:txBody>
      </p:sp>
      <p:sp>
        <p:nvSpPr>
          <p:cNvPr id="192" name="矩形 191">
            <a:extLst>
              <a:ext uri="{FF2B5EF4-FFF2-40B4-BE49-F238E27FC236}">
                <a16:creationId xmlns:a16="http://schemas.microsoft.com/office/drawing/2014/main" id="{EC3CF34E-6887-4A17-91AF-363829480D49}"/>
              </a:ext>
            </a:extLst>
          </p:cNvPr>
          <p:cNvSpPr/>
          <p:nvPr/>
        </p:nvSpPr>
        <p:spPr>
          <a:xfrm>
            <a:off x="6858000" y="3530600"/>
            <a:ext cx="1778000" cy="254000"/>
          </a:xfrm>
          <a:prstGeom prst="rect">
            <a:avLst/>
          </a:prstGeom>
          <a:solidFill>
            <a:srgbClr val="FFF7E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altLang="zh-CN" sz="950" b="1">
                <a:solidFill>
                  <a:srgbClr val="111827"/>
                </a:solidFill>
              </a:rPr>
              <a:t>File / IndexNode / FS</a:t>
            </a:r>
            <a:endParaRPr lang="zh-CN" altLang="en-US" sz="950" b="1">
              <a:solidFill>
                <a:srgbClr val="111827"/>
              </a:solidFill>
            </a:endParaRPr>
          </a:p>
        </p:txBody>
      </p:sp>
      <p:sp>
        <p:nvSpPr>
          <p:cNvPr id="193" name="矩形 192">
            <a:extLst>
              <a:ext uri="{FF2B5EF4-FFF2-40B4-BE49-F238E27FC236}">
                <a16:creationId xmlns:a16="http://schemas.microsoft.com/office/drawing/2014/main" id="{33B96582-A143-41EA-B068-40340FD71BC4}"/>
              </a:ext>
            </a:extLst>
          </p:cNvPr>
          <p:cNvSpPr/>
          <p:nvPr/>
        </p:nvSpPr>
        <p:spPr>
          <a:xfrm>
            <a:off x="6858000" y="3835400"/>
            <a:ext cx="1778000" cy="254000"/>
          </a:xfrm>
          <a:prstGeom prst="rect">
            <a:avLst/>
          </a:prstGeom>
          <a:solidFill>
            <a:srgbClr val="FFF7E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altLang="zh-CN" sz="950" b="1">
                <a:solidFill>
                  <a:srgbClr val="111827"/>
                </a:solidFill>
              </a:rPr>
              <a:t>MountFS / MountList</a:t>
            </a:r>
            <a:endParaRPr lang="zh-CN" altLang="en-US" sz="950" b="1">
              <a:solidFill>
                <a:srgbClr val="111827"/>
              </a:solidFill>
            </a:endParaRPr>
          </a:p>
        </p:txBody>
      </p:sp>
      <p:sp>
        <p:nvSpPr>
          <p:cNvPr id="194" name="矩形 193">
            <a:extLst>
              <a:ext uri="{FF2B5EF4-FFF2-40B4-BE49-F238E27FC236}">
                <a16:creationId xmlns:a16="http://schemas.microsoft.com/office/drawing/2014/main" id="{0DD1FBD9-6154-43AD-98C9-67FC243EDA40}"/>
              </a:ext>
            </a:extLst>
          </p:cNvPr>
          <p:cNvSpPr/>
          <p:nvPr/>
        </p:nvSpPr>
        <p:spPr>
          <a:xfrm>
            <a:off x="6858000" y="4140200"/>
            <a:ext cx="1778000" cy="254000"/>
          </a:xfrm>
          <a:prstGeom prst="rect">
            <a:avLst/>
          </a:prstGeom>
          <a:solidFill>
            <a:srgbClr val="FFF7E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altLang="zh-CN" sz="950" b="1">
                <a:solidFill>
                  <a:srgbClr val="111827"/>
                </a:solidFill>
              </a:rPr>
              <a:t>PageCache / DentryCache</a:t>
            </a:r>
            <a:endParaRPr lang="zh-CN" altLang="en-US" sz="950" b="1">
              <a:solidFill>
                <a:srgbClr val="111827"/>
              </a:solidFill>
            </a:endParaRPr>
          </a:p>
        </p:txBody>
      </p:sp>
      <p:sp>
        <p:nvSpPr>
          <p:cNvPr id="195" name="矩形 194">
            <a:extLst>
              <a:ext uri="{FF2B5EF4-FFF2-40B4-BE49-F238E27FC236}">
                <a16:creationId xmlns:a16="http://schemas.microsoft.com/office/drawing/2014/main" id="{91593FFC-81A9-4A6B-B7DF-D93B0828B16C}"/>
              </a:ext>
            </a:extLst>
          </p:cNvPr>
          <p:cNvSpPr/>
          <p:nvPr/>
        </p:nvSpPr>
        <p:spPr>
          <a:xfrm>
            <a:off x="6858000" y="4445000"/>
            <a:ext cx="1778000" cy="254000"/>
          </a:xfrm>
          <a:prstGeom prst="rect">
            <a:avLst/>
          </a:prstGeom>
          <a:solidFill>
            <a:srgbClr val="FFF7E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altLang="zh-CN" sz="950" b="1">
                <a:solidFill>
                  <a:srgbClr val="111827"/>
                </a:solidFill>
              </a:rPr>
              <a:t>ext4 / FAT32 / tmpfs</a:t>
            </a:r>
            <a:endParaRPr lang="zh-CN" altLang="en-US" sz="950" b="1">
              <a:solidFill>
                <a:srgbClr val="111827"/>
              </a:solidFill>
            </a:endParaRPr>
          </a:p>
        </p:txBody>
      </p:sp>
      <p:sp>
        <p:nvSpPr>
          <p:cNvPr id="196" name="矩形 195">
            <a:extLst>
              <a:ext uri="{FF2B5EF4-FFF2-40B4-BE49-F238E27FC236}">
                <a16:creationId xmlns:a16="http://schemas.microsoft.com/office/drawing/2014/main" id="{1CBB2431-14A0-4736-9EF1-18370810947D}"/>
              </a:ext>
            </a:extLst>
          </p:cNvPr>
          <p:cNvSpPr/>
          <p:nvPr/>
        </p:nvSpPr>
        <p:spPr>
          <a:xfrm>
            <a:off x="9017000" y="3124200"/>
            <a:ext cx="2032000" cy="3302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zh-CN" altLang="en-US" sz="1500" b="1">
                <a:solidFill>
                  <a:srgbClr val="C45100"/>
                </a:solidFill>
              </a:rPr>
              <a:t>网络子系统</a:t>
            </a:r>
          </a:p>
        </p:txBody>
      </p:sp>
      <p:sp>
        <p:nvSpPr>
          <p:cNvPr id="197" name="矩形 196">
            <a:extLst>
              <a:ext uri="{FF2B5EF4-FFF2-40B4-BE49-F238E27FC236}">
                <a16:creationId xmlns:a16="http://schemas.microsoft.com/office/drawing/2014/main" id="{1371F440-72DB-4493-9B30-D7C0EBAA009B}"/>
              </a:ext>
            </a:extLst>
          </p:cNvPr>
          <p:cNvSpPr/>
          <p:nvPr/>
        </p:nvSpPr>
        <p:spPr>
          <a:xfrm>
            <a:off x="9144000" y="3530600"/>
            <a:ext cx="1778000" cy="254000"/>
          </a:xfrm>
          <a:prstGeom prst="rect">
            <a:avLst/>
          </a:prstGeom>
          <a:solidFill>
            <a:srgbClr val="FFF7E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altLang="zh-CN" sz="950" b="1">
                <a:solidFill>
                  <a:srgbClr val="111827"/>
                </a:solidFill>
              </a:rPr>
              <a:t>Socket trait / SocketFile</a:t>
            </a:r>
            <a:endParaRPr lang="zh-CN" altLang="en-US" sz="950" b="1">
              <a:solidFill>
                <a:srgbClr val="111827"/>
              </a:solidFill>
            </a:endParaRPr>
          </a:p>
        </p:txBody>
      </p:sp>
      <p:sp>
        <p:nvSpPr>
          <p:cNvPr id="198" name="矩形 197">
            <a:extLst>
              <a:ext uri="{FF2B5EF4-FFF2-40B4-BE49-F238E27FC236}">
                <a16:creationId xmlns:a16="http://schemas.microsoft.com/office/drawing/2014/main" id="{45D76C73-47AF-4338-BB50-8CA8DFE12220}"/>
              </a:ext>
            </a:extLst>
          </p:cNvPr>
          <p:cNvSpPr/>
          <p:nvPr/>
        </p:nvSpPr>
        <p:spPr>
          <a:xfrm>
            <a:off x="9144000" y="3835400"/>
            <a:ext cx="1778000" cy="254000"/>
          </a:xfrm>
          <a:prstGeom prst="rect">
            <a:avLst/>
          </a:prstGeom>
          <a:solidFill>
            <a:srgbClr val="FFF7E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altLang="zh-CN" sz="950" b="1">
                <a:solidFill>
                  <a:srgbClr val="111827"/>
                </a:solidFill>
              </a:rPr>
              <a:t>smoltcp TCP / UDP / RAW</a:t>
            </a:r>
            <a:endParaRPr lang="zh-CN" altLang="en-US" sz="950" b="1">
              <a:solidFill>
                <a:srgbClr val="111827"/>
              </a:solidFill>
            </a:endParaRPr>
          </a:p>
        </p:txBody>
      </p:sp>
      <p:sp>
        <p:nvSpPr>
          <p:cNvPr id="199" name="矩形 198">
            <a:extLst>
              <a:ext uri="{FF2B5EF4-FFF2-40B4-BE49-F238E27FC236}">
                <a16:creationId xmlns:a16="http://schemas.microsoft.com/office/drawing/2014/main" id="{64FAAFAF-CBE2-4952-B59D-0562A19B9CAA}"/>
              </a:ext>
            </a:extLst>
          </p:cNvPr>
          <p:cNvSpPr/>
          <p:nvPr/>
        </p:nvSpPr>
        <p:spPr>
          <a:xfrm>
            <a:off x="9144000" y="4140200"/>
            <a:ext cx="1778000" cy="254000"/>
          </a:xfrm>
          <a:prstGeom prst="rect">
            <a:avLst/>
          </a:prstGeom>
          <a:solidFill>
            <a:srgbClr val="FFF7E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altLang="zh-CN" sz="950" b="1">
                <a:solidFill>
                  <a:srgbClr val="111827"/>
                </a:solidFill>
              </a:rPr>
              <a:t>Unix / Netlink socket</a:t>
            </a:r>
            <a:endParaRPr lang="zh-CN" altLang="en-US" sz="950" b="1">
              <a:solidFill>
                <a:srgbClr val="111827"/>
              </a:solidFill>
            </a:endParaRPr>
          </a:p>
        </p:txBody>
      </p:sp>
      <p:sp>
        <p:nvSpPr>
          <p:cNvPr id="200" name="矩形 199">
            <a:extLst>
              <a:ext uri="{FF2B5EF4-FFF2-40B4-BE49-F238E27FC236}">
                <a16:creationId xmlns:a16="http://schemas.microsoft.com/office/drawing/2014/main" id="{72691728-7D2A-4380-B6F3-F4A85FE1F784}"/>
              </a:ext>
            </a:extLst>
          </p:cNvPr>
          <p:cNvSpPr/>
          <p:nvPr/>
        </p:nvSpPr>
        <p:spPr>
          <a:xfrm>
            <a:off x="9144000" y="4445000"/>
            <a:ext cx="1778000" cy="254000"/>
          </a:xfrm>
          <a:prstGeom prst="rect">
            <a:avLst/>
          </a:prstGeom>
          <a:solidFill>
            <a:srgbClr val="FFF7E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altLang="zh-CN" sz="950" b="1">
                <a:solidFill>
                  <a:srgbClr val="111827"/>
                </a:solidFill>
              </a:rPr>
              <a:t>DeviceStack / PortManager</a:t>
            </a:r>
            <a:endParaRPr lang="zh-CN" altLang="en-US" sz="950" b="1">
              <a:solidFill>
                <a:srgbClr val="111827"/>
              </a:solidFill>
            </a:endParaRPr>
          </a:p>
        </p:txBody>
      </p:sp>
      <p:sp>
        <p:nvSpPr>
          <p:cNvPr id="201" name="矩形 200">
            <a:extLst>
              <a:ext uri="{FF2B5EF4-FFF2-40B4-BE49-F238E27FC236}">
                <a16:creationId xmlns:a16="http://schemas.microsoft.com/office/drawing/2014/main" id="{C9E2C6D3-63FE-4077-9911-1E636498D821}"/>
              </a:ext>
            </a:extLst>
          </p:cNvPr>
          <p:cNvSpPr/>
          <p:nvPr/>
        </p:nvSpPr>
        <p:spPr>
          <a:xfrm>
            <a:off x="304800" y="5207000"/>
            <a:ext cx="11582400" cy="685800"/>
          </a:xfrm>
          <a:prstGeom prst="rect">
            <a:avLst/>
          </a:prstGeom>
          <a:solidFill>
            <a:srgbClr val="FBF7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202" name="矩形 201">
            <a:extLst>
              <a:ext uri="{FF2B5EF4-FFF2-40B4-BE49-F238E27FC236}">
                <a16:creationId xmlns:a16="http://schemas.microsoft.com/office/drawing/2014/main" id="{A1655455-ECB5-4BFA-8EFF-4340ECDC7BC0}"/>
              </a:ext>
            </a:extLst>
          </p:cNvPr>
          <p:cNvSpPr/>
          <p:nvPr/>
        </p:nvSpPr>
        <p:spPr>
          <a:xfrm>
            <a:off x="571500" y="5372100"/>
            <a:ext cx="2159000" cy="355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altLang="zh-CN" b="1">
                <a:solidFill>
                  <a:srgbClr val="6D28D9"/>
                </a:solidFill>
              </a:rPr>
              <a:t>HAL / </a:t>
            </a:r>
            <a:r>
              <a:rPr lang="zh-CN" altLang="en-US" b="1">
                <a:solidFill>
                  <a:srgbClr val="6D28D9"/>
                </a:solidFill>
              </a:rPr>
              <a:t>设备与驱动层</a:t>
            </a:r>
          </a:p>
        </p:txBody>
      </p:sp>
      <p:sp>
        <p:nvSpPr>
          <p:cNvPr id="203" name="矩形 202">
            <a:extLst>
              <a:ext uri="{FF2B5EF4-FFF2-40B4-BE49-F238E27FC236}">
                <a16:creationId xmlns:a16="http://schemas.microsoft.com/office/drawing/2014/main" id="{583A498F-CBD7-47C7-A6D0-294701C2C8CD}"/>
              </a:ext>
            </a:extLst>
          </p:cNvPr>
          <p:cNvSpPr/>
          <p:nvPr/>
        </p:nvSpPr>
        <p:spPr>
          <a:xfrm>
            <a:off x="3111500" y="5372100"/>
            <a:ext cx="1841500" cy="355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altLang="zh-CN" sz="1000" b="1">
                <a:solidFill>
                  <a:srgbClr val="111827"/>
                </a:solidFill>
              </a:rPr>
              <a:t>HAL arch / trap / TLB</a:t>
            </a:r>
            <a:endParaRPr lang="zh-CN" altLang="en-US" sz="1000" b="1">
              <a:solidFill>
                <a:srgbClr val="111827"/>
              </a:solidFill>
            </a:endParaRPr>
          </a:p>
        </p:txBody>
      </p:sp>
      <p:sp>
        <p:nvSpPr>
          <p:cNvPr id="204" name="矩形 203">
            <a:extLst>
              <a:ext uri="{FF2B5EF4-FFF2-40B4-BE49-F238E27FC236}">
                <a16:creationId xmlns:a16="http://schemas.microsoft.com/office/drawing/2014/main" id="{6358F009-9492-4351-97B9-D6AC91E748FD}"/>
              </a:ext>
            </a:extLst>
          </p:cNvPr>
          <p:cNvSpPr/>
          <p:nvPr/>
        </p:nvSpPr>
        <p:spPr>
          <a:xfrm>
            <a:off x="5461000" y="5372100"/>
            <a:ext cx="1714500" cy="355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altLang="zh-CN" sz="1000" b="1">
                <a:solidFill>
                  <a:srgbClr val="111827"/>
                </a:solidFill>
              </a:rPr>
              <a:t>VirtIO Block</a:t>
            </a:r>
            <a:endParaRPr lang="zh-CN" altLang="en-US" sz="1000" b="1">
              <a:solidFill>
                <a:srgbClr val="111827"/>
              </a:solidFill>
            </a:endParaRPr>
          </a:p>
        </p:txBody>
      </p:sp>
      <p:sp>
        <p:nvSpPr>
          <p:cNvPr id="205" name="矩形 204">
            <a:extLst>
              <a:ext uri="{FF2B5EF4-FFF2-40B4-BE49-F238E27FC236}">
                <a16:creationId xmlns:a16="http://schemas.microsoft.com/office/drawing/2014/main" id="{11D0420E-7F7A-40F7-8CBF-0AA83717B1FB}"/>
              </a:ext>
            </a:extLst>
          </p:cNvPr>
          <p:cNvSpPr/>
          <p:nvPr/>
        </p:nvSpPr>
        <p:spPr>
          <a:xfrm>
            <a:off x="7620000" y="5372100"/>
            <a:ext cx="1841500" cy="355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altLang="zh-CN" sz="1000" b="1">
                <a:solidFill>
                  <a:srgbClr val="111827"/>
                </a:solidFill>
              </a:rPr>
              <a:t>VirtIO Net / Veth</a:t>
            </a:r>
            <a:endParaRPr lang="zh-CN" altLang="en-US" sz="1000" b="1">
              <a:solidFill>
                <a:srgbClr val="111827"/>
              </a:solidFill>
            </a:endParaRPr>
          </a:p>
        </p:txBody>
      </p:sp>
      <p:sp>
        <p:nvSpPr>
          <p:cNvPr id="206" name="矩形 205">
            <a:extLst>
              <a:ext uri="{FF2B5EF4-FFF2-40B4-BE49-F238E27FC236}">
                <a16:creationId xmlns:a16="http://schemas.microsoft.com/office/drawing/2014/main" id="{8931A344-B5CA-422A-A356-E300B91111DE}"/>
              </a:ext>
            </a:extLst>
          </p:cNvPr>
          <p:cNvSpPr/>
          <p:nvPr/>
        </p:nvSpPr>
        <p:spPr>
          <a:xfrm>
            <a:off x="9969500" y="5372100"/>
            <a:ext cx="1651000" cy="355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altLang="zh-CN" sz="1000" b="1">
                <a:solidFill>
                  <a:srgbClr val="111827"/>
                </a:solidFill>
              </a:rPr>
              <a:t>Console / UART</a:t>
            </a:r>
            <a:endParaRPr lang="zh-CN" altLang="en-US" sz="1000" b="1">
              <a:solidFill>
                <a:srgbClr val="111827"/>
              </a:solidFill>
            </a:endParaRPr>
          </a:p>
        </p:txBody>
      </p:sp>
      <p:sp>
        <p:nvSpPr>
          <p:cNvPr id="207" name="矩形 206">
            <a:extLst>
              <a:ext uri="{FF2B5EF4-FFF2-40B4-BE49-F238E27FC236}">
                <a16:creationId xmlns:a16="http://schemas.microsoft.com/office/drawing/2014/main" id="{8C7A25A5-2D1A-45BF-A639-FD9B119F8C95}"/>
              </a:ext>
            </a:extLst>
          </p:cNvPr>
          <p:cNvSpPr/>
          <p:nvPr/>
        </p:nvSpPr>
        <p:spPr>
          <a:xfrm>
            <a:off x="304800" y="6223000"/>
            <a:ext cx="11582400" cy="482600"/>
          </a:xfrm>
          <a:prstGeom prst="rect">
            <a:avLst/>
          </a:prstGeom>
          <a:solidFill>
            <a:srgbClr val="FFF5F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208" name="矩形 207">
            <a:extLst>
              <a:ext uri="{FF2B5EF4-FFF2-40B4-BE49-F238E27FC236}">
                <a16:creationId xmlns:a16="http://schemas.microsoft.com/office/drawing/2014/main" id="{7BAAA18C-78A4-43F3-9B8B-0CD808AC8CD1}"/>
              </a:ext>
            </a:extLst>
          </p:cNvPr>
          <p:cNvSpPr/>
          <p:nvPr/>
        </p:nvSpPr>
        <p:spPr>
          <a:xfrm>
            <a:off x="635000" y="6286500"/>
            <a:ext cx="1524000" cy="3048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zh-CN" altLang="en-US" b="1">
                <a:solidFill>
                  <a:srgbClr val="DC2626"/>
                </a:solidFill>
              </a:rPr>
              <a:t>硬件 </a:t>
            </a:r>
            <a:r>
              <a:rPr lang="en-US" altLang="zh-CN" b="1">
                <a:solidFill>
                  <a:srgbClr val="DC2626"/>
                </a:solidFill>
              </a:rPr>
              <a:t>/ QEMU</a:t>
            </a:r>
            <a:endParaRPr lang="zh-CN" altLang="en-US" b="1">
              <a:solidFill>
                <a:srgbClr val="DC2626"/>
              </a:solidFill>
            </a:endParaRPr>
          </a:p>
        </p:txBody>
      </p:sp>
      <p:sp>
        <p:nvSpPr>
          <p:cNvPr id="209" name="矩形 208">
            <a:extLst>
              <a:ext uri="{FF2B5EF4-FFF2-40B4-BE49-F238E27FC236}">
                <a16:creationId xmlns:a16="http://schemas.microsoft.com/office/drawing/2014/main" id="{63B4C0C0-30F3-4D00-ABED-C3FA73137910}"/>
              </a:ext>
            </a:extLst>
          </p:cNvPr>
          <p:cNvSpPr/>
          <p:nvPr/>
        </p:nvSpPr>
        <p:spPr>
          <a:xfrm>
            <a:off x="3175000" y="6311900"/>
            <a:ext cx="1905000" cy="3048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altLang="zh-CN" sz="950" b="1">
                <a:solidFill>
                  <a:srgbClr val="111827"/>
                </a:solidFill>
              </a:rPr>
              <a:t>RISC-V64 / OpenSBI</a:t>
            </a:r>
            <a:endParaRPr lang="zh-CN" altLang="en-US" sz="950" b="1">
              <a:solidFill>
                <a:srgbClr val="111827"/>
              </a:solidFill>
            </a:endParaRPr>
          </a:p>
        </p:txBody>
      </p:sp>
      <p:sp>
        <p:nvSpPr>
          <p:cNvPr id="210" name="矩形 209">
            <a:extLst>
              <a:ext uri="{FF2B5EF4-FFF2-40B4-BE49-F238E27FC236}">
                <a16:creationId xmlns:a16="http://schemas.microsoft.com/office/drawing/2014/main" id="{0197729E-10A8-4E85-ADC4-EF1B79B00939}"/>
              </a:ext>
            </a:extLst>
          </p:cNvPr>
          <p:cNvSpPr/>
          <p:nvPr/>
        </p:nvSpPr>
        <p:spPr>
          <a:xfrm>
            <a:off x="5588000" y="6311900"/>
            <a:ext cx="1714500" cy="3048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altLang="zh-CN" sz="950" b="1">
                <a:solidFill>
                  <a:srgbClr val="111827"/>
                </a:solidFill>
              </a:rPr>
              <a:t>LoongArch64</a:t>
            </a:r>
            <a:endParaRPr lang="zh-CN" altLang="en-US" sz="950" b="1">
              <a:solidFill>
                <a:srgbClr val="111827"/>
              </a:solidFill>
            </a:endParaRPr>
          </a:p>
        </p:txBody>
      </p:sp>
      <p:sp>
        <p:nvSpPr>
          <p:cNvPr id="211" name="矩形 210">
            <a:extLst>
              <a:ext uri="{FF2B5EF4-FFF2-40B4-BE49-F238E27FC236}">
                <a16:creationId xmlns:a16="http://schemas.microsoft.com/office/drawing/2014/main" id="{050400D6-C740-4980-9F18-0533D598890A}"/>
              </a:ext>
            </a:extLst>
          </p:cNvPr>
          <p:cNvSpPr/>
          <p:nvPr/>
        </p:nvSpPr>
        <p:spPr>
          <a:xfrm>
            <a:off x="7810500" y="6311900"/>
            <a:ext cx="1714500" cy="3048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altLang="zh-CN" sz="950" b="1">
                <a:solidFill>
                  <a:srgbClr val="111827"/>
                </a:solidFill>
              </a:rPr>
              <a:t>RAM / VirtIO</a:t>
            </a:r>
            <a:endParaRPr lang="zh-CN" altLang="en-US" sz="950" b="1">
              <a:solidFill>
                <a:srgbClr val="111827"/>
              </a:solidFill>
            </a:endParaRPr>
          </a:p>
        </p:txBody>
      </p:sp>
      <p:sp>
        <p:nvSpPr>
          <p:cNvPr id="212" name="矩形 211">
            <a:extLst>
              <a:ext uri="{FF2B5EF4-FFF2-40B4-BE49-F238E27FC236}">
                <a16:creationId xmlns:a16="http://schemas.microsoft.com/office/drawing/2014/main" id="{99D469AA-9A64-47A1-B4FB-8E23073FDE7A}"/>
              </a:ext>
            </a:extLst>
          </p:cNvPr>
          <p:cNvSpPr/>
          <p:nvPr/>
        </p:nvSpPr>
        <p:spPr>
          <a:xfrm>
            <a:off x="10033000" y="6311900"/>
            <a:ext cx="1524000" cy="3048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altLang="zh-CN" sz="950" b="1">
                <a:solidFill>
                  <a:srgbClr val="111827"/>
                </a:solidFill>
              </a:rPr>
              <a:t>UART / PCI</a:t>
            </a:r>
            <a:endParaRPr lang="zh-CN" altLang="en-US" sz="950" b="1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>
            <a:extLst>
              <a:ext uri="{FF2B5EF4-FFF2-40B4-BE49-F238E27FC236}">
                <a16:creationId xmlns:a16="http://schemas.microsoft.com/office/drawing/2014/main" id="{685A18AF-BB1A-4927-9A13-2D334DA7F364}"/>
              </a:ext>
            </a:extLst>
          </p:cNvPr>
          <p:cNvSpPr/>
          <p:nvPr/>
        </p:nvSpPr>
        <p:spPr>
          <a:xfrm>
            <a:off x="2921000" y="127000"/>
            <a:ext cx="6350000" cy="4318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altLang="zh-CN" sz="2600" b="1">
                <a:solidFill>
                  <a:srgbClr val="080F1F"/>
                </a:solidFill>
              </a:rPr>
              <a:t>MangoCore Boot </a:t>
            </a:r>
            <a:r>
              <a:rPr lang="zh-CN" altLang="en-US" sz="2600" b="1">
                <a:solidFill>
                  <a:srgbClr val="080F1F"/>
                </a:solidFill>
              </a:rPr>
              <a:t>流程图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5E4B6E95-FE57-4560-A0A4-9FE424ECA376}"/>
              </a:ext>
            </a:extLst>
          </p:cNvPr>
          <p:cNvSpPr/>
          <p:nvPr/>
        </p:nvSpPr>
        <p:spPr>
          <a:xfrm>
            <a:off x="444500" y="736600"/>
            <a:ext cx="11303000" cy="889000"/>
          </a:xfrm>
          <a:prstGeom prst="rect">
            <a:avLst/>
          </a:prstGeom>
          <a:solidFill>
            <a:srgbClr val="F4FF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0B3E232E-63B2-49AC-A0DD-D41C0C016064}"/>
              </a:ext>
            </a:extLst>
          </p:cNvPr>
          <p:cNvSpPr/>
          <p:nvPr/>
        </p:nvSpPr>
        <p:spPr>
          <a:xfrm>
            <a:off x="863600" y="1016000"/>
            <a:ext cx="1270000" cy="355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zh-CN" altLang="en-US" sz="2200" b="1">
                <a:solidFill>
                  <a:srgbClr val="15803D"/>
                </a:solidFill>
              </a:rPr>
              <a:t>固件入口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BE8ECA48-5231-498E-B3C0-B6F84D3619BD}"/>
              </a:ext>
            </a:extLst>
          </p:cNvPr>
          <p:cNvSpPr/>
          <p:nvPr/>
        </p:nvSpPr>
        <p:spPr>
          <a:xfrm>
            <a:off x="3683000" y="965200"/>
            <a:ext cx="2603500" cy="5334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altLang="zh-CN" sz="1050" b="1">
                <a:solidFill>
                  <a:srgbClr val="111827"/>
                </a:solidFill>
              </a:rPr>
              <a:t>QEMU / Firmware
OpenSBI / arch boot</a:t>
            </a:r>
            <a:endParaRPr lang="zh-CN" altLang="en-US" sz="1050" b="1">
              <a:solidFill>
                <a:srgbClr val="111827"/>
              </a:solidFill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38F33CE0-5CC3-47F6-BDE5-58B60B186B4E}"/>
              </a:ext>
            </a:extLst>
          </p:cNvPr>
          <p:cNvSpPr/>
          <p:nvPr/>
        </p:nvSpPr>
        <p:spPr>
          <a:xfrm>
            <a:off x="7175500" y="965200"/>
            <a:ext cx="2603500" cy="5334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altLang="zh-CN" sz="1050" b="1">
                <a:solidFill>
                  <a:srgbClr val="111827"/>
                </a:solidFill>
              </a:rPr>
              <a:t>_start
</a:t>
            </a:r>
            <a:r>
              <a:rPr lang="zh-CN" altLang="en-US" sz="1050" b="1">
                <a:solidFill>
                  <a:srgbClr val="111827"/>
                </a:solidFill>
              </a:rPr>
              <a:t>汇编入口 → </a:t>
            </a:r>
            <a:r>
              <a:rPr lang="en-US" altLang="zh-CN" sz="1050" b="1">
                <a:solidFill>
                  <a:srgbClr val="111827"/>
                </a:solidFill>
              </a:rPr>
              <a:t>rust_main()</a:t>
            </a:r>
            <a:endParaRPr lang="zh-CN" altLang="en-US" sz="1050" b="1">
              <a:solidFill>
                <a:srgbClr val="111827"/>
              </a:solidFill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4FBE9B99-8629-4303-A2D8-D634EA8C8C6C}"/>
              </a:ext>
            </a:extLst>
          </p:cNvPr>
          <p:cNvSpPr/>
          <p:nvPr/>
        </p:nvSpPr>
        <p:spPr>
          <a:xfrm>
            <a:off x="444500" y="2006600"/>
            <a:ext cx="11303000" cy="1676400"/>
          </a:xfrm>
          <a:prstGeom prst="rect">
            <a:avLst/>
          </a:prstGeom>
          <a:solidFill>
            <a:srgbClr val="F1F8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E7E7567C-6C72-41F1-A134-448C9E77F6CD}"/>
              </a:ext>
            </a:extLst>
          </p:cNvPr>
          <p:cNvSpPr/>
          <p:nvPr/>
        </p:nvSpPr>
        <p:spPr>
          <a:xfrm>
            <a:off x="736600" y="2222500"/>
            <a:ext cx="1778000" cy="381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altLang="zh-CN" b="1">
                <a:solidFill>
                  <a:srgbClr val="0969D8"/>
                </a:solidFill>
              </a:rPr>
              <a:t>rust_main </a:t>
            </a:r>
            <a:r>
              <a:rPr lang="zh-CN" altLang="en-US" b="1">
                <a:solidFill>
                  <a:srgbClr val="0969D8"/>
                </a:solidFill>
              </a:rPr>
              <a:t>初始化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DC5A07B8-5E9D-4050-A20C-3F59AC1FA45D}"/>
              </a:ext>
            </a:extLst>
          </p:cNvPr>
          <p:cNvSpPr/>
          <p:nvPr/>
        </p:nvSpPr>
        <p:spPr>
          <a:xfrm>
            <a:off x="2794000" y="2311400"/>
            <a:ext cx="1587500" cy="4318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altLang="zh-CN" sz="1050" b="1">
                <a:solidFill>
                  <a:srgbClr val="111827"/>
                </a:solidFill>
              </a:rPr>
              <a:t>1 bootstrap_init</a:t>
            </a:r>
            <a:endParaRPr lang="zh-CN" altLang="en-US" sz="1050" b="1">
              <a:solidFill>
                <a:srgbClr val="111827"/>
              </a:solidFill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281EF389-3491-4E81-9015-3319813EBE7C}"/>
              </a:ext>
            </a:extLst>
          </p:cNvPr>
          <p:cNvSpPr/>
          <p:nvPr/>
        </p:nvSpPr>
        <p:spPr>
          <a:xfrm>
            <a:off x="4635500" y="2311400"/>
            <a:ext cx="1587500" cy="4318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altLang="zh-CN" sz="1050" b="1">
                <a:solidFill>
                  <a:srgbClr val="111827"/>
                </a:solidFill>
              </a:rPr>
              <a:t>2 mem_clear</a:t>
            </a:r>
            <a:endParaRPr lang="zh-CN" altLang="en-US" sz="1050" b="1">
              <a:solidFill>
                <a:srgbClr val="111827"/>
              </a:solidFill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C85E1583-D717-44EF-A0A2-DDF86DD81135}"/>
              </a:ext>
            </a:extLst>
          </p:cNvPr>
          <p:cNvSpPr/>
          <p:nvPr/>
        </p:nvSpPr>
        <p:spPr>
          <a:xfrm>
            <a:off x="6477000" y="2311400"/>
            <a:ext cx="1587500" cy="4318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altLang="zh-CN" sz="1050" b="1">
                <a:solidFill>
                  <a:srgbClr val="111827"/>
                </a:solidFill>
              </a:rPr>
              <a:t>3 log_init</a:t>
            </a:r>
            <a:endParaRPr lang="zh-CN" altLang="en-US" sz="1050" b="1">
              <a:solidFill>
                <a:srgbClr val="111827"/>
              </a:solidFill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D3B18D77-5B64-4291-B84D-FCF11E11BFA5}"/>
              </a:ext>
            </a:extLst>
          </p:cNvPr>
          <p:cNvSpPr/>
          <p:nvPr/>
        </p:nvSpPr>
        <p:spPr>
          <a:xfrm>
            <a:off x="8318500" y="2311400"/>
            <a:ext cx="1587500" cy="4318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altLang="zh-CN" sz="1050" b="1">
                <a:solidFill>
                  <a:srgbClr val="111827"/>
                </a:solidFill>
              </a:rPr>
              <a:t>4 trace::init</a:t>
            </a:r>
            <a:endParaRPr lang="zh-CN" altLang="en-US" sz="1050" b="1">
              <a:solidFill>
                <a:srgbClr val="111827"/>
              </a:solidFill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9F5F016B-DE67-493A-A635-FE28DF0A577B}"/>
              </a:ext>
            </a:extLst>
          </p:cNvPr>
          <p:cNvSpPr/>
          <p:nvPr/>
        </p:nvSpPr>
        <p:spPr>
          <a:xfrm>
            <a:off x="2794000" y="2946400"/>
            <a:ext cx="1587500" cy="4318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altLang="zh-CN" sz="1050" b="1">
                <a:solidFill>
                  <a:srgbClr val="111827"/>
                </a:solidFill>
              </a:rPr>
              <a:t>5 mm::init</a:t>
            </a:r>
            <a:endParaRPr lang="zh-CN" altLang="en-US" sz="1050" b="1">
              <a:solidFill>
                <a:srgbClr val="111827"/>
              </a:solidFill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2F59E691-9CE7-492B-8EAA-D3821A649EB3}"/>
              </a:ext>
            </a:extLst>
          </p:cNvPr>
          <p:cNvSpPr/>
          <p:nvPr/>
        </p:nvSpPr>
        <p:spPr>
          <a:xfrm>
            <a:off x="4635500" y="2946400"/>
            <a:ext cx="1587500" cy="4318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altLang="zh-CN" sz="1050" b="1">
                <a:solidFill>
                  <a:srgbClr val="111827"/>
                </a:solidFill>
              </a:rPr>
              <a:t>6 machine_init</a:t>
            </a:r>
            <a:endParaRPr lang="zh-CN" altLang="en-US" sz="1050" b="1">
              <a:solidFill>
                <a:srgbClr val="111827"/>
              </a:solidFill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74523332-FF7E-449A-99E6-B2602E9D417E}"/>
              </a:ext>
            </a:extLst>
          </p:cNvPr>
          <p:cNvSpPr/>
          <p:nvPr/>
        </p:nvSpPr>
        <p:spPr>
          <a:xfrm>
            <a:off x="6477000" y="2946400"/>
            <a:ext cx="1587500" cy="4318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altLang="zh-CN" sz="1050" b="1">
                <a:solidFill>
                  <a:srgbClr val="111827"/>
                </a:solidFill>
              </a:rPr>
              <a:t>7 timer init</a:t>
            </a:r>
            <a:endParaRPr lang="zh-CN" altLang="en-US" sz="1050" b="1">
              <a:solidFill>
                <a:srgbClr val="111827"/>
              </a:solidFill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195BF2C9-8D74-461E-9DEA-749F23EB074E}"/>
              </a:ext>
            </a:extLst>
          </p:cNvPr>
          <p:cNvSpPr/>
          <p:nvPr/>
        </p:nvSpPr>
        <p:spPr>
          <a:xfrm>
            <a:off x="8318500" y="2946400"/>
            <a:ext cx="1587500" cy="4318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altLang="zh-CN" sz="1050" b="1">
                <a:solidFill>
                  <a:srgbClr val="111827"/>
                </a:solidFill>
              </a:rPr>
              <a:t>8 </a:t>
            </a:r>
            <a:r>
              <a:rPr lang="zh-CN" altLang="en-US" sz="1050" b="1">
                <a:solidFill>
                  <a:srgbClr val="111827"/>
                </a:solidFill>
              </a:rPr>
              <a:t>启动路径选择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F69E3672-DAFB-436A-B9D2-A0E6A86CD682}"/>
              </a:ext>
            </a:extLst>
          </p:cNvPr>
          <p:cNvSpPr/>
          <p:nvPr/>
        </p:nvSpPr>
        <p:spPr>
          <a:xfrm>
            <a:off x="444500" y="4064000"/>
            <a:ext cx="5334000" cy="1524000"/>
          </a:xfrm>
          <a:prstGeom prst="rect">
            <a:avLst/>
          </a:prstGeom>
          <a:solidFill>
            <a:srgbClr val="FFFAF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15F8BC5C-BA75-48F8-843A-9FBF2D2CA266}"/>
              </a:ext>
            </a:extLst>
          </p:cNvPr>
          <p:cNvSpPr/>
          <p:nvPr/>
        </p:nvSpPr>
        <p:spPr>
          <a:xfrm>
            <a:off x="736600" y="4318000"/>
            <a:ext cx="1905000" cy="355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altLang="zh-CN" sz="2000" b="1">
                <a:solidFill>
                  <a:srgbClr val="C96A00"/>
                </a:solidFill>
              </a:rPr>
              <a:t>initramfs </a:t>
            </a:r>
            <a:r>
              <a:rPr lang="zh-CN" altLang="en-US" sz="2000" b="1">
                <a:solidFill>
                  <a:srgbClr val="C96A00"/>
                </a:solidFill>
              </a:rPr>
              <a:t>路径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EBF3F919-C93B-4EDB-8EFD-551E1F7B744D}"/>
              </a:ext>
            </a:extLst>
          </p:cNvPr>
          <p:cNvSpPr/>
          <p:nvPr/>
        </p:nvSpPr>
        <p:spPr>
          <a:xfrm>
            <a:off x="3111500" y="4292600"/>
            <a:ext cx="2349500" cy="355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altLang="zh-CN" sz="1050" b="1">
                <a:solidFill>
                  <a:srgbClr val="111827"/>
                </a:solidFill>
              </a:rPr>
              <a:t>posix_lock_manager()</a:t>
            </a:r>
            <a:endParaRPr lang="zh-CN" altLang="en-US" sz="1050" b="1">
              <a:solidFill>
                <a:srgbClr val="111827"/>
              </a:solidFill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D547C31B-DF3C-4B39-B4CA-D779A21939DE}"/>
              </a:ext>
            </a:extLst>
          </p:cNvPr>
          <p:cNvSpPr/>
          <p:nvPr/>
        </p:nvSpPr>
        <p:spPr>
          <a:xfrm>
            <a:off x="3111500" y="4749800"/>
            <a:ext cx="2349500" cy="355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altLang="zh-CN" sz="1050" b="1">
                <a:solidFill>
                  <a:srgbClr val="111827"/>
                </a:solidFill>
              </a:rPr>
              <a:t>fs::initramfs_init()</a:t>
            </a:r>
            <a:endParaRPr lang="zh-CN" altLang="en-US" sz="1050" b="1">
              <a:solidFill>
                <a:srgbClr val="111827"/>
              </a:solidFill>
            </a:endParaRP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3CFDF8F7-9531-490E-ABEF-04A737E7A7C0}"/>
              </a:ext>
            </a:extLst>
          </p:cNvPr>
          <p:cNvSpPr/>
          <p:nvPr/>
        </p:nvSpPr>
        <p:spPr>
          <a:xfrm>
            <a:off x="3111500" y="5207000"/>
            <a:ext cx="2349500" cy="355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altLang="zh-CN" sz="1050" b="1">
                <a:solidFill>
                  <a:srgbClr val="111827"/>
                </a:solidFill>
              </a:rPr>
              <a:t>net device / config / boot block</a:t>
            </a:r>
            <a:endParaRPr lang="zh-CN" altLang="en-US" sz="1050" b="1">
              <a:solidFill>
                <a:srgbClr val="111827"/>
              </a:solidFill>
            </a:endParaRP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201A97C4-BD4B-43AA-8A7B-8B69E8BA0216}"/>
              </a:ext>
            </a:extLst>
          </p:cNvPr>
          <p:cNvSpPr/>
          <p:nvPr/>
        </p:nvSpPr>
        <p:spPr>
          <a:xfrm>
            <a:off x="6477000" y="4064000"/>
            <a:ext cx="5270500" cy="1524000"/>
          </a:xfrm>
          <a:prstGeom prst="rect">
            <a:avLst/>
          </a:prstGeom>
          <a:solidFill>
            <a:srgbClr val="FBF7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3867A54C-0859-4935-913C-A299CC68CB60}"/>
              </a:ext>
            </a:extLst>
          </p:cNvPr>
          <p:cNvSpPr/>
          <p:nvPr/>
        </p:nvSpPr>
        <p:spPr>
          <a:xfrm>
            <a:off x="6858000" y="4318000"/>
            <a:ext cx="1651000" cy="355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altLang="zh-CN" sz="2000" b="1">
                <a:solidFill>
                  <a:srgbClr val="7C3AED"/>
                </a:solidFill>
              </a:rPr>
              <a:t>legacy </a:t>
            </a:r>
            <a:r>
              <a:rPr lang="zh-CN" altLang="en-US" sz="2000" b="1">
                <a:solidFill>
                  <a:srgbClr val="7C3AED"/>
                </a:solidFill>
              </a:rPr>
              <a:t>路径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9E3A64F0-611E-4037-98A5-EF2CB75E3091}"/>
              </a:ext>
            </a:extLst>
          </p:cNvPr>
          <p:cNvSpPr/>
          <p:nvPr/>
        </p:nvSpPr>
        <p:spPr>
          <a:xfrm>
            <a:off x="8763000" y="4470400"/>
            <a:ext cx="2413000" cy="355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altLang="zh-CN" sz="1050" b="1">
                <a:solidFill>
                  <a:srgbClr val="111827"/>
                </a:solidFill>
              </a:rPr>
              <a:t>drivers::init_net_device()</a:t>
            </a:r>
            <a:endParaRPr lang="zh-CN" altLang="en-US" sz="1050" b="1">
              <a:solidFill>
                <a:srgbClr val="111827"/>
              </a:solidFill>
            </a:endParaRP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9DFA4A04-BFBF-43B0-A206-E94896C15777}"/>
              </a:ext>
            </a:extLst>
          </p:cNvPr>
          <p:cNvSpPr/>
          <p:nvPr/>
        </p:nvSpPr>
        <p:spPr>
          <a:xfrm>
            <a:off x="8763000" y="5003800"/>
            <a:ext cx="2413000" cy="355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altLang="zh-CN" sz="1050" b="1">
                <a:solidFill>
                  <a:srgbClr val="111827"/>
                </a:solidFill>
              </a:rPr>
              <a:t>flush_preload / mount_tools_disk</a:t>
            </a:r>
            <a:endParaRPr lang="zh-CN" altLang="en-US" sz="1050" b="1">
              <a:solidFill>
                <a:srgbClr val="111827"/>
              </a:solidFill>
            </a:endParaRP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1A64E789-C727-49DF-8614-D48AB47813FD}"/>
              </a:ext>
            </a:extLst>
          </p:cNvPr>
          <p:cNvSpPr/>
          <p:nvPr/>
        </p:nvSpPr>
        <p:spPr>
          <a:xfrm>
            <a:off x="444500" y="6032500"/>
            <a:ext cx="11303000" cy="660400"/>
          </a:xfrm>
          <a:prstGeom prst="rect">
            <a:avLst/>
          </a:prstGeom>
          <a:solidFill>
            <a:srgbClr val="FFF5F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7AB9B3C5-B6F6-46AE-9AE6-DFC86BB42C8A}"/>
              </a:ext>
            </a:extLst>
          </p:cNvPr>
          <p:cNvSpPr/>
          <p:nvPr/>
        </p:nvSpPr>
        <p:spPr>
          <a:xfrm>
            <a:off x="736600" y="6172200"/>
            <a:ext cx="1905000" cy="3302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zh-CN" altLang="en-US" sz="2000" b="1">
                <a:solidFill>
                  <a:srgbClr val="DC2626"/>
                </a:solidFill>
              </a:rPr>
              <a:t>进入任务系统</a:t>
            </a: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CFF96CB7-17EC-460B-B0C7-050F7EB1C007}"/>
              </a:ext>
            </a:extLst>
          </p:cNvPr>
          <p:cNvSpPr/>
          <p:nvPr/>
        </p:nvSpPr>
        <p:spPr>
          <a:xfrm>
            <a:off x="3619500" y="6197600"/>
            <a:ext cx="2032000" cy="3302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altLang="zh-CN" sz="1050" b="1">
                <a:solidFill>
                  <a:srgbClr val="111827"/>
                </a:solidFill>
              </a:rPr>
              <a:t>posix_lock_manager</a:t>
            </a:r>
            <a:endParaRPr lang="zh-CN" altLang="en-US" sz="1050" b="1">
              <a:solidFill>
                <a:srgbClr val="111827"/>
              </a:solidFill>
            </a:endParaRP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1673BB94-2960-4D25-A187-D96F4AFE3EFE}"/>
              </a:ext>
            </a:extLst>
          </p:cNvPr>
          <p:cNvSpPr/>
          <p:nvPr/>
        </p:nvSpPr>
        <p:spPr>
          <a:xfrm>
            <a:off x="6477000" y="6197600"/>
            <a:ext cx="1778000" cy="3302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altLang="zh-CN" sz="1050" b="1">
                <a:solidFill>
                  <a:srgbClr val="111827"/>
                </a:solidFill>
              </a:rPr>
              <a:t>add_initproc</a:t>
            </a:r>
            <a:endParaRPr lang="zh-CN" altLang="en-US" sz="1050" b="1">
              <a:solidFill>
                <a:srgbClr val="111827"/>
              </a:solidFill>
            </a:endParaRP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7079F9D4-EC59-4A05-B2F6-1AA57CC1CD6A}"/>
              </a:ext>
            </a:extLst>
          </p:cNvPr>
          <p:cNvSpPr/>
          <p:nvPr/>
        </p:nvSpPr>
        <p:spPr>
          <a:xfrm>
            <a:off x="9080500" y="6197600"/>
            <a:ext cx="1714500" cy="3302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altLang="zh-CN" sz="1050" b="1">
                <a:solidFill>
                  <a:srgbClr val="111827"/>
                </a:solidFill>
              </a:rPr>
              <a:t>run_tasks()</a:t>
            </a:r>
            <a:endParaRPr lang="zh-CN" altLang="en-US" sz="1050" b="1">
              <a:solidFill>
                <a:srgbClr val="11182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92822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王湘浩楼"/>
          <p:cNvPicPr>
            <a:picLocks noChangeAspect="1"/>
          </p:cNvPicPr>
          <p:nvPr/>
        </p:nvPicPr>
        <p:blipFill>
          <a:blip r:embed="rId3">
            <a:alphaModFix amt="36000"/>
          </a:blip>
          <a:srcRect l="4998" t="42898" r="5103"/>
          <a:stretch>
            <a:fillRect/>
          </a:stretch>
        </p:blipFill>
        <p:spPr>
          <a:xfrm>
            <a:off x="-118110" y="4234180"/>
            <a:ext cx="12310110" cy="270446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8" name="矩形 17"/>
          <p:cNvSpPr/>
          <p:nvPr/>
        </p:nvSpPr>
        <p:spPr>
          <a:xfrm>
            <a:off x="0" y="0"/>
            <a:ext cx="12192000" cy="6938010"/>
          </a:xfrm>
          <a:prstGeom prst="rect">
            <a:avLst/>
          </a:prstGeom>
          <a:gradFill>
            <a:gsLst>
              <a:gs pos="42000">
                <a:schemeClr val="bg1">
                  <a:alpha val="83000"/>
                </a:schemeClr>
              </a:gs>
              <a:gs pos="100000">
                <a:schemeClr val="bg1">
                  <a:alpha val="90000"/>
                </a:schemeClr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br>
              <a:rPr lang="zh-CN" altLang="en-US" sz="1200" dirty="0">
                <a:sym typeface="+mn-ea"/>
              </a:rPr>
            </a:br>
            <a:r>
              <a:rPr lang="zh-CN" altLang="en-US" sz="1200" dirty="0">
                <a:sym typeface="+mn-ea"/>
              </a:rPr>
              <a:t>数据洪流与</a:t>
            </a:r>
            <a:r>
              <a:rPr lang="en-US" altLang="zh-CN" sz="1200" dirty="0">
                <a:sym typeface="+mn-ea"/>
              </a:rPr>
              <a:t>AI</a:t>
            </a:r>
            <a:r>
              <a:rPr lang="zh-CN" altLang="en-US" sz="1200" dirty="0">
                <a:sym typeface="+mn-ea"/>
              </a:rPr>
              <a:t>的</a:t>
            </a:r>
            <a:br>
              <a:rPr lang="zh-CN" altLang="en-US" sz="1200" dirty="0">
                <a:sym typeface="+mn-ea"/>
              </a:rPr>
            </a:br>
            <a:r>
              <a:rPr lang="zh-CN" altLang="en-US" sz="1200" dirty="0">
                <a:sym typeface="+mn-ea"/>
              </a:rPr>
              <a:t>变革性影响</a:t>
            </a:r>
            <a:endParaRPr lang="en-US" sz="1200"/>
          </a:p>
        </p:txBody>
      </p:sp>
      <p:sp>
        <p:nvSpPr>
          <p:cNvPr id="4" name="标题"/>
          <p:cNvSpPr>
            <a:spLocks noGrp="1"/>
          </p:cNvSpPr>
          <p:nvPr/>
        </p:nvSpPr>
        <p:spPr>
          <a:xfrm>
            <a:off x="3121025" y="2167890"/>
            <a:ext cx="8462645" cy="212725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30000"/>
              </a:lnSpc>
            </a:pPr>
            <a:br>
              <a:rPr lang="zh-CN" altLang="en-US" sz="40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40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问题解决</a:t>
            </a:r>
          </a:p>
          <a:p>
            <a:pPr algn="ctr">
              <a:lnSpc>
                <a:spcPct val="130000"/>
              </a:lnSpc>
            </a:pPr>
            <a:r>
              <a:rPr lang="zh-CN" altLang="en-US" sz="40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从现象到回归闭环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780540" y="2372995"/>
            <a:ext cx="2261870" cy="1861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233117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001"/>
          <p:cNvPicPr>
            <a:picLocks noChangeAspect="1"/>
          </p:cNvPicPr>
          <p:nvPr/>
        </p:nvPicPr>
        <p:blipFill>
          <a:blip r:embed="rId3"/>
          <a:srcRect l="5389" t="37981" r="4352" b="38194"/>
          <a:stretch>
            <a:fillRect/>
          </a:stretch>
        </p:blipFill>
        <p:spPr>
          <a:xfrm>
            <a:off x="9106535" y="123825"/>
            <a:ext cx="2757805" cy="728345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819DFE11-3C97-4F0B-89C4-BA5E4102CCFC}"/>
              </a:ext>
            </a:extLst>
          </p:cNvPr>
          <p:cNvSpPr txBox="1"/>
          <p:nvPr/>
        </p:nvSpPr>
        <p:spPr>
          <a:xfrm>
            <a:off x="736600" y="1143000"/>
            <a:ext cx="10541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zh-CN" altLang="en-US" sz="1500" b="1">
                <a:solidFill>
                  <a:srgbClr val="0B2F55"/>
                </a:solidFill>
                <a:latin typeface="Microsoft YaHei"/>
                <a:ea typeface="Microsoft YaHei"/>
              </a:rPr>
              <a:t>先记录症状，再用 </a:t>
            </a:r>
            <a:r>
              <a:rPr lang="en-US" altLang="zh-CN" sz="1500" b="1">
                <a:solidFill>
                  <a:srgbClr val="0B2F55"/>
                </a:solidFill>
                <a:latin typeface="Microsoft YaHei"/>
                <a:ea typeface="Microsoft YaHei"/>
              </a:rPr>
              <a:t>perf_diag </a:t>
            </a:r>
            <a:r>
              <a:rPr lang="zh-CN" altLang="en-US" sz="1500" b="1">
                <a:solidFill>
                  <a:srgbClr val="0B2F55"/>
                </a:solidFill>
                <a:latin typeface="Microsoft YaHei"/>
                <a:ea typeface="Microsoft YaHei"/>
              </a:rPr>
              <a:t>和 </a:t>
            </a:r>
            <a:r>
              <a:rPr lang="en-US" altLang="zh-CN" sz="1500" b="1">
                <a:solidFill>
                  <a:srgbClr val="0B2F55"/>
                </a:solidFill>
                <a:latin typeface="Microsoft YaHei"/>
                <a:ea typeface="Microsoft YaHei"/>
              </a:rPr>
              <a:t>sysfs </a:t>
            </a:r>
            <a:r>
              <a:rPr lang="zh-CN" altLang="en-US" sz="1500" b="1">
                <a:solidFill>
                  <a:srgbClr val="0B2F55"/>
                </a:solidFill>
                <a:latin typeface="Microsoft YaHei"/>
                <a:ea typeface="Microsoft YaHei"/>
              </a:rPr>
              <a:t>计数定位；最后用最小修复验证假设。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F3DD410-D23A-41B5-86B0-A25F1C068412}"/>
              </a:ext>
            </a:extLst>
          </p:cNvPr>
          <p:cNvSpPr/>
          <p:nvPr/>
        </p:nvSpPr>
        <p:spPr>
          <a:xfrm>
            <a:off x="685800" y="1905000"/>
            <a:ext cx="1778000" cy="9906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9E3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19CD2D2-5098-4863-A60B-6207E26C9137}"/>
              </a:ext>
            </a:extLst>
          </p:cNvPr>
          <p:cNvSpPr/>
          <p:nvPr/>
        </p:nvSpPr>
        <p:spPr>
          <a:xfrm>
            <a:off x="685800" y="1905000"/>
            <a:ext cx="63500" cy="990600"/>
          </a:xfrm>
          <a:prstGeom prst="rect">
            <a:avLst/>
          </a:prstGeom>
          <a:solidFill>
            <a:srgbClr val="D64B4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5803912-D007-40DB-B15B-D5E2E5C0392E}"/>
              </a:ext>
            </a:extLst>
          </p:cNvPr>
          <p:cNvSpPr txBox="1"/>
          <p:nvPr/>
        </p:nvSpPr>
        <p:spPr>
          <a:xfrm>
            <a:off x="863600" y="2044700"/>
            <a:ext cx="14986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fontScale="92500" lnSpcReduction="20000"/>
          </a:bodyPr>
          <a:lstStyle/>
          <a:p>
            <a:pPr algn="l"/>
            <a:r>
              <a:rPr lang="zh-CN" altLang="en-US" sz="1300" b="1">
                <a:solidFill>
                  <a:srgbClr val="123B67"/>
                </a:solidFill>
                <a:latin typeface="Microsoft YaHei"/>
                <a:ea typeface="Microsoft YaHei"/>
              </a:rPr>
              <a:t>现象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51C3F63-C926-4DDC-9333-F4FD36CEF28B}"/>
              </a:ext>
            </a:extLst>
          </p:cNvPr>
          <p:cNvSpPr txBox="1"/>
          <p:nvPr/>
        </p:nvSpPr>
        <p:spPr>
          <a:xfrm>
            <a:off x="863600" y="2362200"/>
            <a:ext cx="14986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zh-CN" altLang="en-US" sz="930">
                <a:solidFill>
                  <a:srgbClr val="5F6B7A"/>
                </a:solidFill>
                <a:latin typeface="Microsoft YaHei"/>
                <a:ea typeface="Microsoft YaHei"/>
              </a:rPr>
              <a:t>长跑后 </a:t>
            </a:r>
            <a:r>
              <a:rPr lang="en-US" altLang="zh-CN" sz="930">
                <a:solidFill>
                  <a:srgbClr val="5F6B7A"/>
                </a:solidFill>
                <a:latin typeface="Microsoft YaHei"/>
                <a:ea typeface="Microsoft YaHei"/>
              </a:rPr>
              <a:t>open/close</a:t>
            </a:r>
            <a:r>
              <a:rPr lang="zh-CN" altLang="en-US" sz="930">
                <a:solidFill>
                  <a:srgbClr val="5F6B7A"/>
                </a:solidFill>
                <a:latin typeface="Microsoft YaHei"/>
                <a:ea typeface="Microsoft YaHei"/>
              </a:rPr>
              <a:t>、</a:t>
            </a:r>
            <a:r>
              <a:rPr lang="en-US" altLang="zh-CN" sz="930">
                <a:solidFill>
                  <a:srgbClr val="5F6B7A"/>
                </a:solidFill>
                <a:latin typeface="Microsoft YaHei"/>
                <a:ea typeface="Microsoft YaHei"/>
              </a:rPr>
              <a:t>fork+exit </a:t>
            </a:r>
            <a:r>
              <a:rPr lang="zh-CN" altLang="en-US" sz="930">
                <a:solidFill>
                  <a:srgbClr val="5F6B7A"/>
                </a:solidFill>
                <a:latin typeface="Microsoft YaHei"/>
                <a:ea typeface="Microsoft YaHei"/>
              </a:rPr>
              <a:t>延迟上升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4558810-2792-4615-A6E8-116AF2DD8053}"/>
              </a:ext>
            </a:extLst>
          </p:cNvPr>
          <p:cNvSpPr/>
          <p:nvPr/>
        </p:nvSpPr>
        <p:spPr>
          <a:xfrm>
            <a:off x="2514600" y="2336800"/>
            <a:ext cx="279400" cy="50800"/>
          </a:xfrm>
          <a:prstGeom prst="rect">
            <a:avLst/>
          </a:prstGeom>
          <a:solidFill>
            <a:srgbClr val="AABCE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52A7CAE-951B-4BFA-A4D3-1FBD07EA111D}"/>
              </a:ext>
            </a:extLst>
          </p:cNvPr>
          <p:cNvSpPr/>
          <p:nvPr/>
        </p:nvSpPr>
        <p:spPr>
          <a:xfrm>
            <a:off x="2946400" y="1905000"/>
            <a:ext cx="1778000" cy="9906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9E3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E1E223C-C268-464E-94BA-6EE92C8D3073}"/>
              </a:ext>
            </a:extLst>
          </p:cNvPr>
          <p:cNvSpPr/>
          <p:nvPr/>
        </p:nvSpPr>
        <p:spPr>
          <a:xfrm>
            <a:off x="2946400" y="1905000"/>
            <a:ext cx="63500" cy="990600"/>
          </a:xfrm>
          <a:prstGeom prst="rect">
            <a:avLst/>
          </a:prstGeom>
          <a:solidFill>
            <a:srgbClr val="4A76D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BF2A6A0-1117-4891-B845-5BE72168F658}"/>
              </a:ext>
            </a:extLst>
          </p:cNvPr>
          <p:cNvSpPr txBox="1"/>
          <p:nvPr/>
        </p:nvSpPr>
        <p:spPr>
          <a:xfrm>
            <a:off x="3124200" y="2044700"/>
            <a:ext cx="14986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fontScale="92500" lnSpcReduction="20000"/>
          </a:bodyPr>
          <a:lstStyle/>
          <a:p>
            <a:pPr algn="l"/>
            <a:r>
              <a:rPr lang="zh-CN" altLang="en-US" sz="1300" b="1">
                <a:solidFill>
                  <a:srgbClr val="123B67"/>
                </a:solidFill>
                <a:latin typeface="Microsoft YaHei"/>
                <a:ea typeface="Microsoft YaHei"/>
              </a:rPr>
              <a:t>打点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771EFD6-E6A6-4AF2-B16F-08054F05B90A}"/>
              </a:ext>
            </a:extLst>
          </p:cNvPr>
          <p:cNvSpPr txBox="1"/>
          <p:nvPr/>
        </p:nvSpPr>
        <p:spPr>
          <a:xfrm>
            <a:off x="3124200" y="2362200"/>
            <a:ext cx="14986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altLang="zh-CN" sz="930">
                <a:solidFill>
                  <a:srgbClr val="5F6B7A"/>
                </a:solidFill>
                <a:latin typeface="Microsoft YaHei"/>
                <a:ea typeface="Microsoft YaHei"/>
              </a:rPr>
              <a:t>stats + drift_window
</a:t>
            </a:r>
            <a:r>
              <a:rPr lang="zh-CN" altLang="en-US" sz="930">
                <a:solidFill>
                  <a:srgbClr val="5F6B7A"/>
                </a:solidFill>
                <a:latin typeface="Microsoft YaHei"/>
                <a:ea typeface="Microsoft YaHei"/>
              </a:rPr>
              <a:t>隔离 </a:t>
            </a:r>
            <a:r>
              <a:rPr lang="en-US" altLang="zh-CN" sz="930">
                <a:solidFill>
                  <a:srgbClr val="5F6B7A"/>
                </a:solidFill>
                <a:latin typeface="Microsoft YaHei"/>
                <a:ea typeface="Microsoft YaHei"/>
              </a:rPr>
              <a:t>null syscall</a:t>
            </a:r>
            <a:endParaRPr lang="zh-CN" altLang="en-US" sz="930">
              <a:solidFill>
                <a:srgbClr val="5F6B7A"/>
              </a:solidFill>
              <a:latin typeface="Microsoft YaHei"/>
              <a:ea typeface="Microsoft YaHei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8A4EA82-2212-438B-AB85-2677C08DF28A}"/>
              </a:ext>
            </a:extLst>
          </p:cNvPr>
          <p:cNvSpPr/>
          <p:nvPr/>
        </p:nvSpPr>
        <p:spPr>
          <a:xfrm>
            <a:off x="4775200" y="2336800"/>
            <a:ext cx="279400" cy="50800"/>
          </a:xfrm>
          <a:prstGeom prst="rect">
            <a:avLst/>
          </a:prstGeom>
          <a:solidFill>
            <a:srgbClr val="AABCE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76E983A-BE4B-4315-99E1-CE24ABD2CB35}"/>
              </a:ext>
            </a:extLst>
          </p:cNvPr>
          <p:cNvSpPr/>
          <p:nvPr/>
        </p:nvSpPr>
        <p:spPr>
          <a:xfrm>
            <a:off x="5207000" y="1905000"/>
            <a:ext cx="1778000" cy="9906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9E3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A3A68F8-823B-4AD0-A6D9-B33E8DAC85A2}"/>
              </a:ext>
            </a:extLst>
          </p:cNvPr>
          <p:cNvSpPr/>
          <p:nvPr/>
        </p:nvSpPr>
        <p:spPr>
          <a:xfrm>
            <a:off x="5207000" y="1905000"/>
            <a:ext cx="63500" cy="990600"/>
          </a:xfrm>
          <a:prstGeom prst="rect">
            <a:avLst/>
          </a:prstGeom>
          <a:solidFill>
            <a:srgbClr val="F1993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CD8A997-0F5D-4219-A64B-8A9D46ED8D78}"/>
              </a:ext>
            </a:extLst>
          </p:cNvPr>
          <p:cNvSpPr txBox="1"/>
          <p:nvPr/>
        </p:nvSpPr>
        <p:spPr>
          <a:xfrm>
            <a:off x="5384800" y="2044700"/>
            <a:ext cx="14986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fontScale="92500" lnSpcReduction="20000"/>
          </a:bodyPr>
          <a:lstStyle/>
          <a:p>
            <a:pPr algn="l"/>
            <a:r>
              <a:rPr lang="zh-CN" altLang="en-US" sz="1300" b="1">
                <a:solidFill>
                  <a:srgbClr val="123B67"/>
                </a:solidFill>
                <a:latin typeface="Microsoft YaHei"/>
                <a:ea typeface="Microsoft YaHei"/>
              </a:rPr>
              <a:t>定位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8C97ADC-E4B9-4AE1-8008-76F2F98D0767}"/>
              </a:ext>
            </a:extLst>
          </p:cNvPr>
          <p:cNvSpPr txBox="1"/>
          <p:nvPr/>
        </p:nvSpPr>
        <p:spPr>
          <a:xfrm>
            <a:off x="5384800" y="2362200"/>
            <a:ext cx="14986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fontScale="92500"/>
          </a:bodyPr>
          <a:lstStyle/>
          <a:p>
            <a:pPr algn="l"/>
            <a:r>
              <a:rPr lang="en-US" altLang="zh-CN" sz="930">
                <a:solidFill>
                  <a:srgbClr val="5F6B7A"/>
                </a:solidFill>
                <a:latin typeface="Microsoft YaHei"/>
                <a:ea typeface="Microsoft YaHei"/>
              </a:rPr>
              <a:t>heap dealloc scan steps
</a:t>
            </a:r>
            <a:r>
              <a:rPr lang="zh-CN" altLang="en-US" sz="930">
                <a:solidFill>
                  <a:srgbClr val="5F6B7A"/>
                </a:solidFill>
                <a:latin typeface="Microsoft YaHei"/>
                <a:ea typeface="Microsoft YaHei"/>
              </a:rPr>
              <a:t>随碎片化增长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154CDC1-0F58-4BCA-AEC0-B5774BBB0473}"/>
              </a:ext>
            </a:extLst>
          </p:cNvPr>
          <p:cNvSpPr/>
          <p:nvPr/>
        </p:nvSpPr>
        <p:spPr>
          <a:xfrm>
            <a:off x="7035800" y="2336800"/>
            <a:ext cx="279400" cy="50800"/>
          </a:xfrm>
          <a:prstGeom prst="rect">
            <a:avLst/>
          </a:prstGeom>
          <a:solidFill>
            <a:srgbClr val="AABCE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E9FA078-D307-492F-99EA-102C7833B924}"/>
              </a:ext>
            </a:extLst>
          </p:cNvPr>
          <p:cNvSpPr/>
          <p:nvPr/>
        </p:nvSpPr>
        <p:spPr>
          <a:xfrm>
            <a:off x="7467600" y="1905000"/>
            <a:ext cx="1778000" cy="9906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9E3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EA3A790-5512-4A05-B5F1-D86485C8DA83}"/>
              </a:ext>
            </a:extLst>
          </p:cNvPr>
          <p:cNvSpPr/>
          <p:nvPr/>
        </p:nvSpPr>
        <p:spPr>
          <a:xfrm>
            <a:off x="7467600" y="1905000"/>
            <a:ext cx="63500" cy="990600"/>
          </a:xfrm>
          <a:prstGeom prst="rect">
            <a:avLst/>
          </a:prstGeom>
          <a:solidFill>
            <a:srgbClr val="4A76D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2205CE42-2BC8-4DEE-9F24-884317F0542C}"/>
              </a:ext>
            </a:extLst>
          </p:cNvPr>
          <p:cNvSpPr txBox="1"/>
          <p:nvPr/>
        </p:nvSpPr>
        <p:spPr>
          <a:xfrm>
            <a:off x="7645400" y="2044700"/>
            <a:ext cx="14986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fontScale="92500" lnSpcReduction="20000"/>
          </a:bodyPr>
          <a:lstStyle/>
          <a:p>
            <a:pPr algn="l"/>
            <a:r>
              <a:rPr lang="zh-CN" altLang="en-US" sz="1300" b="1">
                <a:solidFill>
                  <a:srgbClr val="123B67"/>
                </a:solidFill>
                <a:latin typeface="Microsoft YaHei"/>
                <a:ea typeface="Microsoft YaHei"/>
              </a:rPr>
              <a:t>修复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D4321FB6-4A53-411E-A274-492358540B1D}"/>
              </a:ext>
            </a:extLst>
          </p:cNvPr>
          <p:cNvSpPr txBox="1"/>
          <p:nvPr/>
        </p:nvSpPr>
        <p:spPr>
          <a:xfrm>
            <a:off x="7645400" y="2362200"/>
            <a:ext cx="14986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altLang="zh-CN" sz="930">
                <a:solidFill>
                  <a:srgbClr val="5F6B7A"/>
                </a:solidFill>
                <a:latin typeface="Microsoft YaHei"/>
                <a:ea typeface="Microsoft YaHei"/>
              </a:rPr>
              <a:t>per-class bitmap guard
</a:t>
            </a:r>
            <a:r>
              <a:rPr lang="zh-CN" altLang="en-US" sz="930">
                <a:solidFill>
                  <a:srgbClr val="5F6B7A"/>
                </a:solidFill>
                <a:latin typeface="Microsoft YaHei"/>
                <a:ea typeface="Microsoft YaHei"/>
              </a:rPr>
              <a:t>先 </a:t>
            </a:r>
            <a:r>
              <a:rPr lang="en-US" altLang="zh-CN" sz="930">
                <a:solidFill>
                  <a:srgbClr val="5F6B7A"/>
                </a:solidFill>
                <a:latin typeface="Microsoft YaHei"/>
                <a:ea typeface="Microsoft YaHei"/>
              </a:rPr>
              <a:t>O(1) </a:t>
            </a:r>
            <a:r>
              <a:rPr lang="zh-CN" altLang="en-US" sz="930">
                <a:solidFill>
                  <a:srgbClr val="5F6B7A"/>
                </a:solidFill>
                <a:latin typeface="Microsoft YaHei"/>
                <a:ea typeface="Microsoft YaHei"/>
              </a:rPr>
              <a:t>判断 </a:t>
            </a:r>
            <a:r>
              <a:rPr lang="en-US" altLang="zh-CN" sz="930">
                <a:solidFill>
                  <a:srgbClr val="5F6B7A"/>
                </a:solidFill>
                <a:latin typeface="Microsoft YaHei"/>
                <a:ea typeface="Microsoft YaHei"/>
              </a:rPr>
              <a:t>buddy</a:t>
            </a:r>
            <a:endParaRPr lang="zh-CN" altLang="en-US" sz="930">
              <a:solidFill>
                <a:srgbClr val="5F6B7A"/>
              </a:solidFill>
              <a:latin typeface="Microsoft YaHei"/>
              <a:ea typeface="Microsoft YaHei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46CB067-F2FC-4F05-8059-7FC9B01DFD58}"/>
              </a:ext>
            </a:extLst>
          </p:cNvPr>
          <p:cNvSpPr/>
          <p:nvPr/>
        </p:nvSpPr>
        <p:spPr>
          <a:xfrm>
            <a:off x="9296400" y="2336800"/>
            <a:ext cx="279400" cy="50800"/>
          </a:xfrm>
          <a:prstGeom prst="rect">
            <a:avLst/>
          </a:prstGeom>
          <a:solidFill>
            <a:srgbClr val="AABCE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5E74121-5FEC-4D9D-A089-D18CA3B7FFA5}"/>
              </a:ext>
            </a:extLst>
          </p:cNvPr>
          <p:cNvSpPr/>
          <p:nvPr/>
        </p:nvSpPr>
        <p:spPr>
          <a:xfrm>
            <a:off x="9728200" y="1905000"/>
            <a:ext cx="1778000" cy="9906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9E3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BD7B652E-504E-4CA1-B163-5A9D0D56AFEF}"/>
              </a:ext>
            </a:extLst>
          </p:cNvPr>
          <p:cNvSpPr/>
          <p:nvPr/>
        </p:nvSpPr>
        <p:spPr>
          <a:xfrm>
            <a:off x="9728200" y="1905000"/>
            <a:ext cx="63500" cy="990600"/>
          </a:xfrm>
          <a:prstGeom prst="rect">
            <a:avLst/>
          </a:prstGeom>
          <a:solidFill>
            <a:srgbClr val="31A16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476BA57E-8B9C-41A6-8AF3-5F0E43A4EF01}"/>
              </a:ext>
            </a:extLst>
          </p:cNvPr>
          <p:cNvSpPr txBox="1"/>
          <p:nvPr/>
        </p:nvSpPr>
        <p:spPr>
          <a:xfrm>
            <a:off x="9906000" y="2044700"/>
            <a:ext cx="14986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fontScale="92500" lnSpcReduction="20000"/>
          </a:bodyPr>
          <a:lstStyle/>
          <a:p>
            <a:pPr algn="l"/>
            <a:r>
              <a:rPr lang="zh-CN" altLang="en-US" sz="1300" b="1">
                <a:solidFill>
                  <a:srgbClr val="123B67"/>
                </a:solidFill>
                <a:latin typeface="Microsoft YaHei"/>
                <a:ea typeface="Microsoft YaHei"/>
              </a:rPr>
              <a:t>验证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81AE2131-EC0B-4477-A683-2E962B2379B3}"/>
              </a:ext>
            </a:extLst>
          </p:cNvPr>
          <p:cNvSpPr txBox="1"/>
          <p:nvPr/>
        </p:nvSpPr>
        <p:spPr>
          <a:xfrm>
            <a:off x="9906000" y="2362200"/>
            <a:ext cx="14986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altLang="zh-CN" sz="930">
                <a:solidFill>
                  <a:srgbClr val="5F6B7A"/>
                </a:solidFill>
                <a:latin typeface="Microsoft YaHei"/>
                <a:ea typeface="Microsoft YaHei"/>
              </a:rPr>
              <a:t>scan_steps </a:t>
            </a:r>
            <a:r>
              <a:rPr lang="zh-CN" altLang="en-US" sz="930">
                <a:solidFill>
                  <a:srgbClr val="5F6B7A"/>
                </a:solidFill>
                <a:latin typeface="Microsoft YaHei"/>
                <a:ea typeface="Microsoft YaHei"/>
              </a:rPr>
              <a:t>降约 </a:t>
            </a:r>
            <a:r>
              <a:rPr lang="en-US" altLang="zh-CN" sz="930">
                <a:solidFill>
                  <a:srgbClr val="5F6B7A"/>
                </a:solidFill>
                <a:latin typeface="Microsoft YaHei"/>
                <a:ea typeface="Microsoft YaHei"/>
              </a:rPr>
              <a:t>130×
</a:t>
            </a:r>
            <a:r>
              <a:rPr lang="zh-CN" altLang="en-US" sz="930">
                <a:solidFill>
                  <a:srgbClr val="5F6B7A"/>
                </a:solidFill>
                <a:latin typeface="Microsoft YaHei"/>
                <a:ea typeface="Microsoft YaHei"/>
              </a:rPr>
              <a:t>归档为调试方法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BC1D204-2167-4CF1-8A98-35AFAC8EA87D}"/>
              </a:ext>
            </a:extLst>
          </p:cNvPr>
          <p:cNvSpPr/>
          <p:nvPr/>
        </p:nvSpPr>
        <p:spPr>
          <a:xfrm>
            <a:off x="1016000" y="3708400"/>
            <a:ext cx="3149600" cy="13970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9E3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1482D93F-EC40-4CB9-9C5F-57135F74D906}"/>
              </a:ext>
            </a:extLst>
          </p:cNvPr>
          <p:cNvSpPr/>
          <p:nvPr/>
        </p:nvSpPr>
        <p:spPr>
          <a:xfrm>
            <a:off x="1016000" y="3708400"/>
            <a:ext cx="63500" cy="1397000"/>
          </a:xfrm>
          <a:prstGeom prst="rect">
            <a:avLst/>
          </a:prstGeom>
          <a:solidFill>
            <a:srgbClr val="4A76D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89AA34DF-BBF7-4181-B6EB-6B108ECAFCED}"/>
              </a:ext>
            </a:extLst>
          </p:cNvPr>
          <p:cNvSpPr/>
          <p:nvPr/>
        </p:nvSpPr>
        <p:spPr>
          <a:xfrm>
            <a:off x="1193800" y="3886200"/>
            <a:ext cx="558800" cy="330200"/>
          </a:xfrm>
          <a:prstGeom prst="roundRect">
            <a:avLst/>
          </a:prstGeom>
          <a:solidFill>
            <a:srgbClr val="4A76D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altLang="zh-CN" sz="1000" b="1">
                <a:solidFill>
                  <a:srgbClr val="FFFFFF"/>
                </a:solidFill>
                <a:latin typeface="Microsoft YaHei"/>
                <a:ea typeface="Microsoft YaHei"/>
              </a:rPr>
              <a:t>OBS</a:t>
            </a:r>
            <a:endParaRPr lang="zh-CN" altLang="en-US" sz="1000" b="1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EB917C0C-E84F-47C1-A464-9BB76E40374E}"/>
              </a:ext>
            </a:extLst>
          </p:cNvPr>
          <p:cNvSpPr txBox="1"/>
          <p:nvPr/>
        </p:nvSpPr>
        <p:spPr>
          <a:xfrm>
            <a:off x="1879600" y="3898900"/>
            <a:ext cx="21082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zh-CN" altLang="en-US" sz="1320" b="1">
                <a:solidFill>
                  <a:srgbClr val="123B67"/>
                </a:solidFill>
                <a:latin typeface="Microsoft YaHei"/>
                <a:ea typeface="Microsoft YaHei"/>
              </a:rPr>
              <a:t>观测面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5EE3EF6E-1F80-4EA9-BE20-FC3B008892A6}"/>
              </a:ext>
            </a:extLst>
          </p:cNvPr>
          <p:cNvSpPr txBox="1"/>
          <p:nvPr/>
        </p:nvSpPr>
        <p:spPr>
          <a:xfrm>
            <a:off x="1244600" y="4318000"/>
            <a:ext cx="2768600" cy="6604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altLang="zh-CN" sz="1020">
                <a:solidFill>
                  <a:srgbClr val="5F6B7A"/>
                </a:solidFill>
                <a:latin typeface="Microsoft YaHei"/>
                <a:ea typeface="Microsoft YaHei"/>
              </a:rPr>
              <a:t>perf_diag</a:t>
            </a:r>
            <a:r>
              <a:rPr lang="zh-CN" altLang="en-US" sz="1020">
                <a:solidFill>
                  <a:srgbClr val="5F6B7A"/>
                </a:solidFill>
                <a:latin typeface="Microsoft YaHei"/>
                <a:ea typeface="Microsoft YaHei"/>
              </a:rPr>
              <a:t>：</a:t>
            </a:r>
            <a:r>
              <a:rPr lang="en-US" altLang="zh-CN" sz="1020">
                <a:solidFill>
                  <a:srgbClr val="5F6B7A"/>
                </a:solidFill>
                <a:latin typeface="Microsoft YaHei"/>
                <a:ea typeface="Microsoft YaHei"/>
              </a:rPr>
              <a:t>heap / syscall / ctxsw</a:t>
            </a:r>
            <a:r>
              <a:rPr lang="zh-CN" altLang="en-US" sz="1020">
                <a:solidFill>
                  <a:srgbClr val="5F6B7A"/>
                </a:solidFill>
                <a:latin typeface="Microsoft YaHei"/>
                <a:ea typeface="Microsoft YaHei"/>
              </a:rPr>
              <a:t>；</a:t>
            </a:r>
            <a:r>
              <a:rPr lang="en-US" altLang="zh-CN" sz="1020">
                <a:solidFill>
                  <a:srgbClr val="5F6B7A"/>
                </a:solidFill>
                <a:latin typeface="Microsoft YaHei"/>
                <a:ea typeface="Microsoft YaHei"/>
              </a:rPr>
              <a:t>/sys/kernel/stats </a:t>
            </a:r>
            <a:r>
              <a:rPr lang="zh-CN" altLang="en-US" sz="1020">
                <a:solidFill>
                  <a:srgbClr val="5F6B7A"/>
                </a:solidFill>
                <a:latin typeface="Microsoft YaHei"/>
                <a:ea typeface="Microsoft YaHei"/>
              </a:rPr>
              <a:t>暴露 </a:t>
            </a:r>
            <a:r>
              <a:rPr lang="en-US" altLang="zh-CN" sz="1020">
                <a:solidFill>
                  <a:srgbClr val="5F6B7A"/>
                </a:solidFill>
                <a:latin typeface="Microsoft YaHei"/>
                <a:ea typeface="Microsoft YaHei"/>
              </a:rPr>
              <a:t>Atomic counter</a:t>
            </a:r>
            <a:r>
              <a:rPr lang="zh-CN" altLang="en-US" sz="1020">
                <a:solidFill>
                  <a:srgbClr val="5F6B7A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6856493D-6AF8-4366-81DA-8D534390B3FF}"/>
              </a:ext>
            </a:extLst>
          </p:cNvPr>
          <p:cNvSpPr/>
          <p:nvPr/>
        </p:nvSpPr>
        <p:spPr>
          <a:xfrm>
            <a:off x="4521200" y="3708400"/>
            <a:ext cx="3149600" cy="13970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9E3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65DDA5D-F7E1-4BAC-AB94-AC7DEF98D6AF}"/>
              </a:ext>
            </a:extLst>
          </p:cNvPr>
          <p:cNvSpPr/>
          <p:nvPr/>
        </p:nvSpPr>
        <p:spPr>
          <a:xfrm>
            <a:off x="4521200" y="3708400"/>
            <a:ext cx="63500" cy="1397000"/>
          </a:xfrm>
          <a:prstGeom prst="rect">
            <a:avLst/>
          </a:prstGeom>
          <a:solidFill>
            <a:srgbClr val="F1993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745FADDC-7115-47E5-B48C-893953B5696A}"/>
              </a:ext>
            </a:extLst>
          </p:cNvPr>
          <p:cNvSpPr/>
          <p:nvPr/>
        </p:nvSpPr>
        <p:spPr>
          <a:xfrm>
            <a:off x="4699000" y="3886200"/>
            <a:ext cx="558800" cy="330200"/>
          </a:xfrm>
          <a:prstGeom prst="roundRect">
            <a:avLst/>
          </a:prstGeom>
          <a:solidFill>
            <a:srgbClr val="F1993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altLang="zh-CN" sz="1000" b="1">
                <a:solidFill>
                  <a:srgbClr val="FFFFFF"/>
                </a:solidFill>
                <a:latin typeface="Microsoft YaHei"/>
                <a:ea typeface="Microsoft YaHei"/>
              </a:rPr>
              <a:t>FIX</a:t>
            </a:r>
            <a:endParaRPr lang="zh-CN" altLang="en-US" sz="1000" b="1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2999F02C-8D14-4E0C-8B54-507FF220E112}"/>
              </a:ext>
            </a:extLst>
          </p:cNvPr>
          <p:cNvSpPr txBox="1"/>
          <p:nvPr/>
        </p:nvSpPr>
        <p:spPr>
          <a:xfrm>
            <a:off x="5384800" y="3898900"/>
            <a:ext cx="21082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zh-CN" altLang="en-US" sz="1320" b="1">
                <a:solidFill>
                  <a:srgbClr val="123B67"/>
                </a:solidFill>
                <a:latin typeface="Microsoft YaHei"/>
                <a:ea typeface="Microsoft YaHei"/>
              </a:rPr>
              <a:t>修复面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B169649C-CCC1-4599-AF5A-CA09C08E480B}"/>
              </a:ext>
            </a:extLst>
          </p:cNvPr>
          <p:cNvSpPr txBox="1"/>
          <p:nvPr/>
        </p:nvSpPr>
        <p:spPr>
          <a:xfrm>
            <a:off x="4749800" y="4318000"/>
            <a:ext cx="2768600" cy="6604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altLang="zh-CN" sz="1020">
                <a:solidFill>
                  <a:srgbClr val="5F6B7A"/>
                </a:solidFill>
                <a:latin typeface="Microsoft YaHei"/>
                <a:ea typeface="Microsoft YaHei"/>
              </a:rPr>
              <a:t>dealloc merge </a:t>
            </a:r>
            <a:r>
              <a:rPr lang="zh-CN" altLang="en-US" sz="1020">
                <a:solidFill>
                  <a:srgbClr val="5F6B7A"/>
                </a:solidFill>
                <a:latin typeface="Microsoft YaHei"/>
                <a:ea typeface="Microsoft YaHei"/>
              </a:rPr>
              <a:t>前加 </a:t>
            </a:r>
            <a:r>
              <a:rPr lang="en-US" altLang="zh-CN" sz="1020">
                <a:solidFill>
                  <a:srgbClr val="5F6B7A"/>
                </a:solidFill>
                <a:latin typeface="Microsoft YaHei"/>
                <a:ea typeface="Microsoft YaHei"/>
              </a:rPr>
              <a:t>O(1) bitmap guard</a:t>
            </a:r>
            <a:r>
              <a:rPr lang="zh-CN" altLang="en-US" sz="1020">
                <a:solidFill>
                  <a:srgbClr val="5F6B7A"/>
                </a:solidFill>
                <a:latin typeface="Microsoft YaHei"/>
                <a:ea typeface="Microsoft YaHei"/>
              </a:rPr>
              <a:t>；只在 </a:t>
            </a:r>
            <a:r>
              <a:rPr lang="en-US" altLang="zh-CN" sz="1020">
                <a:solidFill>
                  <a:srgbClr val="5F6B7A"/>
                </a:solidFill>
                <a:latin typeface="Microsoft YaHei"/>
                <a:ea typeface="Microsoft YaHei"/>
              </a:rPr>
              <a:t>buddy </a:t>
            </a:r>
            <a:r>
              <a:rPr lang="zh-CN" altLang="en-US" sz="1020">
                <a:solidFill>
                  <a:srgbClr val="5F6B7A"/>
                </a:solidFill>
                <a:latin typeface="Microsoft YaHei"/>
                <a:ea typeface="Microsoft YaHei"/>
              </a:rPr>
              <a:t>可能空闲时保留线性扫描。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7AADE94D-3E98-4F18-BC6D-316CB378EFAD}"/>
              </a:ext>
            </a:extLst>
          </p:cNvPr>
          <p:cNvSpPr/>
          <p:nvPr/>
        </p:nvSpPr>
        <p:spPr>
          <a:xfrm>
            <a:off x="8026400" y="3708400"/>
            <a:ext cx="3149600" cy="13970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9E3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E28E5750-DD65-4EA9-AFD8-0F842E82E2B7}"/>
              </a:ext>
            </a:extLst>
          </p:cNvPr>
          <p:cNvSpPr/>
          <p:nvPr/>
        </p:nvSpPr>
        <p:spPr>
          <a:xfrm>
            <a:off x="8026400" y="3708400"/>
            <a:ext cx="63500" cy="1397000"/>
          </a:xfrm>
          <a:prstGeom prst="rect">
            <a:avLst/>
          </a:prstGeom>
          <a:solidFill>
            <a:srgbClr val="31A16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3485957E-0F27-4BC6-9D9E-4F893653BD2F}"/>
              </a:ext>
            </a:extLst>
          </p:cNvPr>
          <p:cNvSpPr/>
          <p:nvPr/>
        </p:nvSpPr>
        <p:spPr>
          <a:xfrm>
            <a:off x="8204200" y="3886200"/>
            <a:ext cx="558800" cy="330200"/>
          </a:xfrm>
          <a:prstGeom prst="roundRect">
            <a:avLst/>
          </a:prstGeom>
          <a:solidFill>
            <a:srgbClr val="31A16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altLang="zh-CN" sz="1000" b="1">
                <a:solidFill>
                  <a:srgbClr val="FFFFFF"/>
                </a:solidFill>
                <a:latin typeface="Microsoft YaHei"/>
                <a:ea typeface="Microsoft YaHei"/>
              </a:rPr>
              <a:t>RCA</a:t>
            </a:r>
            <a:endParaRPr lang="zh-CN" altLang="en-US" sz="1000" b="1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4454B5D1-E9DA-4B17-8BC1-4E0188871A74}"/>
              </a:ext>
            </a:extLst>
          </p:cNvPr>
          <p:cNvSpPr txBox="1"/>
          <p:nvPr/>
        </p:nvSpPr>
        <p:spPr>
          <a:xfrm>
            <a:off x="8890000" y="3898900"/>
            <a:ext cx="21082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zh-CN" altLang="en-US" sz="1320" b="1">
                <a:solidFill>
                  <a:srgbClr val="123B67"/>
                </a:solidFill>
                <a:latin typeface="Microsoft YaHei"/>
                <a:ea typeface="Microsoft YaHei"/>
              </a:rPr>
              <a:t>复用经验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0CA51672-59AF-4247-9698-FEFA4DAE8CBE}"/>
              </a:ext>
            </a:extLst>
          </p:cNvPr>
          <p:cNvSpPr txBox="1"/>
          <p:nvPr/>
        </p:nvSpPr>
        <p:spPr>
          <a:xfrm>
            <a:off x="8255000" y="4318000"/>
            <a:ext cx="2768600" cy="6604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zh-CN" altLang="en-US" sz="1020">
                <a:solidFill>
                  <a:srgbClr val="5F6B7A"/>
                </a:solidFill>
                <a:latin typeface="Microsoft YaHei"/>
                <a:ea typeface="Microsoft YaHei"/>
              </a:rPr>
              <a:t>漂移窗口 </a:t>
            </a:r>
            <a:r>
              <a:rPr lang="en-US" altLang="zh-CN" sz="1020">
                <a:solidFill>
                  <a:srgbClr val="5F6B7A"/>
                </a:solidFill>
                <a:latin typeface="Microsoft YaHei"/>
                <a:ea typeface="Microsoft YaHei"/>
              </a:rPr>
              <a:t>+ null syscall </a:t>
            </a:r>
            <a:r>
              <a:rPr lang="zh-CN" altLang="en-US" sz="1020">
                <a:solidFill>
                  <a:srgbClr val="5F6B7A"/>
                </a:solidFill>
                <a:latin typeface="Microsoft YaHei"/>
                <a:ea typeface="Microsoft YaHei"/>
              </a:rPr>
              <a:t>隔离；报告沉淀为后续性能诊断方法论。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3ED3B226-590E-4197-8181-674F55C27BF0}"/>
              </a:ext>
            </a:extLst>
          </p:cNvPr>
          <p:cNvSpPr txBox="1"/>
          <p:nvPr/>
        </p:nvSpPr>
        <p:spPr>
          <a:xfrm>
            <a:off x="1498600" y="5562600"/>
            <a:ext cx="91948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zh-CN" altLang="en-US" sz="1200" b="1">
                <a:solidFill>
                  <a:srgbClr val="0B2F55"/>
                </a:solidFill>
                <a:latin typeface="Microsoft YaHei"/>
                <a:ea typeface="Microsoft YaHei"/>
              </a:rPr>
              <a:t>结论：先把“变慢”变成指标，再用最小修复验证假设。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78833A3A-458D-47E8-830F-226C1DF3D064}"/>
              </a:ext>
            </a:extLst>
          </p:cNvPr>
          <p:cNvSpPr txBox="1"/>
          <p:nvPr/>
        </p:nvSpPr>
        <p:spPr>
          <a:xfrm>
            <a:off x="482600" y="6502400"/>
            <a:ext cx="10922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fontScale="92500" lnSpcReduction="20000"/>
          </a:bodyPr>
          <a:lstStyle/>
          <a:p>
            <a:pPr algn="l"/>
            <a:r>
              <a:rPr lang="zh-CN" altLang="en-US" sz="750">
                <a:solidFill>
                  <a:srgbClr val="8A96A8"/>
                </a:solidFill>
                <a:latin typeface="Microsoft YaHei"/>
                <a:ea typeface="Microsoft YaHei"/>
              </a:rPr>
              <a:t>依据：</a:t>
            </a:r>
            <a:r>
              <a:rPr lang="en-US" altLang="zh-CN" sz="750">
                <a:solidFill>
                  <a:srgbClr val="8A96A8"/>
                </a:solidFill>
                <a:latin typeface="Microsoft YaHei"/>
                <a:ea typeface="Microsoft YaHei"/>
              </a:rPr>
              <a:t>Engineering-Casebook Memory QA</a:t>
            </a:r>
            <a:r>
              <a:rPr lang="zh-CN" altLang="en-US" sz="750">
                <a:solidFill>
                  <a:srgbClr val="8A96A8"/>
                </a:solidFill>
                <a:latin typeface="Microsoft YaHei"/>
                <a:ea typeface="Microsoft YaHei"/>
              </a:rPr>
              <a:t>、</a:t>
            </a:r>
            <a:r>
              <a:rPr lang="en-US" altLang="zh-CN" sz="750">
                <a:solidFill>
                  <a:srgbClr val="8A96A8"/>
                </a:solidFill>
                <a:latin typeface="Microsoft YaHei"/>
                <a:ea typeface="Microsoft YaHei"/>
              </a:rPr>
              <a:t>PDF </a:t>
            </a:r>
            <a:r>
              <a:rPr lang="zh-CN" altLang="en-US" sz="750">
                <a:solidFill>
                  <a:srgbClr val="8A96A8"/>
                </a:solidFill>
                <a:latin typeface="Microsoft YaHei"/>
                <a:ea typeface="Microsoft YaHei"/>
              </a:rPr>
              <a:t>第 </a:t>
            </a:r>
            <a:r>
              <a:rPr lang="en-US" altLang="zh-CN" sz="750">
                <a:solidFill>
                  <a:srgbClr val="8A96A8"/>
                </a:solidFill>
                <a:latin typeface="Microsoft YaHei"/>
                <a:ea typeface="Microsoft YaHei"/>
              </a:rPr>
              <a:t>16 </a:t>
            </a:r>
            <a:r>
              <a:rPr lang="zh-CN" altLang="en-US" sz="750">
                <a:solidFill>
                  <a:srgbClr val="8A96A8"/>
                </a:solidFill>
                <a:latin typeface="Microsoft YaHei"/>
                <a:ea typeface="Microsoft YaHei"/>
              </a:rPr>
              <a:t>页、</a:t>
            </a:r>
            <a:r>
              <a:rPr lang="en-US" altLang="zh-CN" sz="750">
                <a:solidFill>
                  <a:srgbClr val="8A96A8"/>
                </a:solidFill>
                <a:latin typeface="Microsoft YaHei"/>
                <a:ea typeface="Microsoft YaHei"/>
              </a:rPr>
              <a:t>perf_diag / heap </a:t>
            </a:r>
            <a:r>
              <a:rPr lang="zh-CN" altLang="en-US" sz="750">
                <a:solidFill>
                  <a:srgbClr val="8A96A8"/>
                </a:solidFill>
                <a:latin typeface="Microsoft YaHei"/>
                <a:ea typeface="Microsoft YaHei"/>
              </a:rPr>
              <a:t>诊断路径；此处是内核堆 </a:t>
            </a:r>
            <a:r>
              <a:rPr lang="en-US" altLang="zh-CN" sz="750">
                <a:solidFill>
                  <a:srgbClr val="8A96A8"/>
                </a:solidFill>
                <a:latin typeface="Microsoft YaHei"/>
                <a:ea typeface="Microsoft YaHei"/>
              </a:rPr>
              <a:t>Buddy</a:t>
            </a:r>
            <a:r>
              <a:rPr lang="zh-CN" altLang="en-US" sz="750">
                <a:solidFill>
                  <a:srgbClr val="8A96A8"/>
                </a:solidFill>
                <a:latin typeface="Microsoft YaHei"/>
                <a:ea typeface="Microsoft YaHei"/>
              </a:rPr>
              <a:t>，不是物理页帧分配器。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667D3579-0193-4180-BD1B-ABF6706F91AA}"/>
              </a:ext>
            </a:extLst>
          </p:cNvPr>
          <p:cNvSpPr/>
          <p:nvPr/>
        </p:nvSpPr>
        <p:spPr>
          <a:xfrm>
            <a:off x="254000" y="304800"/>
            <a:ext cx="101600" cy="482600"/>
          </a:xfrm>
          <a:prstGeom prst="rect">
            <a:avLst/>
          </a:prstGeom>
          <a:solidFill>
            <a:srgbClr val="3F70B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BE4184DA-56CB-4ED0-AC9D-5E4EDD35E43B}"/>
              </a:ext>
            </a:extLst>
          </p:cNvPr>
          <p:cNvSpPr/>
          <p:nvPr/>
        </p:nvSpPr>
        <p:spPr>
          <a:xfrm>
            <a:off x="254000" y="838200"/>
            <a:ext cx="11684000" cy="19050"/>
          </a:xfrm>
          <a:prstGeom prst="rect">
            <a:avLst/>
          </a:prstGeom>
          <a:solidFill>
            <a:srgbClr val="3F70B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F52E3511-C3C3-430D-A9E9-117C98418D81}"/>
              </a:ext>
            </a:extLst>
          </p:cNvPr>
          <p:cNvSpPr txBox="1"/>
          <p:nvPr/>
        </p:nvSpPr>
        <p:spPr>
          <a:xfrm>
            <a:off x="736600" y="228600"/>
            <a:ext cx="81280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2000" b="1">
                <a:solidFill>
                  <a:srgbClr val="3F70B7"/>
                </a:solidFill>
                <a:latin typeface="Microsoft YaHei"/>
                <a:ea typeface="Microsoft YaHei"/>
              </a:rPr>
              <a:t>性能诊断：用指标定位 </a:t>
            </a:r>
            <a:r>
              <a:rPr lang="en-US" altLang="zh-CN" sz="2000" b="1">
                <a:solidFill>
                  <a:srgbClr val="3F70B7"/>
                </a:solidFill>
                <a:latin typeface="Microsoft YaHei"/>
                <a:ea typeface="Microsoft YaHei"/>
              </a:rPr>
              <a:t>lmbench </a:t>
            </a:r>
            <a:r>
              <a:rPr lang="zh-CN" altLang="en-US" sz="2000" b="1">
                <a:solidFill>
                  <a:srgbClr val="3F70B7"/>
                </a:solidFill>
                <a:latin typeface="Microsoft YaHei"/>
                <a:ea typeface="Microsoft YaHei"/>
              </a:rPr>
              <a:t>漂移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8F24A3AE-6678-4427-B60A-E73C05DD3CB7}"/>
              </a:ext>
            </a:extLst>
          </p:cNvPr>
          <p:cNvSpPr/>
          <p:nvPr/>
        </p:nvSpPr>
        <p:spPr>
          <a:xfrm>
            <a:off x="0" y="0"/>
            <a:ext cx="8953500" cy="990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DF4F94F6-E87A-4A6B-8043-E294EEA30FD0}"/>
              </a:ext>
            </a:extLst>
          </p:cNvPr>
          <p:cNvSpPr/>
          <p:nvPr/>
        </p:nvSpPr>
        <p:spPr>
          <a:xfrm>
            <a:off x="254000" y="330200"/>
            <a:ext cx="88900" cy="431800"/>
          </a:xfrm>
          <a:prstGeom prst="rect">
            <a:avLst/>
          </a:prstGeom>
          <a:solidFill>
            <a:srgbClr val="3F70B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44C38182-3F98-4172-8FC4-9E211F0AB1BC}"/>
              </a:ext>
            </a:extLst>
          </p:cNvPr>
          <p:cNvSpPr/>
          <p:nvPr/>
        </p:nvSpPr>
        <p:spPr>
          <a:xfrm>
            <a:off x="254000" y="838200"/>
            <a:ext cx="8763000" cy="17780"/>
          </a:xfrm>
          <a:prstGeom prst="rect">
            <a:avLst/>
          </a:prstGeom>
          <a:solidFill>
            <a:srgbClr val="3F70B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A8DBE417-CBB9-4DB2-A586-0D33945DC771}"/>
              </a:ext>
            </a:extLst>
          </p:cNvPr>
          <p:cNvSpPr txBox="1"/>
          <p:nvPr/>
        </p:nvSpPr>
        <p:spPr>
          <a:xfrm>
            <a:off x="711200" y="279400"/>
            <a:ext cx="8064500" cy="3556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spAutoFit/>
          </a:bodyPr>
          <a:lstStyle/>
          <a:p>
            <a:pPr algn="l"/>
            <a:r>
              <a:rPr lang="zh-CN" altLang="en-US" b="1">
                <a:solidFill>
                  <a:srgbClr val="3F70B7"/>
                </a:solidFill>
                <a:latin typeface="Microsoft YaHei UI"/>
                <a:ea typeface="Microsoft YaHei UI"/>
              </a:rPr>
              <a:t>性能诊断：用指标定位 </a:t>
            </a:r>
            <a:r>
              <a:rPr lang="en-US" altLang="zh-CN" b="1">
                <a:solidFill>
                  <a:srgbClr val="3F70B7"/>
                </a:solidFill>
                <a:latin typeface="Microsoft YaHei UI"/>
                <a:ea typeface="Microsoft YaHei UI"/>
              </a:rPr>
              <a:t>lmbench </a:t>
            </a:r>
            <a:r>
              <a:rPr lang="zh-CN" altLang="en-US" b="1">
                <a:solidFill>
                  <a:srgbClr val="3F70B7"/>
                </a:solidFill>
                <a:latin typeface="Microsoft YaHei UI"/>
                <a:ea typeface="Microsoft YaHei UI"/>
              </a:rPr>
              <a:t>漂移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649216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001"/>
          <p:cNvPicPr>
            <a:picLocks noChangeAspect="1"/>
          </p:cNvPicPr>
          <p:nvPr/>
        </p:nvPicPr>
        <p:blipFill>
          <a:blip r:embed="rId3"/>
          <a:srcRect l="5389" t="37981" r="4352" b="38194"/>
          <a:stretch>
            <a:fillRect/>
          </a:stretch>
        </p:blipFill>
        <p:spPr>
          <a:xfrm>
            <a:off x="9106535" y="123825"/>
            <a:ext cx="2757805" cy="728345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338595C7-F30E-4E48-A771-D6FA792E5D09}"/>
              </a:ext>
            </a:extLst>
          </p:cNvPr>
          <p:cNvSpPr/>
          <p:nvPr/>
        </p:nvSpPr>
        <p:spPr>
          <a:xfrm>
            <a:off x="914400" y="1778000"/>
            <a:ext cx="2921000" cy="11176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9E3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0525DEC-1888-449F-9ED1-CAA6F753B042}"/>
              </a:ext>
            </a:extLst>
          </p:cNvPr>
          <p:cNvSpPr/>
          <p:nvPr/>
        </p:nvSpPr>
        <p:spPr>
          <a:xfrm>
            <a:off x="914400" y="1778000"/>
            <a:ext cx="63500" cy="1117600"/>
          </a:xfrm>
          <a:prstGeom prst="rect">
            <a:avLst/>
          </a:prstGeom>
          <a:solidFill>
            <a:srgbClr val="4A76D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2980A20-9B04-45C3-8172-51EFA311C56C}"/>
              </a:ext>
            </a:extLst>
          </p:cNvPr>
          <p:cNvSpPr txBox="1"/>
          <p:nvPr/>
        </p:nvSpPr>
        <p:spPr>
          <a:xfrm>
            <a:off x="1143000" y="1968500"/>
            <a:ext cx="24638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fontScale="62500" lnSpcReduction="20000"/>
          </a:bodyPr>
          <a:lstStyle/>
          <a:p>
            <a:pPr algn="l"/>
            <a:r>
              <a:rPr lang="en-US" altLang="zh-CN" sz="1320" b="1">
                <a:solidFill>
                  <a:srgbClr val="123B67"/>
                </a:solidFill>
                <a:latin typeface="Microsoft YaHei"/>
                <a:ea typeface="Microsoft YaHei"/>
              </a:rPr>
              <a:t>Phase 0
</a:t>
            </a:r>
            <a:r>
              <a:rPr lang="zh-CN" altLang="en-US" sz="1320" b="1">
                <a:solidFill>
                  <a:srgbClr val="123B67"/>
                </a:solidFill>
                <a:latin typeface="Microsoft YaHei"/>
                <a:ea typeface="Microsoft YaHei"/>
              </a:rPr>
              <a:t>建基线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668CAFC-F730-41CD-9638-2A5EA59FED08}"/>
              </a:ext>
            </a:extLst>
          </p:cNvPr>
          <p:cNvSpPr txBox="1"/>
          <p:nvPr/>
        </p:nvSpPr>
        <p:spPr>
          <a:xfrm>
            <a:off x="1143000" y="2387600"/>
            <a:ext cx="254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zh-CN" altLang="en-US" sz="1020">
                <a:solidFill>
                  <a:srgbClr val="5F6B7A"/>
                </a:solidFill>
                <a:latin typeface="Microsoft YaHei"/>
                <a:ea typeface="Microsoft YaHei"/>
              </a:rPr>
              <a:t>列测例、分组，建状态表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BD5D3C9-99AA-4BBF-8B20-9F865F539BA2}"/>
              </a:ext>
            </a:extLst>
          </p:cNvPr>
          <p:cNvSpPr/>
          <p:nvPr/>
        </p:nvSpPr>
        <p:spPr>
          <a:xfrm>
            <a:off x="3937000" y="2298700"/>
            <a:ext cx="431800" cy="50800"/>
          </a:xfrm>
          <a:prstGeom prst="rect">
            <a:avLst/>
          </a:prstGeom>
          <a:solidFill>
            <a:srgbClr val="AABCE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812AB9C-D08D-4F20-ABC5-3426030550BC}"/>
              </a:ext>
            </a:extLst>
          </p:cNvPr>
          <p:cNvSpPr/>
          <p:nvPr/>
        </p:nvSpPr>
        <p:spPr>
          <a:xfrm>
            <a:off x="4546600" y="1778000"/>
            <a:ext cx="2921000" cy="11176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9E3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B80D638-BC19-4DCE-AAF1-9B0271E67165}"/>
              </a:ext>
            </a:extLst>
          </p:cNvPr>
          <p:cNvSpPr/>
          <p:nvPr/>
        </p:nvSpPr>
        <p:spPr>
          <a:xfrm>
            <a:off x="4546600" y="1778000"/>
            <a:ext cx="63500" cy="1117600"/>
          </a:xfrm>
          <a:prstGeom prst="rect">
            <a:avLst/>
          </a:prstGeom>
          <a:solidFill>
            <a:srgbClr val="F1993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DC71B5E-C9ED-4AC5-BA60-219DFB9EF510}"/>
              </a:ext>
            </a:extLst>
          </p:cNvPr>
          <p:cNvSpPr txBox="1"/>
          <p:nvPr/>
        </p:nvSpPr>
        <p:spPr>
          <a:xfrm>
            <a:off x="4775200" y="1968500"/>
            <a:ext cx="24638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fontScale="62500" lnSpcReduction="20000"/>
          </a:bodyPr>
          <a:lstStyle/>
          <a:p>
            <a:pPr algn="l"/>
            <a:r>
              <a:rPr lang="en-US" altLang="zh-CN" sz="1320" b="1">
                <a:solidFill>
                  <a:srgbClr val="123B67"/>
                </a:solidFill>
                <a:latin typeface="Microsoft YaHei"/>
                <a:ea typeface="Microsoft YaHei"/>
              </a:rPr>
              <a:t>Phase 1
</a:t>
            </a:r>
            <a:r>
              <a:rPr lang="zh-CN" altLang="en-US" sz="1320" b="1">
                <a:solidFill>
                  <a:srgbClr val="123B67"/>
                </a:solidFill>
                <a:latin typeface="Microsoft YaHei"/>
                <a:ea typeface="Microsoft YaHei"/>
              </a:rPr>
              <a:t>发现 </a:t>
            </a:r>
            <a:r>
              <a:rPr lang="en-US" altLang="zh-CN" sz="1320" b="1">
                <a:solidFill>
                  <a:srgbClr val="123B67"/>
                </a:solidFill>
                <a:latin typeface="Microsoft YaHei"/>
                <a:ea typeface="Microsoft YaHei"/>
              </a:rPr>
              <a:t>+ </a:t>
            </a:r>
            <a:r>
              <a:rPr lang="zh-CN" altLang="en-US" sz="1320" b="1">
                <a:solidFill>
                  <a:srgbClr val="123B67"/>
                </a:solidFill>
                <a:latin typeface="Microsoft YaHei"/>
                <a:ea typeface="Microsoft YaHei"/>
              </a:rPr>
              <a:t>修复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0A545D2-795E-426C-A977-8C9BC2BAC28A}"/>
              </a:ext>
            </a:extLst>
          </p:cNvPr>
          <p:cNvSpPr txBox="1"/>
          <p:nvPr/>
        </p:nvSpPr>
        <p:spPr>
          <a:xfrm>
            <a:off x="4775200" y="2387600"/>
            <a:ext cx="254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zh-CN" altLang="en-US" sz="1020">
                <a:solidFill>
                  <a:srgbClr val="5F6B7A"/>
                </a:solidFill>
                <a:latin typeface="Microsoft YaHei"/>
                <a:ea typeface="Microsoft YaHei"/>
              </a:rPr>
              <a:t>按 </a:t>
            </a:r>
            <a:r>
              <a:rPr lang="en-US" altLang="zh-CN" sz="1020">
                <a:solidFill>
                  <a:srgbClr val="5F6B7A"/>
                </a:solidFill>
                <a:latin typeface="Microsoft YaHei"/>
                <a:ea typeface="Microsoft YaHei"/>
              </a:rPr>
              <a:t>family </a:t>
            </a:r>
            <a:r>
              <a:rPr lang="zh-CN" altLang="en-US" sz="1020">
                <a:solidFill>
                  <a:srgbClr val="5F6B7A"/>
                </a:solidFill>
                <a:latin typeface="Microsoft YaHei"/>
                <a:ea typeface="Microsoft YaHei"/>
              </a:rPr>
              <a:t>跑，记录 </a:t>
            </a:r>
            <a:r>
              <a:rPr lang="en-US" altLang="zh-CN" sz="1020">
                <a:solidFill>
                  <a:srgbClr val="5F6B7A"/>
                </a:solidFill>
                <a:latin typeface="Microsoft YaHei"/>
                <a:ea typeface="Microsoft YaHei"/>
              </a:rPr>
              <a:t>TFAIL/TBROK</a:t>
            </a:r>
            <a:endParaRPr lang="zh-CN" altLang="en-US" sz="1020">
              <a:solidFill>
                <a:srgbClr val="5F6B7A"/>
              </a:solidFill>
              <a:latin typeface="Microsoft YaHei"/>
              <a:ea typeface="Microsoft YaHei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C412EF0-3CE6-4157-95CA-C2449E66E883}"/>
              </a:ext>
            </a:extLst>
          </p:cNvPr>
          <p:cNvSpPr/>
          <p:nvPr/>
        </p:nvSpPr>
        <p:spPr>
          <a:xfrm>
            <a:off x="7569200" y="2298700"/>
            <a:ext cx="431800" cy="50800"/>
          </a:xfrm>
          <a:prstGeom prst="rect">
            <a:avLst/>
          </a:prstGeom>
          <a:solidFill>
            <a:srgbClr val="AABCE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9680D10-97CA-4368-BDA0-155513CC27C6}"/>
              </a:ext>
            </a:extLst>
          </p:cNvPr>
          <p:cNvSpPr/>
          <p:nvPr/>
        </p:nvSpPr>
        <p:spPr>
          <a:xfrm>
            <a:off x="8178800" y="1778000"/>
            <a:ext cx="2921000" cy="11176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9E3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D04C694-BB8A-4AD7-9B6E-FBB54E369837}"/>
              </a:ext>
            </a:extLst>
          </p:cNvPr>
          <p:cNvSpPr/>
          <p:nvPr/>
        </p:nvSpPr>
        <p:spPr>
          <a:xfrm>
            <a:off x="8178800" y="1778000"/>
            <a:ext cx="63500" cy="1117600"/>
          </a:xfrm>
          <a:prstGeom prst="rect">
            <a:avLst/>
          </a:prstGeom>
          <a:solidFill>
            <a:srgbClr val="31A16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192B78A7-4558-4428-B7E7-2D1D6CCF8D60}"/>
              </a:ext>
            </a:extLst>
          </p:cNvPr>
          <p:cNvSpPr txBox="1"/>
          <p:nvPr/>
        </p:nvSpPr>
        <p:spPr>
          <a:xfrm>
            <a:off x="8407400" y="1968500"/>
            <a:ext cx="24638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fontScale="62500" lnSpcReduction="20000"/>
          </a:bodyPr>
          <a:lstStyle/>
          <a:p>
            <a:pPr algn="l"/>
            <a:r>
              <a:rPr lang="en-US" altLang="zh-CN" sz="1320" b="1">
                <a:solidFill>
                  <a:srgbClr val="123B67"/>
                </a:solidFill>
                <a:latin typeface="Microsoft YaHei"/>
                <a:ea typeface="Microsoft YaHei"/>
              </a:rPr>
              <a:t>Phase 2
</a:t>
            </a:r>
            <a:r>
              <a:rPr lang="zh-CN" altLang="en-US" sz="1320" b="1">
                <a:solidFill>
                  <a:srgbClr val="123B67"/>
                </a:solidFill>
                <a:latin typeface="Microsoft YaHei"/>
                <a:ea typeface="Microsoft YaHei"/>
              </a:rPr>
              <a:t>稳定回归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A810E63-8884-425B-8682-CFE7DF319EB5}"/>
              </a:ext>
            </a:extLst>
          </p:cNvPr>
          <p:cNvSpPr txBox="1"/>
          <p:nvPr/>
        </p:nvSpPr>
        <p:spPr>
          <a:xfrm>
            <a:off x="8407400" y="2387600"/>
            <a:ext cx="254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altLang="zh-CN" sz="1020">
                <a:solidFill>
                  <a:srgbClr val="5F6B7A"/>
                </a:solidFill>
                <a:latin typeface="Microsoft YaHei"/>
                <a:ea typeface="Microsoft YaHei"/>
              </a:rPr>
              <a:t>mask=0xFFF</a:t>
            </a:r>
            <a:r>
              <a:rPr lang="zh-CN" altLang="en-US" sz="1020">
                <a:solidFill>
                  <a:srgbClr val="5F6B7A"/>
                </a:solidFill>
                <a:latin typeface="Microsoft YaHei"/>
                <a:ea typeface="Microsoft YaHei"/>
              </a:rPr>
              <a:t>；</a:t>
            </a:r>
            <a:r>
              <a:rPr lang="en-US" altLang="zh-CN" sz="1020">
                <a:solidFill>
                  <a:srgbClr val="5F6B7A"/>
                </a:solidFill>
                <a:latin typeface="Microsoft YaHei"/>
                <a:ea typeface="Microsoft YaHei"/>
              </a:rPr>
              <a:t>libc=both</a:t>
            </a:r>
            <a:r>
              <a:rPr lang="zh-CN" altLang="en-US" sz="1020">
                <a:solidFill>
                  <a:srgbClr val="5F6B7A"/>
                </a:solidFill>
                <a:latin typeface="Microsoft YaHei"/>
                <a:ea typeface="Microsoft YaHei"/>
              </a:rPr>
              <a:t>；防回退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92BEEFF-5B2A-497F-ABDD-5D741048004E}"/>
              </a:ext>
            </a:extLst>
          </p:cNvPr>
          <p:cNvSpPr/>
          <p:nvPr/>
        </p:nvSpPr>
        <p:spPr>
          <a:xfrm>
            <a:off x="914400" y="3429000"/>
            <a:ext cx="10414000" cy="431800"/>
          </a:xfrm>
          <a:prstGeom prst="rect">
            <a:avLst/>
          </a:prstGeom>
          <a:solidFill>
            <a:srgbClr val="4A76D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43BA1CC-E7D1-4258-ADC9-D781480DC522}"/>
              </a:ext>
            </a:extLst>
          </p:cNvPr>
          <p:cNvSpPr txBox="1"/>
          <p:nvPr/>
        </p:nvSpPr>
        <p:spPr>
          <a:xfrm>
            <a:off x="1066800" y="3543300"/>
            <a:ext cx="1524000" cy="1905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fontScale="77500" lnSpcReduction="20000"/>
          </a:bodyPr>
          <a:lstStyle/>
          <a:p>
            <a:pPr algn="l"/>
            <a:r>
              <a:rPr lang="zh-CN" alt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类别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D11D984-49F1-4632-AA53-2FBADA44A829}"/>
              </a:ext>
            </a:extLst>
          </p:cNvPr>
          <p:cNvSpPr txBox="1"/>
          <p:nvPr/>
        </p:nvSpPr>
        <p:spPr>
          <a:xfrm>
            <a:off x="2844800" y="3543300"/>
            <a:ext cx="3810000" cy="1905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fontScale="77500" lnSpcReduction="20000"/>
          </a:bodyPr>
          <a:lstStyle/>
          <a:p>
            <a:pPr algn="l"/>
            <a:r>
              <a:rPr lang="zh-CN" alt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代表能力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B03C4F65-A43C-4071-8C5C-9B0F50CF177E}"/>
              </a:ext>
            </a:extLst>
          </p:cNvPr>
          <p:cNvSpPr txBox="1"/>
          <p:nvPr/>
        </p:nvSpPr>
        <p:spPr>
          <a:xfrm>
            <a:off x="6908800" y="3543300"/>
            <a:ext cx="4318000" cy="1905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fontScale="77500" lnSpcReduction="20000"/>
          </a:bodyPr>
          <a:lstStyle/>
          <a:p>
            <a:pPr algn="l"/>
            <a:r>
              <a:rPr lang="zh-CN" alt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测例</a:t>
            </a:r>
            <a:r>
              <a:rPr lang="en-US" alt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/</a:t>
            </a:r>
            <a:r>
              <a:rPr lang="zh-CN" alt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负载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0A5450E-4E1C-4268-B2ED-01ACF3EA444B}"/>
              </a:ext>
            </a:extLst>
          </p:cNvPr>
          <p:cNvSpPr/>
          <p:nvPr/>
        </p:nvSpPr>
        <p:spPr>
          <a:xfrm>
            <a:off x="914400" y="3860800"/>
            <a:ext cx="10414000" cy="457200"/>
          </a:xfrm>
          <a:prstGeom prst="rect">
            <a:avLst/>
          </a:prstGeom>
          <a:solidFill>
            <a:srgbClr val="F6F9FE"/>
          </a:solidFill>
          <a:ln w="9525" cap="flat" cmpd="sng" algn="ctr">
            <a:solidFill>
              <a:srgbClr val="D9E3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1846B9B8-0B3F-4D0C-8C6A-2B9BF43F87A7}"/>
              </a:ext>
            </a:extLst>
          </p:cNvPr>
          <p:cNvSpPr txBox="1"/>
          <p:nvPr/>
        </p:nvSpPr>
        <p:spPr>
          <a:xfrm>
            <a:off x="1041400" y="3987800"/>
            <a:ext cx="1524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fontScale="77500" lnSpcReduction="20000"/>
          </a:bodyPr>
          <a:lstStyle/>
          <a:p>
            <a:pPr algn="l"/>
            <a:r>
              <a:rPr lang="zh-CN" altLang="en-US" sz="950">
                <a:solidFill>
                  <a:srgbClr val="123B67"/>
                </a:solidFill>
                <a:latin typeface="Microsoft YaHei"/>
                <a:ea typeface="Microsoft YaHei"/>
              </a:rPr>
              <a:t>进程</a:t>
            </a:r>
            <a:r>
              <a:rPr lang="en-US" altLang="zh-CN" sz="950">
                <a:solidFill>
                  <a:srgbClr val="123B67"/>
                </a:solidFill>
                <a:latin typeface="Microsoft YaHei"/>
                <a:ea typeface="Microsoft YaHei"/>
              </a:rPr>
              <a:t>/</a:t>
            </a:r>
            <a:r>
              <a:rPr lang="zh-CN" altLang="en-US" sz="950">
                <a:solidFill>
                  <a:srgbClr val="123B67"/>
                </a:solidFill>
                <a:latin typeface="Microsoft YaHei"/>
                <a:ea typeface="Microsoft YaHei"/>
              </a:rPr>
              <a:t>线程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380EFB1-2257-4809-91BD-06DED6BFD57E}"/>
              </a:ext>
            </a:extLst>
          </p:cNvPr>
          <p:cNvSpPr txBox="1"/>
          <p:nvPr/>
        </p:nvSpPr>
        <p:spPr>
          <a:xfrm>
            <a:off x="2819400" y="3987800"/>
            <a:ext cx="3810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fontScale="77500" lnSpcReduction="20000"/>
          </a:bodyPr>
          <a:lstStyle/>
          <a:p>
            <a:pPr algn="l"/>
            <a:r>
              <a:rPr lang="en-US" altLang="zh-CN" sz="950">
                <a:solidFill>
                  <a:srgbClr val="5F6B7A"/>
                </a:solidFill>
                <a:latin typeface="Microsoft YaHei"/>
                <a:ea typeface="Microsoft YaHei"/>
              </a:rPr>
              <a:t>clone / fork / execve / wait4</a:t>
            </a:r>
            <a:endParaRPr lang="zh-CN" altLang="en-US" sz="950">
              <a:solidFill>
                <a:srgbClr val="5F6B7A"/>
              </a:solidFill>
              <a:latin typeface="Microsoft YaHei"/>
              <a:ea typeface="Microsoft YaHei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47AC0A7B-9D72-4397-B3F7-2A1A30A35E7F}"/>
              </a:ext>
            </a:extLst>
          </p:cNvPr>
          <p:cNvSpPr txBox="1"/>
          <p:nvPr/>
        </p:nvSpPr>
        <p:spPr>
          <a:xfrm>
            <a:off x="6883400" y="3987800"/>
            <a:ext cx="4318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fontScale="77500" lnSpcReduction="20000"/>
          </a:bodyPr>
          <a:lstStyle/>
          <a:p>
            <a:pPr algn="l"/>
            <a:r>
              <a:rPr lang="en-US" altLang="zh-CN" sz="950">
                <a:solidFill>
                  <a:srgbClr val="5F6B7A"/>
                </a:solidFill>
                <a:latin typeface="Microsoft YaHei"/>
                <a:ea typeface="Microsoft YaHei"/>
              </a:rPr>
              <a:t>LTP clone* / fork* / wait*</a:t>
            </a:r>
            <a:endParaRPr lang="zh-CN" altLang="en-US" sz="950">
              <a:solidFill>
                <a:srgbClr val="5F6B7A"/>
              </a:solidFill>
              <a:latin typeface="Microsoft YaHei"/>
              <a:ea typeface="Microsoft YaHei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74DE568-A99E-4EEA-A507-751F2D3BED9F}"/>
              </a:ext>
            </a:extLst>
          </p:cNvPr>
          <p:cNvSpPr/>
          <p:nvPr/>
        </p:nvSpPr>
        <p:spPr>
          <a:xfrm>
            <a:off x="914400" y="4318000"/>
            <a:ext cx="10414000" cy="4572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9E3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C9BACE2C-80A5-4F2D-878A-1E0FBA46F83F}"/>
              </a:ext>
            </a:extLst>
          </p:cNvPr>
          <p:cNvSpPr txBox="1"/>
          <p:nvPr/>
        </p:nvSpPr>
        <p:spPr>
          <a:xfrm>
            <a:off x="1041400" y="4445000"/>
            <a:ext cx="1524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fontScale="77500" lnSpcReduction="20000"/>
          </a:bodyPr>
          <a:lstStyle/>
          <a:p>
            <a:pPr algn="l"/>
            <a:r>
              <a:rPr lang="zh-CN" altLang="en-US" sz="950">
                <a:solidFill>
                  <a:srgbClr val="123B67"/>
                </a:solidFill>
                <a:latin typeface="Microsoft YaHei"/>
                <a:ea typeface="Microsoft YaHei"/>
              </a:rPr>
              <a:t>文件系统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B106365-1A0C-4D65-98FC-835D6098A240}"/>
              </a:ext>
            </a:extLst>
          </p:cNvPr>
          <p:cNvSpPr txBox="1"/>
          <p:nvPr/>
        </p:nvSpPr>
        <p:spPr>
          <a:xfrm>
            <a:off x="2819400" y="4445000"/>
            <a:ext cx="3810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fontScale="77500" lnSpcReduction="20000"/>
          </a:bodyPr>
          <a:lstStyle/>
          <a:p>
            <a:pPr algn="l"/>
            <a:r>
              <a:rPr lang="en-US" altLang="zh-CN" sz="950">
                <a:solidFill>
                  <a:srgbClr val="5F6B7A"/>
                </a:solidFill>
                <a:latin typeface="Microsoft YaHei"/>
                <a:ea typeface="Microsoft YaHei"/>
              </a:rPr>
              <a:t>open / stat / link / mount / xattr</a:t>
            </a:r>
            <a:endParaRPr lang="zh-CN" altLang="en-US" sz="950">
              <a:solidFill>
                <a:srgbClr val="5F6B7A"/>
              </a:solidFill>
              <a:latin typeface="Microsoft YaHei"/>
              <a:ea typeface="Microsoft YaHei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6F4D5CFB-90EB-4FE0-807C-AC09ABC04D7D}"/>
              </a:ext>
            </a:extLst>
          </p:cNvPr>
          <p:cNvSpPr txBox="1"/>
          <p:nvPr/>
        </p:nvSpPr>
        <p:spPr>
          <a:xfrm>
            <a:off x="6883400" y="4445000"/>
            <a:ext cx="4318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fontScale="77500" lnSpcReduction="20000"/>
          </a:bodyPr>
          <a:lstStyle/>
          <a:p>
            <a:pPr algn="l"/>
            <a:r>
              <a:rPr lang="en-US" altLang="zh-CN" sz="950">
                <a:solidFill>
                  <a:srgbClr val="5F6B7A"/>
                </a:solidFill>
                <a:latin typeface="Microsoft YaHei"/>
                <a:ea typeface="Microsoft YaHei"/>
              </a:rPr>
              <a:t>LTP open* / stat* / link* / fs_bind</a:t>
            </a:r>
            <a:endParaRPr lang="zh-CN" altLang="en-US" sz="950">
              <a:solidFill>
                <a:srgbClr val="5F6B7A"/>
              </a:solidFill>
              <a:latin typeface="Microsoft YaHei"/>
              <a:ea typeface="Microsoft YaHei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D735BED7-C217-42E9-9514-7C1F17EE8A24}"/>
              </a:ext>
            </a:extLst>
          </p:cNvPr>
          <p:cNvSpPr/>
          <p:nvPr/>
        </p:nvSpPr>
        <p:spPr>
          <a:xfrm>
            <a:off x="914400" y="4775200"/>
            <a:ext cx="10414000" cy="457200"/>
          </a:xfrm>
          <a:prstGeom prst="rect">
            <a:avLst/>
          </a:prstGeom>
          <a:solidFill>
            <a:srgbClr val="F6F9FE"/>
          </a:solidFill>
          <a:ln w="9525" cap="flat" cmpd="sng" algn="ctr">
            <a:solidFill>
              <a:srgbClr val="D9E3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0647DC72-B3D5-4906-BA0D-CB564B8422C8}"/>
              </a:ext>
            </a:extLst>
          </p:cNvPr>
          <p:cNvSpPr txBox="1"/>
          <p:nvPr/>
        </p:nvSpPr>
        <p:spPr>
          <a:xfrm>
            <a:off x="1041400" y="4902200"/>
            <a:ext cx="1524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fontScale="77500" lnSpcReduction="20000"/>
          </a:bodyPr>
          <a:lstStyle/>
          <a:p>
            <a:pPr algn="l"/>
            <a:r>
              <a:rPr lang="zh-CN" altLang="en-US" sz="950">
                <a:solidFill>
                  <a:srgbClr val="123B67"/>
                </a:solidFill>
                <a:latin typeface="Microsoft YaHei"/>
                <a:ea typeface="Microsoft YaHei"/>
              </a:rPr>
              <a:t>内存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CF7075FF-2999-4E24-90B2-6B753D12FF95}"/>
              </a:ext>
            </a:extLst>
          </p:cNvPr>
          <p:cNvSpPr txBox="1"/>
          <p:nvPr/>
        </p:nvSpPr>
        <p:spPr>
          <a:xfrm>
            <a:off x="2819400" y="4902200"/>
            <a:ext cx="3810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fontScale="77500" lnSpcReduction="20000"/>
          </a:bodyPr>
          <a:lstStyle/>
          <a:p>
            <a:pPr algn="l"/>
            <a:r>
              <a:rPr lang="en-US" altLang="zh-CN" sz="950">
                <a:solidFill>
                  <a:srgbClr val="5F6B7A"/>
                </a:solidFill>
                <a:latin typeface="Microsoft YaHei"/>
                <a:ea typeface="Microsoft YaHei"/>
              </a:rPr>
              <a:t>mmap / mprotect / CoW / MAP_SHARED</a:t>
            </a:r>
            <a:endParaRPr lang="zh-CN" altLang="en-US" sz="950">
              <a:solidFill>
                <a:srgbClr val="5F6B7A"/>
              </a:solidFill>
              <a:latin typeface="Microsoft YaHei"/>
              <a:ea typeface="Microsoft YaHei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91B38907-9E1A-4FAC-9E99-DA7C98475695}"/>
              </a:ext>
            </a:extLst>
          </p:cNvPr>
          <p:cNvSpPr txBox="1"/>
          <p:nvPr/>
        </p:nvSpPr>
        <p:spPr>
          <a:xfrm>
            <a:off x="6883400" y="4902200"/>
            <a:ext cx="4318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fontScale="77500" lnSpcReduction="20000"/>
          </a:bodyPr>
          <a:lstStyle/>
          <a:p>
            <a:pPr algn="l"/>
            <a:r>
              <a:rPr lang="en-US" altLang="zh-CN" sz="950">
                <a:solidFill>
                  <a:srgbClr val="5F6B7A"/>
                </a:solidFill>
                <a:latin typeface="Microsoft YaHei"/>
                <a:ea typeface="Microsoft YaHei"/>
              </a:rPr>
              <a:t>LTP mmap* / pagefault</a:t>
            </a:r>
            <a:endParaRPr lang="zh-CN" altLang="en-US" sz="950">
              <a:solidFill>
                <a:srgbClr val="5F6B7A"/>
              </a:solidFill>
              <a:latin typeface="Microsoft YaHei"/>
              <a:ea typeface="Microsoft YaHei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4ADB5C61-8CDE-4B2A-A98B-F1AF5AC21B98}"/>
              </a:ext>
            </a:extLst>
          </p:cNvPr>
          <p:cNvSpPr/>
          <p:nvPr/>
        </p:nvSpPr>
        <p:spPr>
          <a:xfrm>
            <a:off x="914400" y="5232400"/>
            <a:ext cx="10414000" cy="4572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9E3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65D5E34E-5FFE-4883-A64D-B1D506B07F45}"/>
              </a:ext>
            </a:extLst>
          </p:cNvPr>
          <p:cNvSpPr txBox="1"/>
          <p:nvPr/>
        </p:nvSpPr>
        <p:spPr>
          <a:xfrm>
            <a:off x="1041400" y="5359400"/>
            <a:ext cx="1524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fontScale="77500" lnSpcReduction="20000"/>
          </a:bodyPr>
          <a:lstStyle/>
          <a:p>
            <a:pPr algn="l"/>
            <a:r>
              <a:rPr lang="zh-CN" altLang="en-US" sz="950">
                <a:solidFill>
                  <a:srgbClr val="123B67"/>
                </a:solidFill>
                <a:latin typeface="Microsoft YaHei"/>
                <a:ea typeface="Microsoft YaHei"/>
              </a:rPr>
              <a:t>网络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3CD0F8ED-4275-4D1F-9DB4-46FAA7F0C725}"/>
              </a:ext>
            </a:extLst>
          </p:cNvPr>
          <p:cNvSpPr txBox="1"/>
          <p:nvPr/>
        </p:nvSpPr>
        <p:spPr>
          <a:xfrm>
            <a:off x="2819400" y="5359400"/>
            <a:ext cx="3810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fontScale="77500" lnSpcReduction="20000"/>
          </a:bodyPr>
          <a:lstStyle/>
          <a:p>
            <a:pPr algn="l"/>
            <a:r>
              <a:rPr lang="en-US" altLang="zh-CN" sz="950">
                <a:solidFill>
                  <a:srgbClr val="5F6B7A"/>
                </a:solidFill>
                <a:latin typeface="Microsoft YaHei"/>
                <a:ea typeface="Microsoft YaHei"/>
              </a:rPr>
              <a:t>socket / bind / connect / send/recv</a:t>
            </a:r>
            <a:endParaRPr lang="zh-CN" altLang="en-US" sz="950">
              <a:solidFill>
                <a:srgbClr val="5F6B7A"/>
              </a:solidFill>
              <a:latin typeface="Microsoft YaHei"/>
              <a:ea typeface="Microsoft YaHei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A2F08F67-DCD6-4207-8839-F665D19F84B2}"/>
              </a:ext>
            </a:extLst>
          </p:cNvPr>
          <p:cNvSpPr txBox="1"/>
          <p:nvPr/>
        </p:nvSpPr>
        <p:spPr>
          <a:xfrm>
            <a:off x="6883400" y="5359400"/>
            <a:ext cx="4318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fontScale="77500" lnSpcReduction="20000"/>
          </a:bodyPr>
          <a:lstStyle/>
          <a:p>
            <a:pPr algn="l"/>
            <a:r>
              <a:rPr lang="en-US" altLang="zh-CN" sz="950">
                <a:solidFill>
                  <a:srgbClr val="5F6B7A"/>
                </a:solidFill>
                <a:latin typeface="Microsoft YaHei"/>
                <a:ea typeface="Microsoft YaHei"/>
              </a:rPr>
              <a:t>iperf / netperf / LTP socket*</a:t>
            </a:r>
            <a:endParaRPr lang="zh-CN" altLang="en-US" sz="950">
              <a:solidFill>
                <a:srgbClr val="5F6B7A"/>
              </a:solidFill>
              <a:latin typeface="Microsoft YaHei"/>
              <a:ea typeface="Microsoft YaHei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DC39C610-24E8-49FA-BD1D-5D8AB6CD40EE}"/>
              </a:ext>
            </a:extLst>
          </p:cNvPr>
          <p:cNvSpPr/>
          <p:nvPr/>
        </p:nvSpPr>
        <p:spPr>
          <a:xfrm>
            <a:off x="914400" y="5689600"/>
            <a:ext cx="10414000" cy="457200"/>
          </a:xfrm>
          <a:prstGeom prst="rect">
            <a:avLst/>
          </a:prstGeom>
          <a:solidFill>
            <a:srgbClr val="F6F9FE"/>
          </a:solidFill>
          <a:ln w="9525" cap="flat" cmpd="sng" algn="ctr">
            <a:solidFill>
              <a:srgbClr val="D9E3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81E343BB-6540-4A46-803A-6023708084D8}"/>
              </a:ext>
            </a:extLst>
          </p:cNvPr>
          <p:cNvSpPr txBox="1"/>
          <p:nvPr/>
        </p:nvSpPr>
        <p:spPr>
          <a:xfrm>
            <a:off x="1041400" y="5816600"/>
            <a:ext cx="1524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fontScale="77500" lnSpcReduction="20000"/>
          </a:bodyPr>
          <a:lstStyle/>
          <a:p>
            <a:pPr algn="l"/>
            <a:r>
              <a:rPr lang="en-US" altLang="zh-CN" sz="950">
                <a:solidFill>
                  <a:srgbClr val="123B67"/>
                </a:solidFill>
                <a:latin typeface="Microsoft YaHei"/>
                <a:ea typeface="Microsoft YaHei"/>
              </a:rPr>
              <a:t>IPC/</a:t>
            </a:r>
            <a:r>
              <a:rPr lang="zh-CN" altLang="en-US" sz="950">
                <a:solidFill>
                  <a:srgbClr val="123B67"/>
                </a:solidFill>
                <a:latin typeface="Microsoft YaHei"/>
                <a:ea typeface="Microsoft YaHei"/>
              </a:rPr>
              <a:t>事件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05246285-FB28-46CF-9D40-277D7036EE56}"/>
              </a:ext>
            </a:extLst>
          </p:cNvPr>
          <p:cNvSpPr txBox="1"/>
          <p:nvPr/>
        </p:nvSpPr>
        <p:spPr>
          <a:xfrm>
            <a:off x="2819400" y="5816600"/>
            <a:ext cx="3810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fontScale="77500" lnSpcReduction="20000"/>
          </a:bodyPr>
          <a:lstStyle/>
          <a:p>
            <a:pPr algn="l"/>
            <a:r>
              <a:rPr lang="en-US" altLang="zh-CN" sz="950">
                <a:solidFill>
                  <a:srgbClr val="5F6B7A"/>
                </a:solidFill>
                <a:latin typeface="Microsoft YaHei"/>
                <a:ea typeface="Microsoft YaHei"/>
              </a:rPr>
              <a:t>futex / SysV / epoll / timerfd</a:t>
            </a:r>
            <a:endParaRPr lang="zh-CN" altLang="en-US" sz="950">
              <a:solidFill>
                <a:srgbClr val="5F6B7A"/>
              </a:solidFill>
              <a:latin typeface="Microsoft YaHei"/>
              <a:ea typeface="Microsoft YaHei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9AE3AD92-E66D-4B73-8F8A-588DFE115873}"/>
              </a:ext>
            </a:extLst>
          </p:cNvPr>
          <p:cNvSpPr txBox="1"/>
          <p:nvPr/>
        </p:nvSpPr>
        <p:spPr>
          <a:xfrm>
            <a:off x="6883400" y="5816600"/>
            <a:ext cx="4318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fontScale="77500" lnSpcReduction="20000"/>
          </a:bodyPr>
          <a:lstStyle/>
          <a:p>
            <a:pPr algn="l"/>
            <a:r>
              <a:rPr lang="en-US" altLang="zh-CN" sz="950">
                <a:solidFill>
                  <a:srgbClr val="5F6B7A"/>
                </a:solidFill>
                <a:latin typeface="Microsoft YaHei"/>
                <a:ea typeface="Microsoft YaHei"/>
              </a:rPr>
              <a:t>LTP futex* / sem* / epoll*</a:t>
            </a:r>
            <a:endParaRPr lang="zh-CN" altLang="en-US" sz="950">
              <a:solidFill>
                <a:srgbClr val="5F6B7A"/>
              </a:solidFill>
              <a:latin typeface="Microsoft YaHei"/>
              <a:ea typeface="Microsoft YaHei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E879E03C-1EAD-4CA8-9C0A-597D61F5704E}"/>
              </a:ext>
            </a:extLst>
          </p:cNvPr>
          <p:cNvSpPr txBox="1"/>
          <p:nvPr/>
        </p:nvSpPr>
        <p:spPr>
          <a:xfrm>
            <a:off x="1206500" y="6197600"/>
            <a:ext cx="9779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fontScale="92500" lnSpcReduction="20000"/>
          </a:bodyPr>
          <a:lstStyle/>
          <a:p>
            <a:pPr algn="l"/>
            <a:r>
              <a:rPr lang="en-US" altLang="zh-CN" sz="950" b="1">
                <a:solidFill>
                  <a:srgbClr val="123B67"/>
                </a:solidFill>
                <a:latin typeface="Microsoft YaHei"/>
                <a:ea typeface="Microsoft YaHei"/>
              </a:rPr>
              <a:t>os_test.conf </a:t>
            </a:r>
            <a:r>
              <a:rPr lang="zh-CN" altLang="en-US" sz="950" b="1">
                <a:solidFill>
                  <a:srgbClr val="123B67"/>
                </a:solidFill>
                <a:latin typeface="Microsoft YaHei"/>
                <a:ea typeface="Microsoft YaHei"/>
              </a:rPr>
              <a:t>当前：</a:t>
            </a:r>
            <a:r>
              <a:rPr lang="en-US" altLang="zh-CN" sz="950" b="1">
                <a:solidFill>
                  <a:srgbClr val="123B67"/>
                </a:solidFill>
                <a:latin typeface="Microsoft YaHei"/>
                <a:ea typeface="Microsoft YaHei"/>
              </a:rPr>
              <a:t>mode=run · mask=0xFFF · ltp_runner=suite · ltp_libc=both · ltp_suites=fs_bind,syscalls</a:t>
            </a:r>
            <a:endParaRPr lang="zh-CN" altLang="en-US" sz="950" b="1">
              <a:solidFill>
                <a:srgbClr val="123B67"/>
              </a:solidFill>
              <a:latin typeface="Microsoft YaHei"/>
              <a:ea typeface="Microsoft YaHei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5F530936-3480-4ABD-9BBA-15DD0194E473}"/>
              </a:ext>
            </a:extLst>
          </p:cNvPr>
          <p:cNvSpPr txBox="1"/>
          <p:nvPr/>
        </p:nvSpPr>
        <p:spPr>
          <a:xfrm>
            <a:off x="482600" y="6502400"/>
            <a:ext cx="10922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fontScale="92500" lnSpcReduction="20000"/>
          </a:bodyPr>
          <a:lstStyle/>
          <a:p>
            <a:pPr algn="l"/>
            <a:r>
              <a:rPr lang="zh-CN" altLang="en-US" sz="750">
                <a:solidFill>
                  <a:srgbClr val="8A96A8"/>
                </a:solidFill>
                <a:latin typeface="Microsoft YaHei"/>
                <a:ea typeface="Microsoft YaHei"/>
              </a:rPr>
              <a:t>依据：</a:t>
            </a:r>
            <a:r>
              <a:rPr lang="en-US" altLang="zh-CN" sz="750">
                <a:solidFill>
                  <a:srgbClr val="8A96A8"/>
                </a:solidFill>
                <a:latin typeface="Microsoft YaHei"/>
                <a:ea typeface="Microsoft YaHei"/>
              </a:rPr>
              <a:t>os_test.conf</a:t>
            </a:r>
            <a:r>
              <a:rPr lang="zh-CN" altLang="en-US" sz="750">
                <a:solidFill>
                  <a:srgbClr val="8A96A8"/>
                </a:solidFill>
                <a:latin typeface="Microsoft YaHei"/>
                <a:ea typeface="Microsoft YaHei"/>
              </a:rPr>
              <a:t>、</a:t>
            </a:r>
            <a:r>
              <a:rPr lang="en-US" altLang="zh-CN" sz="750">
                <a:solidFill>
                  <a:srgbClr val="8A96A8"/>
                </a:solidFill>
                <a:latin typeface="Microsoft YaHei"/>
                <a:ea typeface="Microsoft YaHei"/>
              </a:rPr>
              <a:t>scripts/run_full_test.py</a:t>
            </a:r>
            <a:r>
              <a:rPr lang="zh-CN" altLang="en-US" sz="750">
                <a:solidFill>
                  <a:srgbClr val="8A96A8"/>
                </a:solidFill>
                <a:latin typeface="Microsoft YaHei"/>
                <a:ea typeface="Microsoft YaHei"/>
              </a:rPr>
              <a:t>、</a:t>
            </a:r>
            <a:r>
              <a:rPr lang="en-US" altLang="zh-CN" sz="750">
                <a:solidFill>
                  <a:srgbClr val="8A96A8"/>
                </a:solidFill>
                <a:latin typeface="Microsoft YaHei"/>
                <a:ea typeface="Microsoft YaHei"/>
              </a:rPr>
              <a:t>README </a:t>
            </a:r>
            <a:r>
              <a:rPr lang="zh-CN" altLang="en-US" sz="750">
                <a:solidFill>
                  <a:srgbClr val="8A96A8"/>
                </a:solidFill>
                <a:latin typeface="Microsoft YaHei"/>
                <a:ea typeface="Microsoft YaHei"/>
              </a:rPr>
              <a:t>测试配置；</a:t>
            </a:r>
            <a:r>
              <a:rPr lang="en-US" altLang="zh-CN" sz="750">
                <a:solidFill>
                  <a:srgbClr val="8A96A8"/>
                </a:solidFill>
                <a:latin typeface="Microsoft YaHei"/>
                <a:ea typeface="Microsoft YaHei"/>
              </a:rPr>
              <a:t>QEMU_TIMEOUT </a:t>
            </a:r>
            <a:r>
              <a:rPr lang="zh-CN" altLang="en-US" sz="750">
                <a:solidFill>
                  <a:srgbClr val="8A96A8"/>
                </a:solidFill>
                <a:latin typeface="Microsoft YaHei"/>
                <a:ea typeface="Microsoft YaHei"/>
              </a:rPr>
              <a:t>默认 </a:t>
            </a:r>
            <a:r>
              <a:rPr lang="en-US" altLang="zh-CN" sz="750">
                <a:solidFill>
                  <a:srgbClr val="8A96A8"/>
                </a:solidFill>
                <a:latin typeface="Microsoft YaHei"/>
                <a:ea typeface="Microsoft YaHei"/>
              </a:rPr>
              <a:t>7200 </a:t>
            </a:r>
            <a:r>
              <a:rPr lang="zh-CN" altLang="en-US" sz="750">
                <a:solidFill>
                  <a:srgbClr val="8A96A8"/>
                </a:solidFill>
                <a:latin typeface="Microsoft YaHei"/>
                <a:ea typeface="Microsoft YaHei"/>
              </a:rPr>
              <a:t>秒并留档 </a:t>
            </a:r>
            <a:r>
              <a:rPr lang="en-US" altLang="zh-CN" sz="750">
                <a:solidFill>
                  <a:srgbClr val="8A96A8"/>
                </a:solidFill>
                <a:latin typeface="Microsoft YaHei"/>
                <a:ea typeface="Microsoft YaHei"/>
              </a:rPr>
              <a:t>testresult/archive_*</a:t>
            </a:r>
            <a:r>
              <a:rPr lang="zh-CN" altLang="en-US" sz="750">
                <a:solidFill>
                  <a:srgbClr val="8A96A8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130EED87-EE68-4CE3-B640-FCC92098019B}"/>
              </a:ext>
            </a:extLst>
          </p:cNvPr>
          <p:cNvSpPr/>
          <p:nvPr/>
        </p:nvSpPr>
        <p:spPr>
          <a:xfrm>
            <a:off x="254000" y="304800"/>
            <a:ext cx="101600" cy="482600"/>
          </a:xfrm>
          <a:prstGeom prst="rect">
            <a:avLst/>
          </a:prstGeom>
          <a:solidFill>
            <a:srgbClr val="3F70B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7E94E654-78CF-45AA-9525-C9DBC1FD325B}"/>
              </a:ext>
            </a:extLst>
          </p:cNvPr>
          <p:cNvSpPr/>
          <p:nvPr/>
        </p:nvSpPr>
        <p:spPr>
          <a:xfrm>
            <a:off x="254000" y="838200"/>
            <a:ext cx="11684000" cy="19050"/>
          </a:xfrm>
          <a:prstGeom prst="rect">
            <a:avLst/>
          </a:prstGeom>
          <a:solidFill>
            <a:srgbClr val="3F70B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AB91C7E3-C81C-4FDD-B0F8-84EF188462B5}"/>
              </a:ext>
            </a:extLst>
          </p:cNvPr>
          <p:cNvSpPr txBox="1"/>
          <p:nvPr/>
        </p:nvSpPr>
        <p:spPr>
          <a:xfrm>
            <a:off x="736600" y="228600"/>
            <a:ext cx="81280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2000" b="1" dirty="0">
                <a:solidFill>
                  <a:srgbClr val="3F70B7"/>
                </a:solidFill>
                <a:latin typeface="Microsoft YaHei"/>
                <a:ea typeface="Microsoft YaHei"/>
              </a:rPr>
              <a:t>测试闭环：从分组扫描收敛到稳定回归集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2B44BABB-EFC7-4634-8AB9-36B39C6B3432}"/>
              </a:ext>
            </a:extLst>
          </p:cNvPr>
          <p:cNvSpPr/>
          <p:nvPr/>
        </p:nvSpPr>
        <p:spPr>
          <a:xfrm>
            <a:off x="533400" y="1041400"/>
            <a:ext cx="11112500" cy="5334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CA87D4D6-5675-432B-BE7E-A387626AFF16}"/>
              </a:ext>
            </a:extLst>
          </p:cNvPr>
          <p:cNvSpPr txBox="1"/>
          <p:nvPr/>
        </p:nvSpPr>
        <p:spPr>
          <a:xfrm>
            <a:off x="736600" y="1193800"/>
            <a:ext cx="10541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450" b="1">
                <a:solidFill>
                  <a:srgbClr val="0B2F55"/>
                </a:solidFill>
                <a:latin typeface="Microsoft YaHei UI"/>
                <a:ea typeface="Microsoft YaHei UI"/>
              </a:rPr>
              <a:t>初赛阶段把“能跑”拆成三个可检查动作：按组发现问题、按配置回归、按双架构守门。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94923FE0-4C1E-4E21-958B-55631CF53B05}"/>
              </a:ext>
            </a:extLst>
          </p:cNvPr>
          <p:cNvSpPr/>
          <p:nvPr/>
        </p:nvSpPr>
        <p:spPr>
          <a:xfrm>
            <a:off x="914400" y="1727200"/>
            <a:ext cx="3200400" cy="10414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6E1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234BEF90-B623-4267-A84A-14F2C0EAC1C8}"/>
              </a:ext>
            </a:extLst>
          </p:cNvPr>
          <p:cNvSpPr/>
          <p:nvPr/>
        </p:nvSpPr>
        <p:spPr>
          <a:xfrm>
            <a:off x="914400" y="1727200"/>
            <a:ext cx="63500" cy="1041400"/>
          </a:xfrm>
          <a:prstGeom prst="rect">
            <a:avLst/>
          </a:prstGeom>
          <a:solidFill>
            <a:srgbClr val="3F70B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A6DABF1E-AAAD-413B-9947-B866ADC19F93}"/>
              </a:ext>
            </a:extLst>
          </p:cNvPr>
          <p:cNvSpPr txBox="1"/>
          <p:nvPr/>
        </p:nvSpPr>
        <p:spPr>
          <a:xfrm>
            <a:off x="1143000" y="1917700"/>
            <a:ext cx="2667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1150" b="1">
                <a:solidFill>
                  <a:srgbClr val="0B2F55"/>
                </a:solidFill>
                <a:latin typeface="Microsoft YaHei UI"/>
                <a:ea typeface="Microsoft YaHei UI"/>
              </a:rPr>
              <a:t>Phase 0  </a:t>
            </a:r>
            <a:r>
              <a:rPr lang="zh-CN" altLang="en-US" sz="1150" b="1">
                <a:solidFill>
                  <a:srgbClr val="0B2F55"/>
                </a:solidFill>
                <a:latin typeface="Microsoft YaHei UI"/>
                <a:ea typeface="Microsoft YaHei UI"/>
              </a:rPr>
              <a:t>建基线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B5DA161A-5D26-412E-8846-B1E13C75768E}"/>
              </a:ext>
            </a:extLst>
          </p:cNvPr>
          <p:cNvSpPr txBox="1"/>
          <p:nvPr/>
        </p:nvSpPr>
        <p:spPr>
          <a:xfrm>
            <a:off x="1143000" y="2311400"/>
            <a:ext cx="2667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080">
                <a:solidFill>
                  <a:srgbClr val="0B2F55"/>
                </a:solidFill>
                <a:latin typeface="Microsoft YaHei UI"/>
                <a:ea typeface="Microsoft YaHei UI"/>
              </a:rPr>
              <a:t>列测例、分组，建立状态表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DEEBE252-E8B0-4F9B-836C-4321A14021FC}"/>
              </a:ext>
            </a:extLst>
          </p:cNvPr>
          <p:cNvSpPr/>
          <p:nvPr/>
        </p:nvSpPr>
        <p:spPr>
          <a:xfrm>
            <a:off x="4495800" y="1727200"/>
            <a:ext cx="3200400" cy="10414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6E1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6BA0FC64-E4F2-453D-A6DB-708013E0AE94}"/>
              </a:ext>
            </a:extLst>
          </p:cNvPr>
          <p:cNvSpPr/>
          <p:nvPr/>
        </p:nvSpPr>
        <p:spPr>
          <a:xfrm>
            <a:off x="4495800" y="1727200"/>
            <a:ext cx="63500" cy="1041400"/>
          </a:xfrm>
          <a:prstGeom prst="rect">
            <a:avLst/>
          </a:prstGeom>
          <a:solidFill>
            <a:srgbClr val="F39A2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3938F7C9-A1AF-4051-B961-3345C1EC60F4}"/>
              </a:ext>
            </a:extLst>
          </p:cNvPr>
          <p:cNvSpPr txBox="1"/>
          <p:nvPr/>
        </p:nvSpPr>
        <p:spPr>
          <a:xfrm>
            <a:off x="4724400" y="1917700"/>
            <a:ext cx="2667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1150" b="1">
                <a:solidFill>
                  <a:srgbClr val="0B2F55"/>
                </a:solidFill>
                <a:latin typeface="Microsoft YaHei UI"/>
                <a:ea typeface="Microsoft YaHei UI"/>
              </a:rPr>
              <a:t>Phase 1  </a:t>
            </a:r>
            <a:r>
              <a:rPr lang="zh-CN" altLang="en-US" sz="1150" b="1">
                <a:solidFill>
                  <a:srgbClr val="0B2F55"/>
                </a:solidFill>
                <a:latin typeface="Microsoft YaHei UI"/>
                <a:ea typeface="Microsoft YaHei UI"/>
              </a:rPr>
              <a:t>发现 </a:t>
            </a:r>
            <a:r>
              <a:rPr lang="en-US" altLang="zh-CN" sz="1150" b="1">
                <a:solidFill>
                  <a:srgbClr val="0B2F55"/>
                </a:solidFill>
                <a:latin typeface="Microsoft YaHei UI"/>
                <a:ea typeface="Microsoft YaHei UI"/>
              </a:rPr>
              <a:t>+ </a:t>
            </a:r>
            <a:r>
              <a:rPr lang="zh-CN" altLang="en-US" sz="1150" b="1">
                <a:solidFill>
                  <a:srgbClr val="0B2F55"/>
                </a:solidFill>
                <a:latin typeface="Microsoft YaHei UI"/>
                <a:ea typeface="Microsoft YaHei UI"/>
              </a:rPr>
              <a:t>修复</a:t>
            </a: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8A127082-A1AA-42FB-935E-C885A8EE40D9}"/>
              </a:ext>
            </a:extLst>
          </p:cNvPr>
          <p:cNvSpPr txBox="1"/>
          <p:nvPr/>
        </p:nvSpPr>
        <p:spPr>
          <a:xfrm>
            <a:off x="4724400" y="2311400"/>
            <a:ext cx="2667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080">
                <a:solidFill>
                  <a:srgbClr val="0B2F55"/>
                </a:solidFill>
                <a:latin typeface="Microsoft YaHei UI"/>
                <a:ea typeface="Microsoft YaHei UI"/>
              </a:rPr>
              <a:t>按 </a:t>
            </a:r>
            <a:r>
              <a:rPr lang="en-US" altLang="zh-CN" sz="1080">
                <a:solidFill>
                  <a:srgbClr val="0B2F55"/>
                </a:solidFill>
                <a:latin typeface="Microsoft YaHei UI"/>
                <a:ea typeface="Microsoft YaHei UI"/>
              </a:rPr>
              <a:t>family </a:t>
            </a:r>
            <a:r>
              <a:rPr lang="zh-CN" altLang="en-US" sz="1080">
                <a:solidFill>
                  <a:srgbClr val="0B2F55"/>
                </a:solidFill>
                <a:latin typeface="Microsoft YaHei UI"/>
                <a:ea typeface="Microsoft YaHei UI"/>
              </a:rPr>
              <a:t>跑，记录 </a:t>
            </a:r>
            <a:r>
              <a:rPr lang="en-US" altLang="zh-CN" sz="1080">
                <a:solidFill>
                  <a:srgbClr val="0B2F55"/>
                </a:solidFill>
                <a:latin typeface="Microsoft YaHei UI"/>
                <a:ea typeface="Microsoft YaHei UI"/>
              </a:rPr>
              <a:t>TFAIL / TBROK</a:t>
            </a:r>
            <a:endParaRPr lang="zh-CN" altLang="en-US" sz="1080">
              <a:solidFill>
                <a:srgbClr val="0B2F55"/>
              </a:solidFill>
              <a:latin typeface="Microsoft YaHei UI"/>
              <a:ea typeface="Microsoft YaHei UI"/>
            </a:endParaRP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40931CBA-62F9-4D35-AB13-46D721CBACF3}"/>
              </a:ext>
            </a:extLst>
          </p:cNvPr>
          <p:cNvSpPr/>
          <p:nvPr/>
        </p:nvSpPr>
        <p:spPr>
          <a:xfrm>
            <a:off x="8077200" y="1727200"/>
            <a:ext cx="3200400" cy="10414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6E1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58E6CEE6-35FC-4845-AFA7-C212D0A17335}"/>
              </a:ext>
            </a:extLst>
          </p:cNvPr>
          <p:cNvSpPr/>
          <p:nvPr/>
        </p:nvSpPr>
        <p:spPr>
          <a:xfrm>
            <a:off x="8077200" y="1727200"/>
            <a:ext cx="63500" cy="1041400"/>
          </a:xfrm>
          <a:prstGeom prst="rect">
            <a:avLst/>
          </a:prstGeom>
          <a:solidFill>
            <a:srgbClr val="2FA3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15F18C1A-F11F-49FF-9D1E-BEC3312CA990}"/>
              </a:ext>
            </a:extLst>
          </p:cNvPr>
          <p:cNvSpPr txBox="1"/>
          <p:nvPr/>
        </p:nvSpPr>
        <p:spPr>
          <a:xfrm>
            <a:off x="8305800" y="1917700"/>
            <a:ext cx="2667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1150" b="1">
                <a:solidFill>
                  <a:srgbClr val="0B2F55"/>
                </a:solidFill>
                <a:latin typeface="Microsoft YaHei UI"/>
                <a:ea typeface="Microsoft YaHei UI"/>
              </a:rPr>
              <a:t>Phase 2  </a:t>
            </a:r>
            <a:r>
              <a:rPr lang="zh-CN" altLang="en-US" sz="1150" b="1">
                <a:solidFill>
                  <a:srgbClr val="0B2F55"/>
                </a:solidFill>
                <a:latin typeface="Microsoft YaHei UI"/>
                <a:ea typeface="Microsoft YaHei UI"/>
              </a:rPr>
              <a:t>稳定回归</a:t>
            </a: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FC883A84-42DF-48F9-9BF8-42FDFB67FF13}"/>
              </a:ext>
            </a:extLst>
          </p:cNvPr>
          <p:cNvSpPr txBox="1"/>
          <p:nvPr/>
        </p:nvSpPr>
        <p:spPr>
          <a:xfrm>
            <a:off x="8305800" y="2311400"/>
            <a:ext cx="2667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1080">
                <a:solidFill>
                  <a:srgbClr val="0B2F55"/>
                </a:solidFill>
                <a:latin typeface="Microsoft YaHei UI"/>
                <a:ea typeface="Microsoft YaHei UI"/>
              </a:rPr>
              <a:t>mask=0xFFF</a:t>
            </a:r>
            <a:r>
              <a:rPr lang="zh-CN" altLang="en-US" sz="1080">
                <a:solidFill>
                  <a:srgbClr val="0B2F55"/>
                </a:solidFill>
                <a:latin typeface="Microsoft YaHei UI"/>
                <a:ea typeface="Microsoft YaHei UI"/>
              </a:rPr>
              <a:t>；</a:t>
            </a:r>
            <a:r>
              <a:rPr lang="en-US" altLang="zh-CN" sz="1080">
                <a:solidFill>
                  <a:srgbClr val="0B2F55"/>
                </a:solidFill>
                <a:latin typeface="Microsoft YaHei UI"/>
                <a:ea typeface="Microsoft YaHei UI"/>
              </a:rPr>
              <a:t>libc=both</a:t>
            </a:r>
            <a:r>
              <a:rPr lang="zh-CN" altLang="en-US" sz="1080">
                <a:solidFill>
                  <a:srgbClr val="0B2F55"/>
                </a:solidFill>
                <a:latin typeface="Microsoft YaHei UI"/>
                <a:ea typeface="Microsoft YaHei UI"/>
              </a:rPr>
              <a:t>；防回退</a:t>
            </a: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52331FB0-44C2-4BB8-831C-439DFB43F2F9}"/>
              </a:ext>
            </a:extLst>
          </p:cNvPr>
          <p:cNvSpPr/>
          <p:nvPr/>
        </p:nvSpPr>
        <p:spPr>
          <a:xfrm>
            <a:off x="4165600" y="2235200"/>
            <a:ext cx="381000" cy="50800"/>
          </a:xfrm>
          <a:prstGeom prst="rect">
            <a:avLst/>
          </a:prstGeom>
          <a:solidFill>
            <a:srgbClr val="A9BFE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589254C1-2E43-438C-BA08-5FAF13375EEB}"/>
              </a:ext>
            </a:extLst>
          </p:cNvPr>
          <p:cNvSpPr/>
          <p:nvPr/>
        </p:nvSpPr>
        <p:spPr>
          <a:xfrm>
            <a:off x="7747000" y="2235200"/>
            <a:ext cx="381000" cy="50800"/>
          </a:xfrm>
          <a:prstGeom prst="rect">
            <a:avLst/>
          </a:prstGeom>
          <a:solidFill>
            <a:srgbClr val="A9BFE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B2D3B0C5-737D-4792-961A-BE6CA5DF3D0D}"/>
              </a:ext>
            </a:extLst>
          </p:cNvPr>
          <p:cNvSpPr txBox="1"/>
          <p:nvPr/>
        </p:nvSpPr>
        <p:spPr>
          <a:xfrm>
            <a:off x="736600" y="3124200"/>
            <a:ext cx="203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350" b="1">
                <a:solidFill>
                  <a:srgbClr val="0B2F55"/>
                </a:solidFill>
                <a:latin typeface="Microsoft YaHei UI"/>
                <a:ea typeface="Microsoft YaHei UI"/>
              </a:rPr>
              <a:t>回归矩阵</a:t>
            </a: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D184B40E-EC31-44D0-8E6E-11B98D2093CD}"/>
              </a:ext>
            </a:extLst>
          </p:cNvPr>
          <p:cNvSpPr/>
          <p:nvPr/>
        </p:nvSpPr>
        <p:spPr>
          <a:xfrm>
            <a:off x="736600" y="3556000"/>
            <a:ext cx="2032000" cy="1041400"/>
          </a:xfrm>
          <a:prstGeom prst="rect">
            <a:avLst/>
          </a:prstGeom>
          <a:solidFill>
            <a:srgbClr val="F7FAFF"/>
          </a:solidFill>
          <a:ln w="12700" cap="flat" cmpd="sng" algn="ctr">
            <a:solidFill>
              <a:srgbClr val="D6E1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63BD9917-2562-4BBB-B2AB-6CBB677D2809}"/>
              </a:ext>
            </a:extLst>
          </p:cNvPr>
          <p:cNvSpPr/>
          <p:nvPr/>
        </p:nvSpPr>
        <p:spPr>
          <a:xfrm>
            <a:off x="736600" y="3556000"/>
            <a:ext cx="63500" cy="1041400"/>
          </a:xfrm>
          <a:prstGeom prst="rect">
            <a:avLst/>
          </a:prstGeom>
          <a:solidFill>
            <a:srgbClr val="3F70B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38C0ECA1-62C0-411D-93DD-0FA730AD8664}"/>
              </a:ext>
            </a:extLst>
          </p:cNvPr>
          <p:cNvSpPr txBox="1"/>
          <p:nvPr/>
        </p:nvSpPr>
        <p:spPr>
          <a:xfrm>
            <a:off x="927100" y="3733800"/>
            <a:ext cx="1651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150" b="1">
                <a:solidFill>
                  <a:srgbClr val="0B2F55"/>
                </a:solidFill>
                <a:latin typeface="Microsoft YaHei UI"/>
                <a:ea typeface="Microsoft YaHei UI"/>
              </a:rPr>
              <a:t>进程 </a:t>
            </a:r>
            <a:r>
              <a:rPr lang="en-US" altLang="zh-CN" sz="1150" b="1">
                <a:solidFill>
                  <a:srgbClr val="0B2F55"/>
                </a:solidFill>
                <a:latin typeface="Microsoft YaHei UI"/>
                <a:ea typeface="Microsoft YaHei UI"/>
              </a:rPr>
              <a:t>/ </a:t>
            </a:r>
            <a:r>
              <a:rPr lang="zh-CN" altLang="en-US" sz="1150" b="1">
                <a:solidFill>
                  <a:srgbClr val="0B2F55"/>
                </a:solidFill>
                <a:latin typeface="Microsoft YaHei UI"/>
                <a:ea typeface="Microsoft YaHei UI"/>
              </a:rPr>
              <a:t>线程</a:t>
            </a: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50304829-142B-44FF-AC71-3A8EA289AE2E}"/>
              </a:ext>
            </a:extLst>
          </p:cNvPr>
          <p:cNvSpPr txBox="1"/>
          <p:nvPr/>
        </p:nvSpPr>
        <p:spPr>
          <a:xfrm>
            <a:off x="927100" y="4089400"/>
            <a:ext cx="16510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980">
                <a:solidFill>
                  <a:srgbClr val="0B2F55"/>
                </a:solidFill>
                <a:latin typeface="Microsoft YaHei UI"/>
                <a:ea typeface="Microsoft YaHei UI"/>
              </a:rPr>
              <a:t>clone / fork / execve / wait4</a:t>
            </a:r>
            <a:endParaRPr lang="zh-CN" altLang="en-US" sz="980">
              <a:solidFill>
                <a:srgbClr val="0B2F55"/>
              </a:solidFill>
              <a:latin typeface="Microsoft YaHei UI"/>
              <a:ea typeface="Microsoft YaHei UI"/>
            </a:endParaRP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7E517C33-4704-4125-A5E3-F25E9A23C80C}"/>
              </a:ext>
            </a:extLst>
          </p:cNvPr>
          <p:cNvSpPr/>
          <p:nvPr/>
        </p:nvSpPr>
        <p:spPr>
          <a:xfrm>
            <a:off x="2921000" y="3556000"/>
            <a:ext cx="2032000" cy="1041400"/>
          </a:xfrm>
          <a:prstGeom prst="rect">
            <a:avLst/>
          </a:prstGeom>
          <a:solidFill>
            <a:srgbClr val="F7FAFF"/>
          </a:solidFill>
          <a:ln w="12700" cap="flat" cmpd="sng" algn="ctr">
            <a:solidFill>
              <a:srgbClr val="D6E1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3A074E8A-B10A-426C-8486-4D9C6B6BC44E}"/>
              </a:ext>
            </a:extLst>
          </p:cNvPr>
          <p:cNvSpPr/>
          <p:nvPr/>
        </p:nvSpPr>
        <p:spPr>
          <a:xfrm>
            <a:off x="2921000" y="3556000"/>
            <a:ext cx="63500" cy="1041400"/>
          </a:xfrm>
          <a:prstGeom prst="rect">
            <a:avLst/>
          </a:prstGeom>
          <a:solidFill>
            <a:srgbClr val="2FA3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336E7D53-1379-49B4-9960-97D2A77D0F62}"/>
              </a:ext>
            </a:extLst>
          </p:cNvPr>
          <p:cNvSpPr txBox="1"/>
          <p:nvPr/>
        </p:nvSpPr>
        <p:spPr>
          <a:xfrm>
            <a:off x="3111500" y="3733800"/>
            <a:ext cx="1651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150" b="1">
                <a:solidFill>
                  <a:srgbClr val="0B2F55"/>
                </a:solidFill>
                <a:latin typeface="Microsoft YaHei UI"/>
                <a:ea typeface="Microsoft YaHei UI"/>
              </a:rPr>
              <a:t>文件系统</a:t>
            </a: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5FDF3369-890F-41AF-B8DE-E494E5917645}"/>
              </a:ext>
            </a:extLst>
          </p:cNvPr>
          <p:cNvSpPr txBox="1"/>
          <p:nvPr/>
        </p:nvSpPr>
        <p:spPr>
          <a:xfrm>
            <a:off x="3111500" y="4089400"/>
            <a:ext cx="16510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980">
                <a:solidFill>
                  <a:srgbClr val="0B2F55"/>
                </a:solidFill>
                <a:latin typeface="Microsoft YaHei UI"/>
                <a:ea typeface="Microsoft YaHei UI"/>
              </a:rPr>
              <a:t>open / stat / link / mount / xattr</a:t>
            </a:r>
            <a:endParaRPr lang="zh-CN" altLang="en-US" sz="980">
              <a:solidFill>
                <a:srgbClr val="0B2F55"/>
              </a:solidFill>
              <a:latin typeface="Microsoft YaHei UI"/>
              <a:ea typeface="Microsoft YaHei UI"/>
            </a:endParaRP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34D51E4E-22A5-4AF9-B26B-AB927053F38D}"/>
              </a:ext>
            </a:extLst>
          </p:cNvPr>
          <p:cNvSpPr/>
          <p:nvPr/>
        </p:nvSpPr>
        <p:spPr>
          <a:xfrm>
            <a:off x="5105400" y="3556000"/>
            <a:ext cx="2032000" cy="1041400"/>
          </a:xfrm>
          <a:prstGeom prst="rect">
            <a:avLst/>
          </a:prstGeom>
          <a:solidFill>
            <a:srgbClr val="F7FAFF"/>
          </a:solidFill>
          <a:ln w="12700" cap="flat" cmpd="sng" algn="ctr">
            <a:solidFill>
              <a:srgbClr val="D6E1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BBADE482-022D-4BB8-BA35-0B1B4ABC2BA1}"/>
              </a:ext>
            </a:extLst>
          </p:cNvPr>
          <p:cNvSpPr/>
          <p:nvPr/>
        </p:nvSpPr>
        <p:spPr>
          <a:xfrm>
            <a:off x="5105400" y="3556000"/>
            <a:ext cx="63500" cy="1041400"/>
          </a:xfrm>
          <a:prstGeom prst="rect">
            <a:avLst/>
          </a:prstGeom>
          <a:solidFill>
            <a:srgbClr val="F39A2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4EE2BA81-DDF9-423E-8F88-A153A28CEDE1}"/>
              </a:ext>
            </a:extLst>
          </p:cNvPr>
          <p:cNvSpPr txBox="1"/>
          <p:nvPr/>
        </p:nvSpPr>
        <p:spPr>
          <a:xfrm>
            <a:off x="5295900" y="3733800"/>
            <a:ext cx="1651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150" b="1">
                <a:solidFill>
                  <a:srgbClr val="0B2F55"/>
                </a:solidFill>
                <a:latin typeface="Microsoft YaHei UI"/>
                <a:ea typeface="Microsoft YaHei UI"/>
              </a:rPr>
              <a:t>内存</a:t>
            </a: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0491D742-E4A3-40DF-AA0B-FD25E27BD700}"/>
              </a:ext>
            </a:extLst>
          </p:cNvPr>
          <p:cNvSpPr txBox="1"/>
          <p:nvPr/>
        </p:nvSpPr>
        <p:spPr>
          <a:xfrm>
            <a:off x="5295900" y="4089400"/>
            <a:ext cx="16510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980">
                <a:solidFill>
                  <a:srgbClr val="0B2F55"/>
                </a:solidFill>
                <a:latin typeface="Microsoft YaHei UI"/>
                <a:ea typeface="Microsoft YaHei UI"/>
              </a:rPr>
              <a:t>mmap / mprotect / CoW / MAP_SHARED</a:t>
            </a:r>
            <a:endParaRPr lang="zh-CN" altLang="en-US" sz="980">
              <a:solidFill>
                <a:srgbClr val="0B2F55"/>
              </a:solidFill>
              <a:latin typeface="Microsoft YaHei UI"/>
              <a:ea typeface="Microsoft YaHei UI"/>
            </a:endParaRPr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10A2BBAB-CDE8-4F60-9996-BF67389747BE}"/>
              </a:ext>
            </a:extLst>
          </p:cNvPr>
          <p:cNvSpPr/>
          <p:nvPr/>
        </p:nvSpPr>
        <p:spPr>
          <a:xfrm>
            <a:off x="7289800" y="3556000"/>
            <a:ext cx="2032000" cy="1041400"/>
          </a:xfrm>
          <a:prstGeom prst="rect">
            <a:avLst/>
          </a:prstGeom>
          <a:solidFill>
            <a:srgbClr val="F7FAFF"/>
          </a:solidFill>
          <a:ln w="12700" cap="flat" cmpd="sng" algn="ctr">
            <a:solidFill>
              <a:srgbClr val="D6E1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FAC4E438-FACB-46BD-ACF8-37ADC12C0B15}"/>
              </a:ext>
            </a:extLst>
          </p:cNvPr>
          <p:cNvSpPr/>
          <p:nvPr/>
        </p:nvSpPr>
        <p:spPr>
          <a:xfrm>
            <a:off x="7289800" y="3556000"/>
            <a:ext cx="63500" cy="1041400"/>
          </a:xfrm>
          <a:prstGeom prst="rect">
            <a:avLst/>
          </a:prstGeom>
          <a:solidFill>
            <a:srgbClr val="3F70B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D696DF84-7EC9-4305-81BB-47F8E360364C}"/>
              </a:ext>
            </a:extLst>
          </p:cNvPr>
          <p:cNvSpPr txBox="1"/>
          <p:nvPr/>
        </p:nvSpPr>
        <p:spPr>
          <a:xfrm>
            <a:off x="7480300" y="3733800"/>
            <a:ext cx="1651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150" b="1">
                <a:solidFill>
                  <a:srgbClr val="0B2F55"/>
                </a:solidFill>
                <a:latin typeface="Microsoft YaHei UI"/>
                <a:ea typeface="Microsoft YaHei UI"/>
              </a:rPr>
              <a:t>网络</a:t>
            </a: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AF9F9458-0417-4883-9F51-9BE97B723698}"/>
              </a:ext>
            </a:extLst>
          </p:cNvPr>
          <p:cNvSpPr txBox="1"/>
          <p:nvPr/>
        </p:nvSpPr>
        <p:spPr>
          <a:xfrm>
            <a:off x="7480300" y="4089400"/>
            <a:ext cx="16510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980">
                <a:solidFill>
                  <a:srgbClr val="0B2F55"/>
                </a:solidFill>
                <a:latin typeface="Microsoft YaHei UI"/>
                <a:ea typeface="Microsoft YaHei UI"/>
              </a:rPr>
              <a:t>socket / bind / connect / send/recv</a:t>
            </a:r>
            <a:endParaRPr lang="zh-CN" altLang="en-US" sz="980">
              <a:solidFill>
                <a:srgbClr val="0B2F55"/>
              </a:solidFill>
              <a:latin typeface="Microsoft YaHei UI"/>
              <a:ea typeface="Microsoft YaHei UI"/>
            </a:endParaRPr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13E10971-85C6-477A-B813-E8DC7FBDFD73}"/>
              </a:ext>
            </a:extLst>
          </p:cNvPr>
          <p:cNvSpPr/>
          <p:nvPr/>
        </p:nvSpPr>
        <p:spPr>
          <a:xfrm>
            <a:off x="9474200" y="3556000"/>
            <a:ext cx="2032000" cy="1041400"/>
          </a:xfrm>
          <a:prstGeom prst="rect">
            <a:avLst/>
          </a:prstGeom>
          <a:solidFill>
            <a:srgbClr val="F7FAFF"/>
          </a:solidFill>
          <a:ln w="12700" cap="flat" cmpd="sng" algn="ctr">
            <a:solidFill>
              <a:srgbClr val="D6E1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B0F5AC80-FEDD-431F-960F-8556E49AFC5E}"/>
              </a:ext>
            </a:extLst>
          </p:cNvPr>
          <p:cNvSpPr/>
          <p:nvPr/>
        </p:nvSpPr>
        <p:spPr>
          <a:xfrm>
            <a:off x="9474200" y="3556000"/>
            <a:ext cx="63500" cy="1041400"/>
          </a:xfrm>
          <a:prstGeom prst="rect">
            <a:avLst/>
          </a:prstGeom>
          <a:solidFill>
            <a:srgbClr val="D94A4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61DFE566-7836-4365-8C2B-D8333F0C10D4}"/>
              </a:ext>
            </a:extLst>
          </p:cNvPr>
          <p:cNvSpPr txBox="1"/>
          <p:nvPr/>
        </p:nvSpPr>
        <p:spPr>
          <a:xfrm>
            <a:off x="9664700" y="3733800"/>
            <a:ext cx="1651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1150" b="1">
                <a:solidFill>
                  <a:srgbClr val="0B2F55"/>
                </a:solidFill>
                <a:latin typeface="Microsoft YaHei UI"/>
                <a:ea typeface="Microsoft YaHei UI"/>
              </a:rPr>
              <a:t>IPC / </a:t>
            </a:r>
            <a:r>
              <a:rPr lang="zh-CN" altLang="en-US" sz="1150" b="1">
                <a:solidFill>
                  <a:srgbClr val="0B2F55"/>
                </a:solidFill>
                <a:latin typeface="Microsoft YaHei UI"/>
                <a:ea typeface="Microsoft YaHei UI"/>
              </a:rPr>
              <a:t>事件</a:t>
            </a:r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FF6627E0-5A13-425E-9C9E-2A84D47A60E4}"/>
              </a:ext>
            </a:extLst>
          </p:cNvPr>
          <p:cNvSpPr txBox="1"/>
          <p:nvPr/>
        </p:nvSpPr>
        <p:spPr>
          <a:xfrm>
            <a:off x="9664700" y="4089400"/>
            <a:ext cx="16510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980">
                <a:solidFill>
                  <a:srgbClr val="0B2F55"/>
                </a:solidFill>
                <a:latin typeface="Microsoft YaHei UI"/>
                <a:ea typeface="Microsoft YaHei UI"/>
              </a:rPr>
              <a:t>futex / SysV / epoll / timerfd</a:t>
            </a:r>
            <a:endParaRPr lang="zh-CN" altLang="en-US" sz="980">
              <a:solidFill>
                <a:srgbClr val="0B2F55"/>
              </a:solidFill>
              <a:latin typeface="Microsoft YaHei UI"/>
              <a:ea typeface="Microsoft YaHei UI"/>
            </a:endParaRPr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0A684A8F-4CDA-4160-A609-48BFFDCF5B1A}"/>
              </a:ext>
            </a:extLst>
          </p:cNvPr>
          <p:cNvSpPr/>
          <p:nvPr/>
        </p:nvSpPr>
        <p:spPr>
          <a:xfrm>
            <a:off x="914400" y="4953000"/>
            <a:ext cx="10414000" cy="5334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6E1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F47B76F3-F7BC-4734-9074-5C68F797833D}"/>
              </a:ext>
            </a:extLst>
          </p:cNvPr>
          <p:cNvSpPr/>
          <p:nvPr/>
        </p:nvSpPr>
        <p:spPr>
          <a:xfrm>
            <a:off x="914400" y="4953000"/>
            <a:ext cx="63500" cy="533400"/>
          </a:xfrm>
          <a:prstGeom prst="rect">
            <a:avLst/>
          </a:prstGeom>
          <a:solidFill>
            <a:srgbClr val="3F70B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7A72BCA7-B62D-4D9B-8231-5007D73A51CE}"/>
              </a:ext>
            </a:extLst>
          </p:cNvPr>
          <p:cNvSpPr txBox="1"/>
          <p:nvPr/>
        </p:nvSpPr>
        <p:spPr>
          <a:xfrm>
            <a:off x="1168400" y="5105400"/>
            <a:ext cx="9906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1050" b="1">
                <a:solidFill>
                  <a:srgbClr val="0B2F55"/>
                </a:solidFill>
                <a:latin typeface="Arial"/>
                <a:cs typeface="Arial"/>
              </a:rPr>
              <a:t>os_test.conf </a:t>
            </a:r>
            <a:r>
              <a:rPr lang="zh-CN" altLang="en-US" sz="1050" b="1">
                <a:solidFill>
                  <a:srgbClr val="0B2F55"/>
                </a:solidFill>
                <a:latin typeface="Arial"/>
                <a:cs typeface="Arial"/>
              </a:rPr>
              <a:t>当前：</a:t>
            </a:r>
            <a:r>
              <a:rPr lang="en-US" altLang="zh-CN" sz="1050" b="1">
                <a:solidFill>
                  <a:srgbClr val="0B2F55"/>
                </a:solidFill>
                <a:latin typeface="Arial"/>
                <a:cs typeface="Arial"/>
              </a:rPr>
              <a:t>mode=run · mask=0xFFF · ltp_runner=suite · ltp_libc=both · suites=fs_bind,syscalls</a:t>
            </a:r>
            <a:endParaRPr lang="zh-CN" altLang="en-US" sz="1050" b="1">
              <a:solidFill>
                <a:srgbClr val="0B2F55"/>
              </a:solidFill>
              <a:latin typeface="Arial"/>
              <a:cs typeface="Arial"/>
            </a:endParaRPr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1DE506A1-CA18-43C4-943D-19827F0C62CC}"/>
              </a:ext>
            </a:extLst>
          </p:cNvPr>
          <p:cNvSpPr txBox="1"/>
          <p:nvPr/>
        </p:nvSpPr>
        <p:spPr>
          <a:xfrm>
            <a:off x="1219200" y="5715000"/>
            <a:ext cx="965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150">
                <a:solidFill>
                  <a:srgbClr val="0B2F55"/>
                </a:solidFill>
                <a:latin typeface="Microsoft YaHei UI"/>
                <a:ea typeface="Microsoft YaHei UI"/>
              </a:rPr>
              <a:t>守门规则：新增修复进入 </a:t>
            </a:r>
            <a:r>
              <a:rPr lang="en-US" altLang="zh-CN" sz="1150">
                <a:solidFill>
                  <a:srgbClr val="0B2F55"/>
                </a:solidFill>
                <a:latin typeface="Microsoft YaHei UI"/>
                <a:ea typeface="Microsoft YaHei UI"/>
              </a:rPr>
              <a:t>family </a:t>
            </a:r>
            <a:r>
              <a:rPr lang="zh-CN" altLang="en-US" sz="1150">
                <a:solidFill>
                  <a:srgbClr val="0B2F55"/>
                </a:solidFill>
                <a:latin typeface="Microsoft YaHei UI"/>
                <a:ea typeface="Microsoft YaHei UI"/>
              </a:rPr>
              <a:t>回归；已 </a:t>
            </a:r>
            <a:r>
              <a:rPr lang="en-US" altLang="zh-CN" sz="1150">
                <a:solidFill>
                  <a:srgbClr val="0B2F55"/>
                </a:solidFill>
                <a:latin typeface="Microsoft YaHei UI"/>
                <a:ea typeface="Microsoft YaHei UI"/>
              </a:rPr>
              <a:t>PASS case </a:t>
            </a:r>
            <a:r>
              <a:rPr lang="zh-CN" altLang="en-US" sz="1150">
                <a:solidFill>
                  <a:srgbClr val="0B2F55"/>
                </a:solidFill>
                <a:latin typeface="Microsoft YaHei UI"/>
                <a:ea typeface="Microsoft YaHei UI"/>
              </a:rPr>
              <a:t>不回退；</a:t>
            </a:r>
            <a:r>
              <a:rPr lang="en-US" altLang="zh-CN" sz="1150">
                <a:solidFill>
                  <a:srgbClr val="0B2F55"/>
                </a:solidFill>
                <a:latin typeface="Microsoft YaHei UI"/>
                <a:ea typeface="Microsoft YaHei UI"/>
              </a:rPr>
              <a:t>rv64 / la64 </a:t>
            </a:r>
            <a:r>
              <a:rPr lang="zh-CN" altLang="en-US" sz="1150">
                <a:solidFill>
                  <a:srgbClr val="0B2F55"/>
                </a:solidFill>
                <a:latin typeface="Microsoft YaHei UI"/>
                <a:ea typeface="Microsoft YaHei UI"/>
              </a:rPr>
              <a:t>分别编译检查。</a:t>
            </a:r>
          </a:p>
        </p:txBody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EB3E76A8-11A9-4169-ACAC-E9D6F705002B}"/>
              </a:ext>
            </a:extLst>
          </p:cNvPr>
          <p:cNvSpPr/>
          <p:nvPr/>
        </p:nvSpPr>
        <p:spPr>
          <a:xfrm>
            <a:off x="0" y="0"/>
            <a:ext cx="8953500" cy="990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1ABD1302-46C5-49A8-A05A-0730F73351D4}"/>
              </a:ext>
            </a:extLst>
          </p:cNvPr>
          <p:cNvSpPr/>
          <p:nvPr/>
        </p:nvSpPr>
        <p:spPr>
          <a:xfrm>
            <a:off x="254000" y="330200"/>
            <a:ext cx="88900" cy="431800"/>
          </a:xfrm>
          <a:prstGeom prst="rect">
            <a:avLst/>
          </a:prstGeom>
          <a:solidFill>
            <a:srgbClr val="3F70B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5E2CCE39-E2DD-4FB4-8A98-62FF26ABB139}"/>
              </a:ext>
            </a:extLst>
          </p:cNvPr>
          <p:cNvSpPr/>
          <p:nvPr/>
        </p:nvSpPr>
        <p:spPr>
          <a:xfrm>
            <a:off x="254000" y="838200"/>
            <a:ext cx="8763000" cy="17780"/>
          </a:xfrm>
          <a:prstGeom prst="rect">
            <a:avLst/>
          </a:prstGeom>
          <a:solidFill>
            <a:srgbClr val="3F70B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A6E0659D-9666-4475-B3BD-A6F1E139CEED}"/>
              </a:ext>
            </a:extLst>
          </p:cNvPr>
          <p:cNvSpPr txBox="1"/>
          <p:nvPr/>
        </p:nvSpPr>
        <p:spPr>
          <a:xfrm>
            <a:off x="711200" y="279400"/>
            <a:ext cx="8064500" cy="3556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spAutoFit/>
          </a:bodyPr>
          <a:lstStyle/>
          <a:p>
            <a:pPr algn="l"/>
            <a:r>
              <a:rPr lang="zh-CN" altLang="en-US" b="1">
                <a:solidFill>
                  <a:srgbClr val="3F70B7"/>
                </a:solidFill>
                <a:latin typeface="Microsoft YaHei UI"/>
                <a:ea typeface="Microsoft YaHei UI"/>
              </a:rPr>
              <a:t>测试闭环：分组扫描、配置回归、双架构守门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097425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王湘浩楼"/>
          <p:cNvPicPr>
            <a:picLocks noChangeAspect="1"/>
          </p:cNvPicPr>
          <p:nvPr/>
        </p:nvPicPr>
        <p:blipFill>
          <a:blip r:embed="rId3">
            <a:alphaModFix amt="36000"/>
          </a:blip>
          <a:srcRect l="4998" t="42898" r="5103"/>
          <a:stretch>
            <a:fillRect/>
          </a:stretch>
        </p:blipFill>
        <p:spPr>
          <a:xfrm>
            <a:off x="-118110" y="4234180"/>
            <a:ext cx="12310110" cy="270446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8" name="矩形 17"/>
          <p:cNvSpPr/>
          <p:nvPr/>
        </p:nvSpPr>
        <p:spPr>
          <a:xfrm>
            <a:off x="0" y="0"/>
            <a:ext cx="12192000" cy="6938010"/>
          </a:xfrm>
          <a:prstGeom prst="rect">
            <a:avLst/>
          </a:prstGeom>
          <a:gradFill>
            <a:gsLst>
              <a:gs pos="42000">
                <a:schemeClr val="bg1">
                  <a:alpha val="83000"/>
                </a:schemeClr>
              </a:gs>
              <a:gs pos="100000">
                <a:schemeClr val="bg1">
                  <a:alpha val="90000"/>
                </a:schemeClr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br>
              <a:rPr lang="zh-CN" altLang="en-US" sz="1200" dirty="0">
                <a:sym typeface="+mn-ea"/>
              </a:rPr>
            </a:br>
            <a:r>
              <a:rPr lang="zh-CN" altLang="en-US" sz="1200" dirty="0">
                <a:sym typeface="+mn-ea"/>
              </a:rPr>
              <a:t>数据洪流与</a:t>
            </a:r>
            <a:r>
              <a:rPr lang="en-US" altLang="zh-CN" sz="1200" dirty="0">
                <a:sym typeface="+mn-ea"/>
              </a:rPr>
              <a:t>AI</a:t>
            </a:r>
            <a:r>
              <a:rPr lang="zh-CN" altLang="en-US" sz="1200" dirty="0">
                <a:sym typeface="+mn-ea"/>
              </a:rPr>
              <a:t>的</a:t>
            </a:r>
            <a:br>
              <a:rPr lang="zh-CN" altLang="en-US" sz="1200" dirty="0">
                <a:sym typeface="+mn-ea"/>
              </a:rPr>
            </a:br>
            <a:r>
              <a:rPr lang="zh-CN" altLang="en-US" sz="1200" dirty="0">
                <a:sym typeface="+mn-ea"/>
              </a:rPr>
              <a:t>变革性影响</a:t>
            </a:r>
            <a:endParaRPr lang="en-US" sz="1200"/>
          </a:p>
        </p:txBody>
      </p:sp>
      <p:sp>
        <p:nvSpPr>
          <p:cNvPr id="4" name="标题"/>
          <p:cNvSpPr>
            <a:spLocks noGrp="1"/>
          </p:cNvSpPr>
          <p:nvPr/>
        </p:nvSpPr>
        <p:spPr>
          <a:xfrm>
            <a:off x="3121025" y="2167890"/>
            <a:ext cx="8462645" cy="212725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30000"/>
              </a:lnSpc>
            </a:pPr>
            <a:br>
              <a:rPr lang="zh-CN" altLang="en-US" sz="40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40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部分实现细节</a:t>
            </a:r>
          </a:p>
          <a:p>
            <a:pPr algn="ctr">
              <a:lnSpc>
                <a:spcPct val="130000"/>
              </a:lnSpc>
            </a:pPr>
            <a:r>
              <a:rPr lang="zh-CN" altLang="en-US" sz="40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核心机制与子系统架构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780540" y="2372995"/>
            <a:ext cx="2261870" cy="1861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558017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001"/>
          <p:cNvPicPr>
            <a:picLocks noChangeAspect="1"/>
          </p:cNvPicPr>
          <p:nvPr/>
        </p:nvPicPr>
        <p:blipFill>
          <a:blip r:embed="rId3"/>
          <a:srcRect l="5389" t="37981" r="4352" b="38194"/>
          <a:stretch>
            <a:fillRect/>
          </a:stretch>
        </p:blipFill>
        <p:spPr>
          <a:xfrm>
            <a:off x="9106535" y="123825"/>
            <a:ext cx="2757805" cy="728345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797B7118-62CF-455C-8F75-9113256796E9}"/>
              </a:ext>
            </a:extLst>
          </p:cNvPr>
          <p:cNvSpPr txBox="1"/>
          <p:nvPr/>
        </p:nvSpPr>
        <p:spPr>
          <a:xfrm>
            <a:off x="736600" y="1143000"/>
            <a:ext cx="10414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zh-CN" altLang="en-US" sz="1500" b="1">
                <a:solidFill>
                  <a:srgbClr val="0B2F55"/>
                </a:solidFill>
                <a:latin typeface="Microsoft YaHei"/>
                <a:ea typeface="Microsoft YaHei"/>
              </a:rPr>
              <a:t>架构相关代码只处理启动、</a:t>
            </a:r>
            <a:r>
              <a:rPr lang="en-US" altLang="zh-CN" sz="1500" b="1">
                <a:solidFill>
                  <a:srgbClr val="0B2F55"/>
                </a:solidFill>
                <a:latin typeface="Microsoft YaHei"/>
                <a:ea typeface="Microsoft YaHei"/>
              </a:rPr>
              <a:t>Trap/TLB </a:t>
            </a:r>
            <a:r>
              <a:rPr lang="zh-CN" altLang="en-US" sz="1500" b="1">
                <a:solidFill>
                  <a:srgbClr val="0B2F55"/>
                </a:solidFill>
                <a:latin typeface="Microsoft YaHei"/>
                <a:ea typeface="Microsoft YaHei"/>
              </a:rPr>
              <a:t>与工具链；上层 </a:t>
            </a:r>
            <a:r>
              <a:rPr lang="en-US" altLang="zh-CN" sz="1500" b="1">
                <a:solidFill>
                  <a:srgbClr val="0B2F55"/>
                </a:solidFill>
                <a:latin typeface="Microsoft YaHei"/>
                <a:ea typeface="Microsoft YaHei"/>
              </a:rPr>
              <a:t>syscall</a:t>
            </a:r>
            <a:r>
              <a:rPr lang="zh-CN" altLang="en-US" sz="1500" b="1">
                <a:solidFill>
                  <a:srgbClr val="0B2F55"/>
                </a:solidFill>
                <a:latin typeface="Microsoft YaHei"/>
                <a:ea typeface="Microsoft YaHei"/>
              </a:rPr>
              <a:t>、</a:t>
            </a:r>
            <a:r>
              <a:rPr lang="en-US" altLang="zh-CN" sz="1500" b="1">
                <a:solidFill>
                  <a:srgbClr val="0B2F55"/>
                </a:solidFill>
                <a:latin typeface="Microsoft YaHei"/>
                <a:ea typeface="Microsoft YaHei"/>
              </a:rPr>
              <a:t>VFS</a:t>
            </a:r>
            <a:r>
              <a:rPr lang="zh-CN" altLang="en-US" sz="1500" b="1">
                <a:solidFill>
                  <a:srgbClr val="0B2F55"/>
                </a:solidFill>
                <a:latin typeface="Microsoft YaHei"/>
                <a:ea typeface="Microsoft YaHei"/>
              </a:rPr>
              <a:t>、网络和测试尽量复用。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8FB521E-4E9E-45D2-A1FB-D40183699141}"/>
              </a:ext>
            </a:extLst>
          </p:cNvPr>
          <p:cNvSpPr/>
          <p:nvPr/>
        </p:nvSpPr>
        <p:spPr>
          <a:xfrm>
            <a:off x="914400" y="1905000"/>
            <a:ext cx="4445000" cy="15875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9E3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ADE6CFD-5A36-49B0-9962-190522CCBDBE}"/>
              </a:ext>
            </a:extLst>
          </p:cNvPr>
          <p:cNvSpPr/>
          <p:nvPr/>
        </p:nvSpPr>
        <p:spPr>
          <a:xfrm>
            <a:off x="914400" y="1905000"/>
            <a:ext cx="63500" cy="1587500"/>
          </a:xfrm>
          <a:prstGeom prst="rect">
            <a:avLst/>
          </a:prstGeom>
          <a:solidFill>
            <a:srgbClr val="4A76D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2842F2C6-8C66-4C9C-8A12-8A987DE88574}"/>
              </a:ext>
            </a:extLst>
          </p:cNvPr>
          <p:cNvSpPr/>
          <p:nvPr/>
        </p:nvSpPr>
        <p:spPr>
          <a:xfrm>
            <a:off x="1092200" y="2082800"/>
            <a:ext cx="558800" cy="330200"/>
          </a:xfrm>
          <a:prstGeom prst="roundRect">
            <a:avLst/>
          </a:prstGeom>
          <a:solidFill>
            <a:srgbClr val="4A76D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altLang="zh-CN" sz="1000" b="1">
                <a:solidFill>
                  <a:srgbClr val="FFFFFF"/>
                </a:solidFill>
                <a:latin typeface="Microsoft YaHei"/>
                <a:ea typeface="Microsoft YaHei"/>
              </a:rPr>
              <a:t>RV</a:t>
            </a:r>
            <a:endParaRPr lang="zh-CN" altLang="en-US" sz="1000" b="1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C1A4E96-F9C1-43DA-8C0F-4D93F2451759}"/>
              </a:ext>
            </a:extLst>
          </p:cNvPr>
          <p:cNvSpPr txBox="1"/>
          <p:nvPr/>
        </p:nvSpPr>
        <p:spPr>
          <a:xfrm>
            <a:off x="1778000" y="2095500"/>
            <a:ext cx="34036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altLang="zh-CN" sz="1320" b="1">
                <a:solidFill>
                  <a:srgbClr val="123B67"/>
                </a:solidFill>
                <a:latin typeface="Microsoft YaHei"/>
                <a:ea typeface="Microsoft YaHei"/>
              </a:rPr>
              <a:t>RISC-V64 </a:t>
            </a:r>
            <a:r>
              <a:rPr lang="zh-CN" altLang="en-US" sz="1320" b="1">
                <a:solidFill>
                  <a:srgbClr val="123B67"/>
                </a:solidFill>
                <a:latin typeface="Microsoft YaHei"/>
                <a:ea typeface="Microsoft YaHei"/>
              </a:rPr>
              <a:t>路径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3F85D7F-B62D-4A62-877D-0211FB09A8EE}"/>
              </a:ext>
            </a:extLst>
          </p:cNvPr>
          <p:cNvSpPr txBox="1"/>
          <p:nvPr/>
        </p:nvSpPr>
        <p:spPr>
          <a:xfrm>
            <a:off x="1143000" y="2514600"/>
            <a:ext cx="4064000" cy="8509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altLang="zh-CN" sz="1020">
                <a:solidFill>
                  <a:srgbClr val="5F6B7A"/>
                </a:solidFill>
                <a:latin typeface="Microsoft YaHei"/>
                <a:ea typeface="Microsoft YaHei"/>
              </a:rPr>
              <a:t>OpenSBI </a:t>
            </a:r>
            <a:r>
              <a:rPr lang="zh-CN" altLang="en-US" sz="1020">
                <a:solidFill>
                  <a:srgbClr val="5F6B7A"/>
                </a:solidFill>
                <a:latin typeface="Microsoft YaHei"/>
                <a:ea typeface="Microsoft YaHei"/>
              </a:rPr>
              <a:t>进入 </a:t>
            </a:r>
            <a:r>
              <a:rPr lang="en-US" altLang="zh-CN" sz="1020">
                <a:solidFill>
                  <a:srgbClr val="5F6B7A"/>
                </a:solidFill>
                <a:latin typeface="Microsoft YaHei"/>
                <a:ea typeface="Microsoft YaHei"/>
              </a:rPr>
              <a:t>S-mode</a:t>
            </a:r>
            <a:r>
              <a:rPr lang="zh-CN" altLang="en-US" sz="1020">
                <a:solidFill>
                  <a:srgbClr val="5F6B7A"/>
                </a:solidFill>
                <a:latin typeface="Microsoft YaHei"/>
                <a:ea typeface="Microsoft YaHei"/>
              </a:rPr>
              <a:t>；</a:t>
            </a:r>
            <a:r>
              <a:rPr lang="en-US" altLang="zh-CN" sz="1020">
                <a:solidFill>
                  <a:srgbClr val="5F6B7A"/>
                </a:solidFill>
                <a:latin typeface="Microsoft YaHei"/>
                <a:ea typeface="Microsoft YaHei"/>
              </a:rPr>
              <a:t>SV39 </a:t>
            </a:r>
            <a:r>
              <a:rPr lang="zh-CN" altLang="en-US" sz="1020">
                <a:solidFill>
                  <a:srgbClr val="5F6B7A"/>
                </a:solidFill>
                <a:latin typeface="Microsoft YaHei"/>
                <a:ea typeface="Microsoft YaHei"/>
              </a:rPr>
              <a:t>页表与 </a:t>
            </a:r>
            <a:r>
              <a:rPr lang="en-US" altLang="zh-CN" sz="1020">
                <a:solidFill>
                  <a:srgbClr val="5F6B7A"/>
                </a:solidFill>
                <a:latin typeface="Microsoft YaHei"/>
                <a:ea typeface="Microsoft YaHei"/>
              </a:rPr>
              <a:t>sfence.vma </a:t>
            </a:r>
            <a:r>
              <a:rPr lang="zh-CN" altLang="en-US" sz="1020">
                <a:solidFill>
                  <a:srgbClr val="5F6B7A"/>
                </a:solidFill>
                <a:latin typeface="Microsoft YaHei"/>
                <a:ea typeface="Microsoft YaHei"/>
              </a:rPr>
              <a:t>刷新；独立 </a:t>
            </a:r>
            <a:r>
              <a:rPr lang="en-US" altLang="zh-CN" sz="1020">
                <a:solidFill>
                  <a:srgbClr val="5F6B7A"/>
                </a:solidFill>
                <a:latin typeface="Microsoft YaHei"/>
                <a:ea typeface="Microsoft YaHei"/>
              </a:rPr>
              <a:t>rv64 nightly </a:t>
            </a:r>
            <a:r>
              <a:rPr lang="zh-CN" altLang="en-US" sz="1020">
                <a:solidFill>
                  <a:srgbClr val="5F6B7A"/>
                </a:solidFill>
                <a:latin typeface="Microsoft YaHei"/>
                <a:ea typeface="Microsoft YaHei"/>
              </a:rPr>
              <a:t>工具链。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A67FEB1-C1E0-4F7A-847B-AD7CA8AE33CA}"/>
              </a:ext>
            </a:extLst>
          </p:cNvPr>
          <p:cNvSpPr/>
          <p:nvPr/>
        </p:nvSpPr>
        <p:spPr>
          <a:xfrm>
            <a:off x="6832600" y="1905000"/>
            <a:ext cx="4445000" cy="15875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9E3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904782E-15A7-46BF-B37A-8188788A0BE7}"/>
              </a:ext>
            </a:extLst>
          </p:cNvPr>
          <p:cNvSpPr/>
          <p:nvPr/>
        </p:nvSpPr>
        <p:spPr>
          <a:xfrm>
            <a:off x="6832600" y="1905000"/>
            <a:ext cx="63500" cy="1587500"/>
          </a:xfrm>
          <a:prstGeom prst="rect">
            <a:avLst/>
          </a:prstGeom>
          <a:solidFill>
            <a:srgbClr val="31A16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B5BA71EB-ACA1-45A2-9852-3B100BF0F961}"/>
              </a:ext>
            </a:extLst>
          </p:cNvPr>
          <p:cNvSpPr/>
          <p:nvPr/>
        </p:nvSpPr>
        <p:spPr>
          <a:xfrm>
            <a:off x="7010400" y="2082800"/>
            <a:ext cx="558800" cy="330200"/>
          </a:xfrm>
          <a:prstGeom prst="roundRect">
            <a:avLst/>
          </a:prstGeom>
          <a:solidFill>
            <a:srgbClr val="31A16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altLang="zh-CN" sz="1000" b="1">
                <a:solidFill>
                  <a:srgbClr val="FFFFFF"/>
                </a:solidFill>
                <a:latin typeface="Microsoft YaHei"/>
                <a:ea typeface="Microsoft YaHei"/>
              </a:rPr>
              <a:t>LA</a:t>
            </a:r>
            <a:endParaRPr lang="zh-CN" altLang="en-US" sz="1000" b="1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3816503-66C2-4A63-BA43-F194E58A4190}"/>
              </a:ext>
            </a:extLst>
          </p:cNvPr>
          <p:cNvSpPr txBox="1"/>
          <p:nvPr/>
        </p:nvSpPr>
        <p:spPr>
          <a:xfrm>
            <a:off x="7696200" y="2095500"/>
            <a:ext cx="34036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altLang="zh-CN" sz="1320" b="1">
                <a:solidFill>
                  <a:srgbClr val="123B67"/>
                </a:solidFill>
                <a:latin typeface="Microsoft YaHei"/>
                <a:ea typeface="Microsoft YaHei"/>
              </a:rPr>
              <a:t>LoongArch64 </a:t>
            </a:r>
            <a:r>
              <a:rPr lang="zh-CN" altLang="en-US" sz="1320" b="1">
                <a:solidFill>
                  <a:srgbClr val="123B67"/>
                </a:solidFill>
                <a:latin typeface="Microsoft YaHei"/>
                <a:ea typeface="Microsoft YaHei"/>
              </a:rPr>
              <a:t>路径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997F9EB-DF05-40F4-8190-D7B2FD7AA715}"/>
              </a:ext>
            </a:extLst>
          </p:cNvPr>
          <p:cNvSpPr txBox="1"/>
          <p:nvPr/>
        </p:nvSpPr>
        <p:spPr>
          <a:xfrm>
            <a:off x="7061200" y="2514600"/>
            <a:ext cx="4064000" cy="8509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zh-CN" altLang="en-US" sz="1020">
                <a:solidFill>
                  <a:srgbClr val="5F6B7A"/>
                </a:solidFill>
                <a:latin typeface="Microsoft YaHei"/>
                <a:ea typeface="Microsoft YaHei"/>
              </a:rPr>
              <a:t>架构入口、</a:t>
            </a:r>
            <a:r>
              <a:rPr lang="en-US" altLang="zh-CN" sz="1020">
                <a:solidFill>
                  <a:srgbClr val="5F6B7A"/>
                </a:solidFill>
                <a:latin typeface="Microsoft YaHei"/>
                <a:ea typeface="Microsoft YaHei"/>
              </a:rPr>
              <a:t>trap/tlb </a:t>
            </a:r>
            <a:r>
              <a:rPr lang="zh-CN" altLang="en-US" sz="1020">
                <a:solidFill>
                  <a:srgbClr val="5F6B7A"/>
                </a:solidFill>
                <a:latin typeface="Microsoft YaHei"/>
                <a:ea typeface="Microsoft YaHei"/>
              </a:rPr>
              <a:t>差异由 </a:t>
            </a:r>
            <a:r>
              <a:rPr lang="en-US" altLang="zh-CN" sz="1020">
                <a:solidFill>
                  <a:srgbClr val="5F6B7A"/>
                </a:solidFill>
                <a:latin typeface="Microsoft YaHei"/>
                <a:ea typeface="Microsoft YaHei"/>
              </a:rPr>
              <a:t>HAL </a:t>
            </a:r>
            <a:r>
              <a:rPr lang="zh-CN" altLang="en-US" sz="1020">
                <a:solidFill>
                  <a:srgbClr val="5F6B7A"/>
                </a:solidFill>
                <a:latin typeface="Microsoft YaHei"/>
                <a:ea typeface="Microsoft YaHei"/>
              </a:rPr>
              <a:t>承担；</a:t>
            </a:r>
            <a:r>
              <a:rPr lang="en-US" altLang="zh-CN" sz="1020">
                <a:solidFill>
                  <a:srgbClr val="5F6B7A"/>
                </a:solidFill>
                <a:latin typeface="Microsoft YaHei"/>
                <a:ea typeface="Microsoft YaHei"/>
              </a:rPr>
              <a:t>invtlb </a:t>
            </a:r>
            <a:r>
              <a:rPr lang="zh-CN" altLang="en-US" sz="1020">
                <a:solidFill>
                  <a:srgbClr val="5F6B7A"/>
                </a:solidFill>
                <a:latin typeface="Microsoft YaHei"/>
                <a:ea typeface="Microsoft YaHei"/>
              </a:rPr>
              <a:t>刷新语义封装；独立 </a:t>
            </a:r>
            <a:r>
              <a:rPr lang="en-US" altLang="zh-CN" sz="1020">
                <a:solidFill>
                  <a:srgbClr val="5F6B7A"/>
                </a:solidFill>
                <a:latin typeface="Microsoft YaHei"/>
                <a:ea typeface="Microsoft YaHei"/>
              </a:rPr>
              <a:t>la64 nightly </a:t>
            </a:r>
            <a:r>
              <a:rPr lang="zh-CN" altLang="en-US" sz="1020">
                <a:solidFill>
                  <a:srgbClr val="5F6B7A"/>
                </a:solidFill>
                <a:latin typeface="Microsoft YaHei"/>
                <a:ea typeface="Microsoft YaHei"/>
              </a:rPr>
              <a:t>工具链。</a:t>
            </a:r>
          </a:p>
        </p:txBody>
      </p:sp>
      <p:sp>
        <p:nvSpPr>
          <p:cNvPr id="17" name="箭头: 右 16">
            <a:extLst>
              <a:ext uri="{FF2B5EF4-FFF2-40B4-BE49-F238E27FC236}">
                <a16:creationId xmlns:a16="http://schemas.microsoft.com/office/drawing/2014/main" id="{F08F4F90-09C5-4385-A358-3D4A3CDC8EF6}"/>
              </a:ext>
            </a:extLst>
          </p:cNvPr>
          <p:cNvSpPr/>
          <p:nvPr/>
        </p:nvSpPr>
        <p:spPr>
          <a:xfrm>
            <a:off x="5143500" y="3708400"/>
            <a:ext cx="914400" cy="304800"/>
          </a:xfrm>
          <a:prstGeom prst="rightArrow">
            <a:avLst/>
          </a:prstGeom>
          <a:solidFill>
            <a:srgbClr val="D6A35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EBCC5B5-17E0-4109-BEE4-0E2A2EB0C3DC}"/>
              </a:ext>
            </a:extLst>
          </p:cNvPr>
          <p:cNvSpPr/>
          <p:nvPr/>
        </p:nvSpPr>
        <p:spPr>
          <a:xfrm>
            <a:off x="4279900" y="4089400"/>
            <a:ext cx="3619500" cy="685800"/>
          </a:xfrm>
          <a:prstGeom prst="rect">
            <a:avLst/>
          </a:prstGeom>
          <a:solidFill>
            <a:srgbClr val="F1993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altLang="zh-CN" sz="1250" b="1">
                <a:solidFill>
                  <a:srgbClr val="FFFFFF"/>
                </a:solidFill>
                <a:latin typeface="Microsoft YaHei"/>
                <a:ea typeface="Microsoft YaHei"/>
              </a:rPr>
              <a:t>hal::{ bootstrap_init, machine_init, tlb_invalidate }</a:t>
            </a:r>
            <a:endParaRPr lang="zh-CN" altLang="en-US" sz="1250" b="1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AB26BB6-4366-4D26-8781-BA342E687015}"/>
              </a:ext>
            </a:extLst>
          </p:cNvPr>
          <p:cNvSpPr/>
          <p:nvPr/>
        </p:nvSpPr>
        <p:spPr>
          <a:xfrm>
            <a:off x="1168400" y="5308600"/>
            <a:ext cx="9855200" cy="7366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9E3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46D2553-9AA6-41A7-A665-FADBDCB79F7E}"/>
              </a:ext>
            </a:extLst>
          </p:cNvPr>
          <p:cNvSpPr/>
          <p:nvPr/>
        </p:nvSpPr>
        <p:spPr>
          <a:xfrm>
            <a:off x="1168400" y="5308600"/>
            <a:ext cx="63500" cy="736600"/>
          </a:xfrm>
          <a:prstGeom prst="rect">
            <a:avLst/>
          </a:prstGeom>
          <a:solidFill>
            <a:srgbClr val="D64B4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2B1741EA-2EB6-4798-A764-45F2EAE17216}"/>
              </a:ext>
            </a:extLst>
          </p:cNvPr>
          <p:cNvSpPr/>
          <p:nvPr/>
        </p:nvSpPr>
        <p:spPr>
          <a:xfrm>
            <a:off x="1346200" y="5486400"/>
            <a:ext cx="558800" cy="330200"/>
          </a:xfrm>
          <a:prstGeom prst="roundRect">
            <a:avLst/>
          </a:prstGeom>
          <a:solidFill>
            <a:srgbClr val="D64B4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altLang="zh-CN" sz="1000" b="1">
                <a:solidFill>
                  <a:srgbClr val="FFFFFF"/>
                </a:solidFill>
                <a:latin typeface="Microsoft YaHei"/>
                <a:ea typeface="Microsoft YaHei"/>
              </a:rPr>
              <a:t>QA</a:t>
            </a:r>
            <a:endParaRPr lang="zh-CN" altLang="en-US" sz="1000" b="1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7C9FB0F-8D8C-41C0-A199-25EAAF6B3CF7}"/>
              </a:ext>
            </a:extLst>
          </p:cNvPr>
          <p:cNvSpPr txBox="1"/>
          <p:nvPr/>
        </p:nvSpPr>
        <p:spPr>
          <a:xfrm>
            <a:off x="2032000" y="5499100"/>
            <a:ext cx="88138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zh-CN" altLang="en-US" sz="1320" b="1">
                <a:solidFill>
                  <a:srgbClr val="123B67"/>
                </a:solidFill>
                <a:latin typeface="Microsoft YaHei"/>
                <a:ea typeface="Microsoft YaHei"/>
              </a:rPr>
              <a:t>质量门禁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73CC0C0-DBFB-4E32-9C98-A5954B8DED56}"/>
              </a:ext>
            </a:extLst>
          </p:cNvPr>
          <p:cNvSpPr txBox="1"/>
          <p:nvPr/>
        </p:nvSpPr>
        <p:spPr>
          <a:xfrm>
            <a:off x="1397000" y="5918200"/>
            <a:ext cx="9474200" cy="9144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zh-CN" altLang="en-US" sz="1020">
                <a:solidFill>
                  <a:srgbClr val="5F6B7A"/>
                </a:solidFill>
                <a:latin typeface="Microsoft YaHei"/>
                <a:ea typeface="Microsoft YaHei"/>
              </a:rPr>
              <a:t>每次变更分别验证 </a:t>
            </a:r>
            <a:r>
              <a:rPr lang="en-US" altLang="zh-CN" sz="1020">
                <a:solidFill>
                  <a:srgbClr val="5F6B7A"/>
                </a:solidFill>
                <a:latin typeface="Microsoft YaHei"/>
                <a:ea typeface="Microsoft YaHei"/>
              </a:rPr>
              <a:t>rv64 / la64 kernel build</a:t>
            </a:r>
            <a:r>
              <a:rPr lang="zh-CN" altLang="en-US" sz="1020">
                <a:solidFill>
                  <a:srgbClr val="5F6B7A"/>
                </a:solidFill>
                <a:latin typeface="Microsoft YaHei"/>
                <a:ea typeface="Microsoft YaHei"/>
              </a:rPr>
              <a:t>；</a:t>
            </a:r>
            <a:r>
              <a:rPr lang="en-US" altLang="zh-CN" sz="1020">
                <a:solidFill>
                  <a:srgbClr val="5F6B7A"/>
                </a:solidFill>
                <a:latin typeface="Microsoft YaHei"/>
                <a:ea typeface="Microsoft YaHei"/>
              </a:rPr>
              <a:t>Docker </a:t>
            </a:r>
            <a:r>
              <a:rPr lang="zh-CN" altLang="en-US" sz="1020">
                <a:solidFill>
                  <a:srgbClr val="5F6B7A"/>
                </a:solidFill>
                <a:latin typeface="Microsoft YaHei"/>
                <a:ea typeface="Microsoft YaHei"/>
              </a:rPr>
              <a:t>固化环境，避免宿主工具链漂移。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F39C49C1-EC7C-45C3-A568-B7BCE76F895A}"/>
              </a:ext>
            </a:extLst>
          </p:cNvPr>
          <p:cNvSpPr txBox="1"/>
          <p:nvPr/>
        </p:nvSpPr>
        <p:spPr>
          <a:xfrm>
            <a:off x="482600" y="6502400"/>
            <a:ext cx="10922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fontScale="92500" lnSpcReduction="20000"/>
          </a:bodyPr>
          <a:lstStyle/>
          <a:p>
            <a:pPr algn="l"/>
            <a:r>
              <a:rPr lang="zh-CN" altLang="en-US" sz="750">
                <a:solidFill>
                  <a:srgbClr val="8A96A8"/>
                </a:solidFill>
                <a:latin typeface="Microsoft YaHei"/>
                <a:ea typeface="Microsoft YaHei"/>
              </a:rPr>
              <a:t>依据：</a:t>
            </a:r>
            <a:r>
              <a:rPr lang="en-US" altLang="zh-CN" sz="750">
                <a:solidFill>
                  <a:srgbClr val="8A96A8"/>
                </a:solidFill>
                <a:latin typeface="Microsoft YaHei"/>
                <a:ea typeface="Microsoft YaHei"/>
              </a:rPr>
              <a:t>README </a:t>
            </a:r>
            <a:r>
              <a:rPr lang="zh-CN" altLang="en-US" sz="750">
                <a:solidFill>
                  <a:srgbClr val="8A96A8"/>
                </a:solidFill>
                <a:latin typeface="Microsoft YaHei"/>
                <a:ea typeface="Microsoft YaHei"/>
              </a:rPr>
              <a:t>架构支持与开发注意事项、</a:t>
            </a:r>
            <a:r>
              <a:rPr lang="en-US" altLang="zh-CN" sz="750">
                <a:solidFill>
                  <a:srgbClr val="8A96A8"/>
                </a:solidFill>
                <a:latin typeface="Microsoft YaHei"/>
                <a:ea typeface="Microsoft YaHei"/>
              </a:rPr>
              <a:t>Technical Report </a:t>
            </a:r>
            <a:r>
              <a:rPr lang="zh-CN" altLang="en-US" sz="750">
                <a:solidFill>
                  <a:srgbClr val="8A96A8"/>
                </a:solidFill>
                <a:latin typeface="Microsoft YaHei"/>
                <a:ea typeface="Microsoft YaHei"/>
              </a:rPr>
              <a:t>第 </a:t>
            </a:r>
            <a:r>
              <a:rPr lang="en-US" altLang="zh-CN" sz="750">
                <a:solidFill>
                  <a:srgbClr val="8A96A8"/>
                </a:solidFill>
                <a:latin typeface="Microsoft YaHei"/>
                <a:ea typeface="Microsoft YaHei"/>
              </a:rPr>
              <a:t>2/3 </a:t>
            </a:r>
            <a:r>
              <a:rPr lang="zh-CN" altLang="en-US" sz="750">
                <a:solidFill>
                  <a:srgbClr val="8A96A8"/>
                </a:solidFill>
                <a:latin typeface="Microsoft YaHei"/>
                <a:ea typeface="Microsoft YaHei"/>
              </a:rPr>
              <a:t>章、</a:t>
            </a:r>
            <a:r>
              <a:rPr lang="en-US" altLang="zh-CN" sz="750">
                <a:solidFill>
                  <a:srgbClr val="8A96A8"/>
                </a:solidFill>
                <a:latin typeface="Microsoft YaHei"/>
                <a:ea typeface="Microsoft YaHei"/>
              </a:rPr>
              <a:t>main.rs </a:t>
            </a:r>
            <a:r>
              <a:rPr lang="zh-CN" altLang="en-US" sz="750">
                <a:solidFill>
                  <a:srgbClr val="8A96A8"/>
                </a:solidFill>
                <a:latin typeface="Microsoft YaHei"/>
                <a:ea typeface="Microsoft YaHei"/>
              </a:rPr>
              <a:t>与 </a:t>
            </a:r>
            <a:r>
              <a:rPr lang="en-US" altLang="zh-CN" sz="750">
                <a:solidFill>
                  <a:srgbClr val="8A96A8"/>
                </a:solidFill>
                <a:latin typeface="Microsoft YaHei"/>
                <a:ea typeface="Microsoft YaHei"/>
              </a:rPr>
              <a:t>hal </a:t>
            </a:r>
            <a:r>
              <a:rPr lang="zh-CN" altLang="en-US" sz="750">
                <a:solidFill>
                  <a:srgbClr val="8A96A8"/>
                </a:solidFill>
                <a:latin typeface="Microsoft YaHei"/>
                <a:ea typeface="Microsoft YaHei"/>
              </a:rPr>
              <a:t>初始化入口。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5EB0E93-A0FB-4974-8B4E-EC8448450504}"/>
              </a:ext>
            </a:extLst>
          </p:cNvPr>
          <p:cNvSpPr/>
          <p:nvPr/>
        </p:nvSpPr>
        <p:spPr>
          <a:xfrm>
            <a:off x="254000" y="304800"/>
            <a:ext cx="101600" cy="482600"/>
          </a:xfrm>
          <a:prstGeom prst="rect">
            <a:avLst/>
          </a:prstGeom>
          <a:solidFill>
            <a:srgbClr val="3F70B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455AC296-6355-420E-80E7-FFE0F0B97466}"/>
              </a:ext>
            </a:extLst>
          </p:cNvPr>
          <p:cNvSpPr/>
          <p:nvPr/>
        </p:nvSpPr>
        <p:spPr>
          <a:xfrm>
            <a:off x="254000" y="838200"/>
            <a:ext cx="11684000" cy="19050"/>
          </a:xfrm>
          <a:prstGeom prst="rect">
            <a:avLst/>
          </a:prstGeom>
          <a:solidFill>
            <a:srgbClr val="3F70B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D5F0E13E-B489-4F0E-BD2C-6F3D0E0917A9}"/>
              </a:ext>
            </a:extLst>
          </p:cNvPr>
          <p:cNvSpPr txBox="1"/>
          <p:nvPr/>
        </p:nvSpPr>
        <p:spPr>
          <a:xfrm>
            <a:off x="736600" y="228600"/>
            <a:ext cx="81280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2000" b="1">
                <a:solidFill>
                  <a:srgbClr val="3F70B7"/>
                </a:solidFill>
                <a:latin typeface="Microsoft YaHei"/>
                <a:ea typeface="Microsoft YaHei"/>
              </a:rPr>
              <a:t>双架构 </a:t>
            </a:r>
            <a:r>
              <a:rPr lang="en-US" altLang="zh-CN" sz="2000" b="1">
                <a:solidFill>
                  <a:srgbClr val="3F70B7"/>
                </a:solidFill>
                <a:latin typeface="Microsoft YaHei"/>
                <a:ea typeface="Microsoft YaHei"/>
              </a:rPr>
              <a:t>HAL</a:t>
            </a:r>
            <a:r>
              <a:rPr lang="zh-CN" altLang="en-US" sz="2000" b="1">
                <a:solidFill>
                  <a:srgbClr val="3F70B7"/>
                </a:solidFill>
                <a:latin typeface="Microsoft YaHei"/>
                <a:ea typeface="Microsoft YaHei"/>
              </a:rPr>
              <a:t>：启动、</a:t>
            </a:r>
            <a:r>
              <a:rPr lang="en-US" altLang="zh-CN" sz="2000" b="1">
                <a:solidFill>
                  <a:srgbClr val="3F70B7"/>
                </a:solidFill>
                <a:latin typeface="Microsoft YaHei"/>
                <a:ea typeface="Microsoft YaHei"/>
              </a:rPr>
              <a:t>Trap </a:t>
            </a:r>
            <a:r>
              <a:rPr lang="zh-CN" altLang="en-US" sz="2000" b="1">
                <a:solidFill>
                  <a:srgbClr val="3F70B7"/>
                </a:solidFill>
                <a:latin typeface="Microsoft YaHei"/>
                <a:ea typeface="Microsoft YaHei"/>
              </a:rPr>
              <a:t>与 </a:t>
            </a:r>
            <a:r>
              <a:rPr lang="en-US" altLang="zh-CN" sz="2000" b="1">
                <a:solidFill>
                  <a:srgbClr val="3F70B7"/>
                </a:solidFill>
                <a:latin typeface="Microsoft YaHei"/>
                <a:ea typeface="Microsoft YaHei"/>
              </a:rPr>
              <a:t>TLB </a:t>
            </a:r>
            <a:r>
              <a:rPr lang="zh-CN" altLang="en-US" sz="2000" b="1">
                <a:solidFill>
                  <a:srgbClr val="3F70B7"/>
                </a:solidFill>
                <a:latin typeface="Microsoft YaHei"/>
                <a:ea typeface="Microsoft YaHei"/>
              </a:rPr>
              <a:t>差异在边界处理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71D40A99-C939-44ED-A029-B7F9577E0F61}"/>
              </a:ext>
            </a:extLst>
          </p:cNvPr>
          <p:cNvSpPr/>
          <p:nvPr/>
        </p:nvSpPr>
        <p:spPr>
          <a:xfrm>
            <a:off x="0" y="0"/>
            <a:ext cx="8953500" cy="990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3D1038E2-BBD3-44C4-BE0E-8FE66EB905DF}"/>
              </a:ext>
            </a:extLst>
          </p:cNvPr>
          <p:cNvSpPr/>
          <p:nvPr/>
        </p:nvSpPr>
        <p:spPr>
          <a:xfrm>
            <a:off x="254000" y="330200"/>
            <a:ext cx="88900" cy="431800"/>
          </a:xfrm>
          <a:prstGeom prst="rect">
            <a:avLst/>
          </a:prstGeom>
          <a:solidFill>
            <a:srgbClr val="3F70B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9A992EB0-6A6E-42D5-8E59-04C0D16C83CC}"/>
              </a:ext>
            </a:extLst>
          </p:cNvPr>
          <p:cNvSpPr/>
          <p:nvPr/>
        </p:nvSpPr>
        <p:spPr>
          <a:xfrm>
            <a:off x="254000" y="838200"/>
            <a:ext cx="8763000" cy="17780"/>
          </a:xfrm>
          <a:prstGeom prst="rect">
            <a:avLst/>
          </a:prstGeom>
          <a:solidFill>
            <a:srgbClr val="3F70B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5443411C-CE24-4560-BEEB-1D737CD2A952}"/>
              </a:ext>
            </a:extLst>
          </p:cNvPr>
          <p:cNvSpPr txBox="1"/>
          <p:nvPr/>
        </p:nvSpPr>
        <p:spPr>
          <a:xfrm>
            <a:off x="711200" y="279400"/>
            <a:ext cx="8064500" cy="3556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spAutoFit/>
          </a:bodyPr>
          <a:lstStyle/>
          <a:p>
            <a:pPr algn="l"/>
            <a:r>
              <a:rPr lang="zh-CN" altLang="en-US" b="1">
                <a:solidFill>
                  <a:srgbClr val="3F70B7"/>
                </a:solidFill>
                <a:latin typeface="Microsoft YaHei UI"/>
                <a:ea typeface="Microsoft YaHei UI"/>
              </a:rPr>
              <a:t>双架构 </a:t>
            </a:r>
            <a:r>
              <a:rPr lang="en-US" altLang="zh-CN" b="1">
                <a:solidFill>
                  <a:srgbClr val="3F70B7"/>
                </a:solidFill>
                <a:latin typeface="Microsoft YaHei UI"/>
                <a:ea typeface="Microsoft YaHei UI"/>
              </a:rPr>
              <a:t>HAL</a:t>
            </a:r>
            <a:r>
              <a:rPr lang="zh-CN" altLang="en-US" b="1">
                <a:solidFill>
                  <a:srgbClr val="3F70B7"/>
                </a:solidFill>
                <a:latin typeface="Microsoft YaHei UI"/>
                <a:ea typeface="Microsoft YaHei UI"/>
              </a:rPr>
              <a:t>：把硬件差异限制在边界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511141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001"/>
          <p:cNvPicPr>
            <a:picLocks noChangeAspect="1"/>
          </p:cNvPicPr>
          <p:nvPr/>
        </p:nvPicPr>
        <p:blipFill>
          <a:blip r:embed="rId3"/>
          <a:srcRect l="5389" t="37981" r="4352" b="38194"/>
          <a:stretch>
            <a:fillRect/>
          </a:stretch>
        </p:blipFill>
        <p:spPr>
          <a:xfrm>
            <a:off x="9106535" y="123825"/>
            <a:ext cx="2757805" cy="728345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515DC7A1-7C26-4985-9842-97E25A8E28CC}"/>
              </a:ext>
            </a:extLst>
          </p:cNvPr>
          <p:cNvSpPr txBox="1"/>
          <p:nvPr/>
        </p:nvSpPr>
        <p:spPr>
          <a:xfrm>
            <a:off x="736600" y="1143000"/>
            <a:ext cx="10541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altLang="zh-CN" sz="1500" b="1">
                <a:solidFill>
                  <a:srgbClr val="0B2F55"/>
                </a:solidFill>
                <a:latin typeface="Microsoft YaHei"/>
                <a:ea typeface="Microsoft YaHei"/>
              </a:rPr>
              <a:t>Linux </a:t>
            </a:r>
            <a:r>
              <a:rPr lang="zh-CN" altLang="en-US" sz="1500" b="1">
                <a:solidFill>
                  <a:srgbClr val="0B2F55"/>
                </a:solidFill>
                <a:latin typeface="Microsoft YaHei"/>
                <a:ea typeface="Microsoft YaHei"/>
              </a:rPr>
              <a:t>兼容不只是一批 </a:t>
            </a:r>
            <a:r>
              <a:rPr lang="en-US" altLang="zh-CN" sz="1500" b="1">
                <a:solidFill>
                  <a:srgbClr val="0B2F55"/>
                </a:solidFill>
                <a:latin typeface="Microsoft YaHei"/>
                <a:ea typeface="Microsoft YaHei"/>
              </a:rPr>
              <a:t>syscall</a:t>
            </a:r>
            <a:r>
              <a:rPr lang="zh-CN" altLang="en-US" sz="1500" b="1">
                <a:solidFill>
                  <a:srgbClr val="0B2F55"/>
                </a:solidFill>
                <a:latin typeface="Microsoft YaHei"/>
                <a:ea typeface="Microsoft YaHei"/>
              </a:rPr>
              <a:t>；进程、地址空间、同步、事件和调度要一起工作。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2FDCE0E-B687-405A-ABCB-245EB0C01564}"/>
              </a:ext>
            </a:extLst>
          </p:cNvPr>
          <p:cNvSpPr/>
          <p:nvPr/>
        </p:nvSpPr>
        <p:spPr>
          <a:xfrm>
            <a:off x="787400" y="1828800"/>
            <a:ext cx="3175000" cy="13716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9E3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FDF923C-F629-4D34-9E60-19E1A04CA6E6}"/>
              </a:ext>
            </a:extLst>
          </p:cNvPr>
          <p:cNvSpPr/>
          <p:nvPr/>
        </p:nvSpPr>
        <p:spPr>
          <a:xfrm>
            <a:off x="787400" y="1828800"/>
            <a:ext cx="63500" cy="1371600"/>
          </a:xfrm>
          <a:prstGeom prst="rect">
            <a:avLst/>
          </a:prstGeom>
          <a:solidFill>
            <a:srgbClr val="4A76D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C507C561-4DA1-4D03-96BC-B44EFB536521}"/>
              </a:ext>
            </a:extLst>
          </p:cNvPr>
          <p:cNvSpPr/>
          <p:nvPr/>
        </p:nvSpPr>
        <p:spPr>
          <a:xfrm>
            <a:off x="965200" y="2006600"/>
            <a:ext cx="558800" cy="330200"/>
          </a:xfrm>
          <a:prstGeom prst="roundRect">
            <a:avLst/>
          </a:prstGeom>
          <a:solidFill>
            <a:srgbClr val="4A76D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altLang="zh-CN" sz="1000" b="1">
                <a:solidFill>
                  <a:srgbClr val="FFFFFF"/>
                </a:solidFill>
                <a:latin typeface="Microsoft YaHei"/>
                <a:ea typeface="Microsoft YaHei"/>
              </a:rPr>
              <a:t>P</a:t>
            </a:r>
            <a:endParaRPr lang="zh-CN" altLang="en-US" sz="1000" b="1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4CC1DFB-40FD-4123-8C42-E6C44D24A816}"/>
              </a:ext>
            </a:extLst>
          </p:cNvPr>
          <p:cNvSpPr txBox="1"/>
          <p:nvPr/>
        </p:nvSpPr>
        <p:spPr>
          <a:xfrm>
            <a:off x="1651000" y="2019300"/>
            <a:ext cx="21336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zh-CN" altLang="en-US" sz="1320" b="1">
                <a:solidFill>
                  <a:srgbClr val="123B67"/>
                </a:solidFill>
                <a:latin typeface="Microsoft YaHei"/>
                <a:ea typeface="Microsoft YaHei"/>
              </a:rPr>
              <a:t>进程与线程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78200A2-F97B-4370-AF43-BD2000E14974}"/>
              </a:ext>
            </a:extLst>
          </p:cNvPr>
          <p:cNvSpPr txBox="1"/>
          <p:nvPr/>
        </p:nvSpPr>
        <p:spPr>
          <a:xfrm>
            <a:off x="1016000" y="2438400"/>
            <a:ext cx="2794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altLang="zh-CN" sz="1020">
                <a:solidFill>
                  <a:srgbClr val="5F6B7A"/>
                </a:solidFill>
                <a:latin typeface="Microsoft YaHei"/>
                <a:ea typeface="Microsoft YaHei"/>
              </a:rPr>
              <a:t>clone / fork / execve / wait4</a:t>
            </a:r>
            <a:r>
              <a:rPr lang="zh-CN" altLang="en-US" sz="1020">
                <a:solidFill>
                  <a:srgbClr val="5F6B7A"/>
                </a:solidFill>
                <a:latin typeface="Microsoft YaHei"/>
                <a:ea typeface="Microsoft YaHei"/>
              </a:rPr>
              <a:t>；线程组、信号、</a:t>
            </a:r>
            <a:r>
              <a:rPr lang="en-US" altLang="zh-CN" sz="1020">
                <a:solidFill>
                  <a:srgbClr val="5F6B7A"/>
                </a:solidFill>
                <a:latin typeface="Microsoft YaHei"/>
                <a:ea typeface="Microsoft YaHei"/>
              </a:rPr>
              <a:t>pidfd</a:t>
            </a:r>
            <a:r>
              <a:rPr lang="zh-CN" altLang="en-US" sz="1020">
                <a:solidFill>
                  <a:srgbClr val="5F6B7A"/>
                </a:solidFill>
                <a:latin typeface="Microsoft YaHei"/>
                <a:ea typeface="Microsoft YaHei"/>
              </a:rPr>
              <a:t>、</a:t>
            </a:r>
            <a:r>
              <a:rPr lang="en-US" altLang="zh-CN" sz="1020">
                <a:solidFill>
                  <a:srgbClr val="5F6B7A"/>
                </a:solidFill>
                <a:latin typeface="Microsoft YaHei"/>
                <a:ea typeface="Microsoft YaHei"/>
              </a:rPr>
              <a:t>exit </a:t>
            </a:r>
            <a:r>
              <a:rPr lang="zh-CN" altLang="en-US" sz="1020">
                <a:solidFill>
                  <a:srgbClr val="5F6B7A"/>
                </a:solidFill>
                <a:latin typeface="Microsoft YaHei"/>
                <a:ea typeface="Microsoft YaHei"/>
              </a:rPr>
              <a:t>清理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405C4DA-3598-4127-BF15-BB1E09CE2B50}"/>
              </a:ext>
            </a:extLst>
          </p:cNvPr>
          <p:cNvSpPr/>
          <p:nvPr/>
        </p:nvSpPr>
        <p:spPr>
          <a:xfrm>
            <a:off x="4495800" y="1828800"/>
            <a:ext cx="3175000" cy="13716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9E3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F282BBC-7464-46E7-8DE7-97E621F5F7FD}"/>
              </a:ext>
            </a:extLst>
          </p:cNvPr>
          <p:cNvSpPr/>
          <p:nvPr/>
        </p:nvSpPr>
        <p:spPr>
          <a:xfrm>
            <a:off x="4495800" y="1828800"/>
            <a:ext cx="63500" cy="1371600"/>
          </a:xfrm>
          <a:prstGeom prst="rect">
            <a:avLst/>
          </a:prstGeom>
          <a:solidFill>
            <a:srgbClr val="31A16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01D21920-CB87-49C9-A263-EB33AE8D8901}"/>
              </a:ext>
            </a:extLst>
          </p:cNvPr>
          <p:cNvSpPr/>
          <p:nvPr/>
        </p:nvSpPr>
        <p:spPr>
          <a:xfrm>
            <a:off x="4673600" y="2006600"/>
            <a:ext cx="558800" cy="330200"/>
          </a:xfrm>
          <a:prstGeom prst="roundRect">
            <a:avLst/>
          </a:prstGeom>
          <a:solidFill>
            <a:srgbClr val="31A16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altLang="zh-CN" sz="1000" b="1">
                <a:solidFill>
                  <a:srgbClr val="FFFFFF"/>
                </a:solidFill>
                <a:latin typeface="Microsoft YaHei"/>
                <a:ea typeface="Microsoft YaHei"/>
              </a:rPr>
              <a:t>MM</a:t>
            </a:r>
            <a:endParaRPr lang="zh-CN" altLang="en-US" sz="1000" b="1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D7BAEC4-0987-436C-8CC9-D2858A05C4E7}"/>
              </a:ext>
            </a:extLst>
          </p:cNvPr>
          <p:cNvSpPr txBox="1"/>
          <p:nvPr/>
        </p:nvSpPr>
        <p:spPr>
          <a:xfrm>
            <a:off x="5359400" y="2019300"/>
            <a:ext cx="21336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zh-CN" altLang="en-US" sz="1320" b="1">
                <a:solidFill>
                  <a:srgbClr val="123B67"/>
                </a:solidFill>
                <a:latin typeface="Microsoft YaHei"/>
                <a:ea typeface="Microsoft YaHei"/>
              </a:rPr>
              <a:t>虚拟内存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CB5F224-C8B0-441F-9DF9-9F09D811E50C}"/>
              </a:ext>
            </a:extLst>
          </p:cNvPr>
          <p:cNvSpPr txBox="1"/>
          <p:nvPr/>
        </p:nvSpPr>
        <p:spPr>
          <a:xfrm>
            <a:off x="4724400" y="2438400"/>
            <a:ext cx="2794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altLang="zh-CN" sz="1020">
                <a:solidFill>
                  <a:srgbClr val="5F6B7A"/>
                </a:solidFill>
                <a:latin typeface="Microsoft YaHei"/>
                <a:ea typeface="Microsoft YaHei"/>
              </a:rPr>
              <a:t>mmap / mprotect / munmap</a:t>
            </a:r>
            <a:r>
              <a:rPr lang="zh-CN" altLang="en-US" sz="1020">
                <a:solidFill>
                  <a:srgbClr val="5F6B7A"/>
                </a:solidFill>
                <a:latin typeface="Microsoft YaHei"/>
                <a:ea typeface="Microsoft YaHei"/>
              </a:rPr>
              <a:t>；</a:t>
            </a:r>
            <a:r>
              <a:rPr lang="en-US" altLang="zh-CN" sz="1020">
                <a:solidFill>
                  <a:srgbClr val="5F6B7A"/>
                </a:solidFill>
                <a:latin typeface="Microsoft YaHei"/>
                <a:ea typeface="Microsoft YaHei"/>
              </a:rPr>
              <a:t>MAP_SHARED</a:t>
            </a:r>
            <a:r>
              <a:rPr lang="zh-CN" altLang="en-US" sz="1020">
                <a:solidFill>
                  <a:srgbClr val="5F6B7A"/>
                </a:solidFill>
                <a:latin typeface="Microsoft YaHei"/>
                <a:ea typeface="Microsoft YaHei"/>
              </a:rPr>
              <a:t>、</a:t>
            </a:r>
            <a:r>
              <a:rPr lang="en-US" altLang="zh-CN" sz="1020">
                <a:solidFill>
                  <a:srgbClr val="5F6B7A"/>
                </a:solidFill>
                <a:latin typeface="Microsoft YaHei"/>
                <a:ea typeface="Microsoft YaHei"/>
              </a:rPr>
              <a:t>CoW</a:t>
            </a:r>
            <a:r>
              <a:rPr lang="zh-CN" altLang="en-US" sz="1020">
                <a:solidFill>
                  <a:srgbClr val="5F6B7A"/>
                </a:solidFill>
                <a:latin typeface="Microsoft YaHei"/>
                <a:ea typeface="Microsoft YaHei"/>
              </a:rPr>
              <a:t>、</a:t>
            </a:r>
            <a:r>
              <a:rPr lang="en-US" altLang="zh-CN" sz="1020">
                <a:solidFill>
                  <a:srgbClr val="5F6B7A"/>
                </a:solidFill>
                <a:latin typeface="Microsoft YaHei"/>
                <a:ea typeface="Microsoft YaHei"/>
              </a:rPr>
              <a:t>OOM/zram feature</a:t>
            </a:r>
            <a:endParaRPr lang="zh-CN" altLang="en-US" sz="1020">
              <a:solidFill>
                <a:srgbClr val="5F6B7A"/>
              </a:solidFill>
              <a:latin typeface="Microsoft YaHei"/>
              <a:ea typeface="Microsoft YaHei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1FF0211-198E-40B3-8AD7-C1ACFCDB9D9F}"/>
              </a:ext>
            </a:extLst>
          </p:cNvPr>
          <p:cNvSpPr/>
          <p:nvPr/>
        </p:nvSpPr>
        <p:spPr>
          <a:xfrm>
            <a:off x="8204200" y="1828800"/>
            <a:ext cx="3175000" cy="13716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9E3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DBE4BF2-636D-4266-87AF-E497EEB52401}"/>
              </a:ext>
            </a:extLst>
          </p:cNvPr>
          <p:cNvSpPr/>
          <p:nvPr/>
        </p:nvSpPr>
        <p:spPr>
          <a:xfrm>
            <a:off x="8204200" y="1828800"/>
            <a:ext cx="63500" cy="1371600"/>
          </a:xfrm>
          <a:prstGeom prst="rect">
            <a:avLst/>
          </a:prstGeom>
          <a:solidFill>
            <a:srgbClr val="F1993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40D74F9D-8D6B-4B59-AECA-BD98935201A3}"/>
              </a:ext>
            </a:extLst>
          </p:cNvPr>
          <p:cNvSpPr/>
          <p:nvPr/>
        </p:nvSpPr>
        <p:spPr>
          <a:xfrm>
            <a:off x="8382000" y="2006600"/>
            <a:ext cx="558800" cy="330200"/>
          </a:xfrm>
          <a:prstGeom prst="roundRect">
            <a:avLst/>
          </a:prstGeom>
          <a:solidFill>
            <a:srgbClr val="F1993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altLang="zh-CN" sz="1000" b="1">
                <a:solidFill>
                  <a:srgbClr val="FFFFFF"/>
                </a:solidFill>
                <a:latin typeface="Microsoft YaHei"/>
                <a:ea typeface="Microsoft YaHei"/>
              </a:rPr>
              <a:t>IPC</a:t>
            </a:r>
            <a:endParaRPr lang="zh-CN" altLang="en-US" sz="1000" b="1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211E2ED-4668-4EEC-B64E-9D7E212160A5}"/>
              </a:ext>
            </a:extLst>
          </p:cNvPr>
          <p:cNvSpPr txBox="1"/>
          <p:nvPr/>
        </p:nvSpPr>
        <p:spPr>
          <a:xfrm>
            <a:off x="9067800" y="2019300"/>
            <a:ext cx="21336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zh-CN" altLang="en-US" sz="1320" b="1">
                <a:solidFill>
                  <a:srgbClr val="123B67"/>
                </a:solidFill>
                <a:latin typeface="Microsoft YaHei"/>
                <a:ea typeface="Microsoft YaHei"/>
              </a:rPr>
              <a:t>同步与 </a:t>
            </a:r>
            <a:r>
              <a:rPr lang="en-US" altLang="zh-CN" sz="1320" b="1">
                <a:solidFill>
                  <a:srgbClr val="123B67"/>
                </a:solidFill>
                <a:latin typeface="Microsoft YaHei"/>
                <a:ea typeface="Microsoft YaHei"/>
              </a:rPr>
              <a:t>IPC</a:t>
            </a:r>
            <a:endParaRPr lang="zh-CN" altLang="en-US" sz="1320" b="1">
              <a:solidFill>
                <a:srgbClr val="123B67"/>
              </a:solidFill>
              <a:latin typeface="Microsoft YaHei"/>
              <a:ea typeface="Microsoft YaHei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E91D3E2-A10A-4321-9CBF-F3ED5C952C39}"/>
              </a:ext>
            </a:extLst>
          </p:cNvPr>
          <p:cNvSpPr txBox="1"/>
          <p:nvPr/>
        </p:nvSpPr>
        <p:spPr>
          <a:xfrm>
            <a:off x="8432800" y="2438400"/>
            <a:ext cx="2794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altLang="zh-CN" sz="1020">
                <a:solidFill>
                  <a:srgbClr val="5F6B7A"/>
                </a:solidFill>
                <a:latin typeface="Microsoft YaHei"/>
                <a:ea typeface="Microsoft YaHei"/>
              </a:rPr>
              <a:t>futex / robust list</a:t>
            </a:r>
            <a:r>
              <a:rPr lang="zh-CN" altLang="en-US" sz="1020">
                <a:solidFill>
                  <a:srgbClr val="5F6B7A"/>
                </a:solidFill>
                <a:latin typeface="Microsoft YaHei"/>
                <a:ea typeface="Microsoft YaHei"/>
              </a:rPr>
              <a:t>；</a:t>
            </a:r>
            <a:r>
              <a:rPr lang="en-US" altLang="zh-CN" sz="1020">
                <a:solidFill>
                  <a:srgbClr val="5F6B7A"/>
                </a:solidFill>
                <a:latin typeface="Microsoft YaHei"/>
                <a:ea typeface="Microsoft YaHei"/>
              </a:rPr>
              <a:t>SysV msg/sem/shm</a:t>
            </a:r>
            <a:r>
              <a:rPr lang="zh-CN" altLang="en-US" sz="1020">
                <a:solidFill>
                  <a:srgbClr val="5F6B7A"/>
                </a:solidFill>
                <a:latin typeface="Microsoft YaHei"/>
                <a:ea typeface="Microsoft YaHei"/>
              </a:rPr>
              <a:t>；</a:t>
            </a:r>
            <a:r>
              <a:rPr lang="en-US" altLang="zh-CN" sz="1020">
                <a:solidFill>
                  <a:srgbClr val="5F6B7A"/>
                </a:solidFill>
                <a:latin typeface="Microsoft YaHei"/>
                <a:ea typeface="Microsoft YaHei"/>
              </a:rPr>
              <a:t>POSIX mq</a:t>
            </a:r>
            <a:endParaRPr lang="zh-CN" altLang="en-US" sz="1020">
              <a:solidFill>
                <a:srgbClr val="5F6B7A"/>
              </a:solidFill>
              <a:latin typeface="Microsoft YaHei"/>
              <a:ea typeface="Microsoft YaHei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58AE27F-869B-4CDC-9924-EE45C2F8C840}"/>
              </a:ext>
            </a:extLst>
          </p:cNvPr>
          <p:cNvSpPr/>
          <p:nvPr/>
        </p:nvSpPr>
        <p:spPr>
          <a:xfrm>
            <a:off x="787400" y="3733800"/>
            <a:ext cx="3175000" cy="13716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9E3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4762EC2-9228-4AAB-A3C6-8BBFB354CD42}"/>
              </a:ext>
            </a:extLst>
          </p:cNvPr>
          <p:cNvSpPr/>
          <p:nvPr/>
        </p:nvSpPr>
        <p:spPr>
          <a:xfrm>
            <a:off x="787400" y="3733800"/>
            <a:ext cx="63500" cy="1371600"/>
          </a:xfrm>
          <a:prstGeom prst="rect">
            <a:avLst/>
          </a:prstGeom>
          <a:solidFill>
            <a:srgbClr val="D64B4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BAD0395B-8B44-4096-879B-44DB80AD8F83}"/>
              </a:ext>
            </a:extLst>
          </p:cNvPr>
          <p:cNvSpPr/>
          <p:nvPr/>
        </p:nvSpPr>
        <p:spPr>
          <a:xfrm>
            <a:off x="965200" y="3911600"/>
            <a:ext cx="558800" cy="330200"/>
          </a:xfrm>
          <a:prstGeom prst="roundRect">
            <a:avLst/>
          </a:prstGeom>
          <a:solidFill>
            <a:srgbClr val="D64B4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altLang="zh-CN" sz="1000" b="1">
                <a:solidFill>
                  <a:srgbClr val="FFFFFF"/>
                </a:solidFill>
                <a:latin typeface="Microsoft YaHei"/>
                <a:ea typeface="Microsoft YaHei"/>
              </a:rPr>
              <a:t>E</a:t>
            </a:r>
            <a:endParaRPr lang="zh-CN" altLang="en-US" sz="1000" b="1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FBB2C5F5-D567-4C01-8B65-61699D3E7062}"/>
              </a:ext>
            </a:extLst>
          </p:cNvPr>
          <p:cNvSpPr txBox="1"/>
          <p:nvPr/>
        </p:nvSpPr>
        <p:spPr>
          <a:xfrm>
            <a:off x="1651000" y="3924300"/>
            <a:ext cx="21336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zh-CN" altLang="en-US" sz="1320" b="1">
                <a:solidFill>
                  <a:srgbClr val="123B67"/>
                </a:solidFill>
                <a:latin typeface="Microsoft YaHei"/>
                <a:ea typeface="Microsoft YaHei"/>
              </a:rPr>
              <a:t>事件通知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1719099F-10E3-42FB-A569-3ABA3241A797}"/>
              </a:ext>
            </a:extLst>
          </p:cNvPr>
          <p:cNvSpPr txBox="1"/>
          <p:nvPr/>
        </p:nvSpPr>
        <p:spPr>
          <a:xfrm>
            <a:off x="1016000" y="4343400"/>
            <a:ext cx="2794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altLang="zh-CN" sz="1020">
                <a:solidFill>
                  <a:srgbClr val="5F6B7A"/>
                </a:solidFill>
                <a:latin typeface="Microsoft YaHei"/>
                <a:ea typeface="Microsoft YaHei"/>
              </a:rPr>
              <a:t>epoll / eventfd / signalfd</a:t>
            </a:r>
            <a:r>
              <a:rPr lang="zh-CN" altLang="en-US" sz="1020">
                <a:solidFill>
                  <a:srgbClr val="5F6B7A"/>
                </a:solidFill>
                <a:latin typeface="Microsoft YaHei"/>
                <a:ea typeface="Microsoft YaHei"/>
              </a:rPr>
              <a:t>；</a:t>
            </a:r>
            <a:r>
              <a:rPr lang="en-US" altLang="zh-CN" sz="1020">
                <a:solidFill>
                  <a:srgbClr val="5F6B7A"/>
                </a:solidFill>
                <a:latin typeface="Microsoft YaHei"/>
                <a:ea typeface="Microsoft YaHei"/>
              </a:rPr>
              <a:t>timerfd / POSIX timer / nanosleep</a:t>
            </a:r>
            <a:endParaRPr lang="zh-CN" altLang="en-US" sz="1020">
              <a:solidFill>
                <a:srgbClr val="5F6B7A"/>
              </a:solidFill>
              <a:latin typeface="Microsoft YaHei"/>
              <a:ea typeface="Microsoft YaHei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9AFB706-CD6A-4D76-BB01-FCF6FCEA3DC1}"/>
              </a:ext>
            </a:extLst>
          </p:cNvPr>
          <p:cNvSpPr/>
          <p:nvPr/>
        </p:nvSpPr>
        <p:spPr>
          <a:xfrm>
            <a:off x="4495800" y="3733800"/>
            <a:ext cx="3175000" cy="13716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9E3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5AD22C3-0F50-489A-973D-4BC3A1195C9F}"/>
              </a:ext>
            </a:extLst>
          </p:cNvPr>
          <p:cNvSpPr/>
          <p:nvPr/>
        </p:nvSpPr>
        <p:spPr>
          <a:xfrm>
            <a:off x="4495800" y="3733800"/>
            <a:ext cx="63500" cy="1371600"/>
          </a:xfrm>
          <a:prstGeom prst="rect">
            <a:avLst/>
          </a:prstGeom>
          <a:solidFill>
            <a:srgbClr val="4A76D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2D138873-AF74-4469-A44A-EF312A18F504}"/>
              </a:ext>
            </a:extLst>
          </p:cNvPr>
          <p:cNvSpPr/>
          <p:nvPr/>
        </p:nvSpPr>
        <p:spPr>
          <a:xfrm>
            <a:off x="4673600" y="3911600"/>
            <a:ext cx="558800" cy="330200"/>
          </a:xfrm>
          <a:prstGeom prst="roundRect">
            <a:avLst/>
          </a:prstGeom>
          <a:solidFill>
            <a:srgbClr val="4A76D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altLang="zh-CN" sz="1000" b="1">
                <a:solidFill>
                  <a:srgbClr val="FFFFFF"/>
                </a:solidFill>
                <a:latin typeface="Microsoft YaHei"/>
                <a:ea typeface="Microsoft YaHei"/>
              </a:rPr>
              <a:t>S</a:t>
            </a:r>
            <a:endParaRPr lang="zh-CN" altLang="en-US" sz="1000" b="1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6072700D-8657-49BA-A6F8-AF57BF85D992}"/>
              </a:ext>
            </a:extLst>
          </p:cNvPr>
          <p:cNvSpPr txBox="1"/>
          <p:nvPr/>
        </p:nvSpPr>
        <p:spPr>
          <a:xfrm>
            <a:off x="5359400" y="3924300"/>
            <a:ext cx="21336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zh-CN" altLang="en-US" sz="1320" b="1">
                <a:solidFill>
                  <a:srgbClr val="123B67"/>
                </a:solidFill>
                <a:latin typeface="Microsoft YaHei"/>
                <a:ea typeface="Microsoft YaHei"/>
              </a:rPr>
              <a:t>任务调度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26D722BD-1A7A-4B62-B7A6-152132F4EFBA}"/>
              </a:ext>
            </a:extLst>
          </p:cNvPr>
          <p:cNvSpPr txBox="1"/>
          <p:nvPr/>
        </p:nvSpPr>
        <p:spPr>
          <a:xfrm>
            <a:off x="4724400" y="4343400"/>
            <a:ext cx="2794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altLang="zh-CN" sz="1020">
                <a:solidFill>
                  <a:srgbClr val="5F6B7A"/>
                </a:solidFill>
                <a:latin typeface="Microsoft YaHei"/>
                <a:ea typeface="Microsoft YaHei"/>
              </a:rPr>
              <a:t>ready / interruptible / zombie </a:t>
            </a:r>
            <a:r>
              <a:rPr lang="zh-CN" altLang="en-US" sz="1020">
                <a:solidFill>
                  <a:srgbClr val="5F6B7A"/>
                </a:solidFill>
                <a:latin typeface="Microsoft YaHei"/>
                <a:ea typeface="Microsoft YaHei"/>
              </a:rPr>
              <a:t>队列；</a:t>
            </a:r>
            <a:r>
              <a:rPr lang="en-US" altLang="zh-CN" sz="1020">
                <a:solidFill>
                  <a:srgbClr val="5F6B7A"/>
                </a:solidFill>
                <a:latin typeface="Microsoft YaHei"/>
                <a:ea typeface="Microsoft YaHei"/>
              </a:rPr>
              <a:t>waitqueue </a:t>
            </a:r>
            <a:r>
              <a:rPr lang="zh-CN" altLang="en-US" sz="1020">
                <a:solidFill>
                  <a:srgbClr val="5F6B7A"/>
                </a:solidFill>
                <a:latin typeface="Microsoft YaHei"/>
                <a:ea typeface="Microsoft YaHei"/>
              </a:rPr>
              <a:t>唤醒与 </a:t>
            </a:r>
            <a:r>
              <a:rPr lang="en-US" altLang="zh-CN" sz="1020">
                <a:solidFill>
                  <a:srgbClr val="5F6B7A"/>
                </a:solidFill>
                <a:latin typeface="Microsoft YaHei"/>
                <a:ea typeface="Microsoft YaHei"/>
              </a:rPr>
              <a:t>ktimer </a:t>
            </a:r>
            <a:r>
              <a:rPr lang="zh-CN" altLang="en-US" sz="1020">
                <a:solidFill>
                  <a:srgbClr val="5F6B7A"/>
                </a:solidFill>
                <a:latin typeface="Microsoft YaHei"/>
                <a:ea typeface="Microsoft YaHei"/>
              </a:rPr>
              <a:t>超时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65ACCC57-A66F-42E0-9352-D19F25F45F1D}"/>
              </a:ext>
            </a:extLst>
          </p:cNvPr>
          <p:cNvSpPr/>
          <p:nvPr/>
        </p:nvSpPr>
        <p:spPr>
          <a:xfrm>
            <a:off x="8204200" y="3733800"/>
            <a:ext cx="3175000" cy="13716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9E3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299408A7-1B90-47F7-A9AA-870AB70CFCD9}"/>
              </a:ext>
            </a:extLst>
          </p:cNvPr>
          <p:cNvSpPr/>
          <p:nvPr/>
        </p:nvSpPr>
        <p:spPr>
          <a:xfrm>
            <a:off x="8204200" y="3733800"/>
            <a:ext cx="63500" cy="1371600"/>
          </a:xfrm>
          <a:prstGeom prst="rect">
            <a:avLst/>
          </a:prstGeom>
          <a:solidFill>
            <a:srgbClr val="31A16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DD61CFE6-E3B9-425B-BE95-1B0202B52EED}"/>
              </a:ext>
            </a:extLst>
          </p:cNvPr>
          <p:cNvSpPr/>
          <p:nvPr/>
        </p:nvSpPr>
        <p:spPr>
          <a:xfrm>
            <a:off x="8382000" y="3911600"/>
            <a:ext cx="558800" cy="330200"/>
          </a:xfrm>
          <a:prstGeom prst="roundRect">
            <a:avLst/>
          </a:prstGeom>
          <a:solidFill>
            <a:srgbClr val="31A16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altLang="zh-CN" sz="1000" b="1">
                <a:solidFill>
                  <a:srgbClr val="FFFFFF"/>
                </a:solidFill>
                <a:latin typeface="Microsoft YaHei"/>
                <a:ea typeface="Microsoft YaHei"/>
              </a:rPr>
              <a:t>OBS</a:t>
            </a:r>
            <a:endParaRPr lang="zh-CN" altLang="en-US" sz="1000" b="1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86C84A72-812F-4819-B122-9735E933B8A1}"/>
              </a:ext>
            </a:extLst>
          </p:cNvPr>
          <p:cNvSpPr txBox="1"/>
          <p:nvPr/>
        </p:nvSpPr>
        <p:spPr>
          <a:xfrm>
            <a:off x="9067800" y="3924300"/>
            <a:ext cx="21336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zh-CN" altLang="en-US" sz="1320" b="1">
                <a:solidFill>
                  <a:srgbClr val="123B67"/>
                </a:solidFill>
                <a:latin typeface="Microsoft YaHei"/>
                <a:ea typeface="Microsoft YaHei"/>
              </a:rPr>
              <a:t>观测能力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B150BF81-4157-47D3-AFED-43862EDCE635}"/>
              </a:ext>
            </a:extLst>
          </p:cNvPr>
          <p:cNvSpPr txBox="1"/>
          <p:nvPr/>
        </p:nvSpPr>
        <p:spPr>
          <a:xfrm>
            <a:off x="8432800" y="4343400"/>
            <a:ext cx="2794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altLang="zh-CN" sz="1020">
                <a:solidFill>
                  <a:srgbClr val="5F6B7A"/>
                </a:solidFill>
                <a:latin typeface="Microsoft YaHei"/>
                <a:ea typeface="Microsoft YaHei"/>
              </a:rPr>
              <a:t>/proc/&lt;pid&gt;</a:t>
            </a:r>
            <a:r>
              <a:rPr lang="zh-CN" altLang="en-US" sz="1020">
                <a:solidFill>
                  <a:srgbClr val="5F6B7A"/>
                </a:solidFill>
                <a:latin typeface="Microsoft YaHei"/>
                <a:ea typeface="Microsoft YaHei"/>
              </a:rPr>
              <a:t>、</a:t>
            </a:r>
            <a:r>
              <a:rPr lang="en-US" altLang="zh-CN" sz="1020">
                <a:solidFill>
                  <a:srgbClr val="5F6B7A"/>
                </a:solidFill>
                <a:latin typeface="Microsoft YaHei"/>
                <a:ea typeface="Microsoft YaHei"/>
              </a:rPr>
              <a:t>/proc/net</a:t>
            </a:r>
            <a:r>
              <a:rPr lang="zh-CN" altLang="en-US" sz="1020">
                <a:solidFill>
                  <a:srgbClr val="5F6B7A"/>
                </a:solidFill>
                <a:latin typeface="Microsoft YaHei"/>
                <a:ea typeface="Microsoft YaHei"/>
              </a:rPr>
              <a:t>、</a:t>
            </a:r>
            <a:r>
              <a:rPr lang="en-US" altLang="zh-CN" sz="1020">
                <a:solidFill>
                  <a:srgbClr val="5F6B7A"/>
                </a:solidFill>
                <a:latin typeface="Microsoft YaHei"/>
                <a:ea typeface="Microsoft YaHei"/>
              </a:rPr>
              <a:t>/sys/kernel/stats</a:t>
            </a:r>
            <a:r>
              <a:rPr lang="zh-CN" altLang="en-US" sz="1020">
                <a:solidFill>
                  <a:srgbClr val="5F6B7A"/>
                </a:solidFill>
                <a:latin typeface="Microsoft YaHei"/>
                <a:ea typeface="Microsoft YaHei"/>
              </a:rPr>
              <a:t>、</a:t>
            </a:r>
            <a:r>
              <a:rPr lang="en-US" altLang="zh-CN" sz="1020">
                <a:solidFill>
                  <a:srgbClr val="5F6B7A"/>
                </a:solidFill>
                <a:latin typeface="Microsoft YaHei"/>
                <a:ea typeface="Microsoft YaHei"/>
              </a:rPr>
              <a:t>heap_trace </a:t>
            </a:r>
            <a:r>
              <a:rPr lang="zh-CN" altLang="en-US" sz="1020">
                <a:solidFill>
                  <a:srgbClr val="5F6B7A"/>
                </a:solidFill>
                <a:latin typeface="Microsoft YaHei"/>
                <a:ea typeface="Microsoft YaHei"/>
              </a:rPr>
              <a:t>与 </a:t>
            </a:r>
            <a:r>
              <a:rPr lang="en-US" altLang="zh-CN" sz="1020">
                <a:solidFill>
                  <a:srgbClr val="5F6B7A"/>
                </a:solidFill>
                <a:latin typeface="Microsoft YaHei"/>
                <a:ea typeface="Microsoft YaHei"/>
              </a:rPr>
              <a:t>perf </a:t>
            </a:r>
            <a:r>
              <a:rPr lang="zh-CN" altLang="en-US" sz="1020">
                <a:solidFill>
                  <a:srgbClr val="5F6B7A"/>
                </a:solidFill>
                <a:latin typeface="Microsoft YaHei"/>
                <a:ea typeface="Microsoft YaHei"/>
              </a:rPr>
              <a:t>计数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EC9051EA-75C0-4A2C-85FE-2D93F1371BF4}"/>
              </a:ext>
            </a:extLst>
          </p:cNvPr>
          <p:cNvSpPr txBox="1"/>
          <p:nvPr/>
        </p:nvSpPr>
        <p:spPr>
          <a:xfrm>
            <a:off x="482600" y="6502400"/>
            <a:ext cx="10922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fontScale="92500" lnSpcReduction="20000"/>
          </a:bodyPr>
          <a:lstStyle/>
          <a:p>
            <a:pPr algn="l"/>
            <a:r>
              <a:rPr lang="zh-CN" altLang="en-US" sz="750">
                <a:solidFill>
                  <a:srgbClr val="8A96A8"/>
                </a:solidFill>
                <a:latin typeface="Microsoft YaHei"/>
                <a:ea typeface="Microsoft YaHei"/>
              </a:rPr>
              <a:t>依据：</a:t>
            </a:r>
            <a:r>
              <a:rPr lang="en-US" altLang="zh-CN" sz="750">
                <a:solidFill>
                  <a:srgbClr val="8A96A8"/>
                </a:solidFill>
                <a:latin typeface="Microsoft YaHei"/>
                <a:ea typeface="Microsoft YaHei"/>
              </a:rPr>
              <a:t>README </a:t>
            </a:r>
            <a:r>
              <a:rPr lang="zh-CN" altLang="en-US" sz="750">
                <a:solidFill>
                  <a:srgbClr val="8A96A8"/>
                </a:solidFill>
                <a:latin typeface="Microsoft YaHei"/>
                <a:ea typeface="Microsoft YaHei"/>
              </a:rPr>
              <a:t>功能矩阵、</a:t>
            </a:r>
            <a:r>
              <a:rPr lang="en-US" altLang="zh-CN" sz="750">
                <a:solidFill>
                  <a:srgbClr val="8A96A8"/>
                </a:solidFill>
                <a:latin typeface="Microsoft YaHei"/>
                <a:ea typeface="Microsoft YaHei"/>
              </a:rPr>
              <a:t>Technical Report </a:t>
            </a:r>
            <a:r>
              <a:rPr lang="zh-CN" altLang="en-US" sz="750">
                <a:solidFill>
                  <a:srgbClr val="8A96A8"/>
                </a:solidFill>
                <a:latin typeface="Microsoft YaHei"/>
                <a:ea typeface="Microsoft YaHei"/>
              </a:rPr>
              <a:t>第 </a:t>
            </a:r>
            <a:r>
              <a:rPr lang="en-US" altLang="zh-CN" sz="750">
                <a:solidFill>
                  <a:srgbClr val="8A96A8"/>
                </a:solidFill>
                <a:latin typeface="Microsoft YaHei"/>
                <a:ea typeface="Microsoft YaHei"/>
              </a:rPr>
              <a:t>4/5/8 </a:t>
            </a:r>
            <a:r>
              <a:rPr lang="zh-CN" altLang="en-US" sz="750">
                <a:solidFill>
                  <a:srgbClr val="8A96A8"/>
                </a:solidFill>
                <a:latin typeface="Microsoft YaHei"/>
                <a:ea typeface="Microsoft YaHei"/>
              </a:rPr>
              <a:t>章、</a:t>
            </a:r>
            <a:r>
              <a:rPr lang="en-US" altLang="zh-CN" sz="750">
                <a:solidFill>
                  <a:srgbClr val="8A96A8"/>
                </a:solidFill>
                <a:latin typeface="Microsoft YaHei"/>
                <a:ea typeface="Microsoft YaHei"/>
              </a:rPr>
              <a:t>docs/03_fs/README.md </a:t>
            </a:r>
            <a:r>
              <a:rPr lang="zh-CN" altLang="en-US" sz="750">
                <a:solidFill>
                  <a:srgbClr val="8A96A8"/>
                </a:solidFill>
                <a:latin typeface="Microsoft YaHei"/>
                <a:ea typeface="Microsoft YaHei"/>
              </a:rPr>
              <a:t>特殊 </a:t>
            </a:r>
            <a:r>
              <a:rPr lang="en-US" altLang="zh-CN" sz="750">
                <a:solidFill>
                  <a:srgbClr val="8A96A8"/>
                </a:solidFill>
                <a:latin typeface="Microsoft YaHei"/>
                <a:ea typeface="Microsoft YaHei"/>
              </a:rPr>
              <a:t>fd </a:t>
            </a:r>
            <a:r>
              <a:rPr lang="zh-CN" altLang="en-US" sz="750">
                <a:solidFill>
                  <a:srgbClr val="8A96A8"/>
                </a:solidFill>
                <a:latin typeface="Microsoft YaHei"/>
                <a:ea typeface="Microsoft YaHei"/>
              </a:rPr>
              <a:t>列表。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D9A870AC-0E28-4F50-ABB2-39DB97C64856}"/>
              </a:ext>
            </a:extLst>
          </p:cNvPr>
          <p:cNvSpPr/>
          <p:nvPr/>
        </p:nvSpPr>
        <p:spPr>
          <a:xfrm>
            <a:off x="254000" y="304800"/>
            <a:ext cx="101600" cy="482600"/>
          </a:xfrm>
          <a:prstGeom prst="rect">
            <a:avLst/>
          </a:prstGeom>
          <a:solidFill>
            <a:srgbClr val="3F70B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E8952B33-FAB9-493F-906B-24A5FAFFEA70}"/>
              </a:ext>
            </a:extLst>
          </p:cNvPr>
          <p:cNvSpPr/>
          <p:nvPr/>
        </p:nvSpPr>
        <p:spPr>
          <a:xfrm>
            <a:off x="254000" y="838200"/>
            <a:ext cx="11684000" cy="19050"/>
          </a:xfrm>
          <a:prstGeom prst="rect">
            <a:avLst/>
          </a:prstGeom>
          <a:solidFill>
            <a:srgbClr val="3F70B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4CA4952F-4A4C-43F5-ABC7-7581A95FF36E}"/>
              </a:ext>
            </a:extLst>
          </p:cNvPr>
          <p:cNvSpPr txBox="1"/>
          <p:nvPr/>
        </p:nvSpPr>
        <p:spPr>
          <a:xfrm>
            <a:off x="736600" y="228600"/>
            <a:ext cx="81280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2000" b="1">
                <a:solidFill>
                  <a:srgbClr val="3F70B7"/>
                </a:solidFill>
                <a:latin typeface="Microsoft YaHei"/>
                <a:ea typeface="Microsoft YaHei"/>
              </a:rPr>
              <a:t>进程 </a:t>
            </a:r>
            <a:r>
              <a:rPr lang="en-US" altLang="zh-CN" sz="2000" b="1">
                <a:solidFill>
                  <a:srgbClr val="3F70B7"/>
                </a:solidFill>
                <a:latin typeface="Microsoft YaHei"/>
                <a:ea typeface="Microsoft YaHei"/>
              </a:rPr>
              <a:t>/ </a:t>
            </a:r>
            <a:r>
              <a:rPr lang="zh-CN" altLang="en-US" sz="2000" b="1">
                <a:solidFill>
                  <a:srgbClr val="3F70B7"/>
                </a:solidFill>
                <a:latin typeface="Microsoft YaHei"/>
                <a:ea typeface="Microsoft YaHei"/>
              </a:rPr>
              <a:t>内存 </a:t>
            </a:r>
            <a:r>
              <a:rPr lang="en-US" altLang="zh-CN" sz="2000" b="1">
                <a:solidFill>
                  <a:srgbClr val="3F70B7"/>
                </a:solidFill>
                <a:latin typeface="Microsoft YaHei"/>
                <a:ea typeface="Microsoft YaHei"/>
              </a:rPr>
              <a:t>/ IPC</a:t>
            </a:r>
            <a:r>
              <a:rPr lang="zh-CN" altLang="en-US" sz="2000" b="1">
                <a:solidFill>
                  <a:srgbClr val="3F70B7"/>
                </a:solidFill>
                <a:latin typeface="Microsoft YaHei"/>
                <a:ea typeface="Microsoft YaHei"/>
              </a:rPr>
              <a:t>：支撑 </a:t>
            </a:r>
            <a:r>
              <a:rPr lang="en-US" altLang="zh-CN" sz="2000" b="1">
                <a:solidFill>
                  <a:srgbClr val="3F70B7"/>
                </a:solidFill>
                <a:latin typeface="Microsoft YaHei"/>
                <a:ea typeface="Microsoft YaHei"/>
              </a:rPr>
              <a:t>Linux </a:t>
            </a:r>
            <a:r>
              <a:rPr lang="zh-CN" altLang="en-US" sz="2000" b="1">
                <a:solidFill>
                  <a:srgbClr val="3F70B7"/>
                </a:solidFill>
                <a:latin typeface="Microsoft YaHei"/>
                <a:ea typeface="Microsoft YaHei"/>
              </a:rPr>
              <a:t>用户态负载的基础面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FB641297-67C2-4D93-BBAB-B1DA08AE9F5B}"/>
              </a:ext>
            </a:extLst>
          </p:cNvPr>
          <p:cNvSpPr/>
          <p:nvPr/>
        </p:nvSpPr>
        <p:spPr>
          <a:xfrm>
            <a:off x="0" y="0"/>
            <a:ext cx="8953500" cy="990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B19BE9E4-C8D1-48A4-BF8A-6588ACD8A0B6}"/>
              </a:ext>
            </a:extLst>
          </p:cNvPr>
          <p:cNvSpPr/>
          <p:nvPr/>
        </p:nvSpPr>
        <p:spPr>
          <a:xfrm>
            <a:off x="254000" y="330200"/>
            <a:ext cx="88900" cy="431800"/>
          </a:xfrm>
          <a:prstGeom prst="rect">
            <a:avLst/>
          </a:prstGeom>
          <a:solidFill>
            <a:srgbClr val="3F70B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E2AF2CBE-E6A1-4129-9FA2-E682E1064437}"/>
              </a:ext>
            </a:extLst>
          </p:cNvPr>
          <p:cNvSpPr/>
          <p:nvPr/>
        </p:nvSpPr>
        <p:spPr>
          <a:xfrm>
            <a:off x="254000" y="838200"/>
            <a:ext cx="8763000" cy="17780"/>
          </a:xfrm>
          <a:prstGeom prst="rect">
            <a:avLst/>
          </a:prstGeom>
          <a:solidFill>
            <a:srgbClr val="3F70B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ACB458EC-A636-4FD2-BE3E-F89F3338BBF1}"/>
              </a:ext>
            </a:extLst>
          </p:cNvPr>
          <p:cNvSpPr txBox="1"/>
          <p:nvPr/>
        </p:nvSpPr>
        <p:spPr>
          <a:xfrm>
            <a:off x="711200" y="279400"/>
            <a:ext cx="8064500" cy="3556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spAutoFit/>
          </a:bodyPr>
          <a:lstStyle/>
          <a:p>
            <a:pPr algn="l"/>
            <a:r>
              <a:rPr lang="zh-CN" altLang="en-US" b="1">
                <a:solidFill>
                  <a:srgbClr val="3F70B7"/>
                </a:solidFill>
                <a:latin typeface="Microsoft YaHei UI"/>
                <a:ea typeface="Microsoft YaHei UI"/>
              </a:rPr>
              <a:t>进程 </a:t>
            </a:r>
            <a:r>
              <a:rPr lang="en-US" altLang="zh-CN" b="1">
                <a:solidFill>
                  <a:srgbClr val="3F70B7"/>
                </a:solidFill>
                <a:latin typeface="Microsoft YaHei UI"/>
                <a:ea typeface="Microsoft YaHei UI"/>
              </a:rPr>
              <a:t>/ </a:t>
            </a:r>
            <a:r>
              <a:rPr lang="zh-CN" altLang="en-US" b="1">
                <a:solidFill>
                  <a:srgbClr val="3F70B7"/>
                </a:solidFill>
                <a:latin typeface="Microsoft YaHei UI"/>
                <a:ea typeface="Microsoft YaHei UI"/>
              </a:rPr>
              <a:t>内存 </a:t>
            </a:r>
            <a:r>
              <a:rPr lang="en-US" altLang="zh-CN" b="1">
                <a:solidFill>
                  <a:srgbClr val="3F70B7"/>
                </a:solidFill>
                <a:latin typeface="Microsoft YaHei UI"/>
                <a:ea typeface="Microsoft YaHei UI"/>
              </a:rPr>
              <a:t>/ IPC</a:t>
            </a:r>
            <a:r>
              <a:rPr lang="zh-CN" altLang="en-US" b="1">
                <a:solidFill>
                  <a:srgbClr val="3F70B7"/>
                </a:solidFill>
                <a:latin typeface="Microsoft YaHei UI"/>
                <a:ea typeface="Microsoft YaHei UI"/>
              </a:rPr>
              <a:t>：</a:t>
            </a:r>
            <a:r>
              <a:rPr lang="en-US" altLang="zh-CN" b="1">
                <a:solidFill>
                  <a:srgbClr val="3F70B7"/>
                </a:solidFill>
                <a:latin typeface="Microsoft YaHei UI"/>
                <a:ea typeface="Microsoft YaHei UI"/>
              </a:rPr>
              <a:t>Linux </a:t>
            </a:r>
            <a:r>
              <a:rPr lang="zh-CN" altLang="en-US" b="1">
                <a:solidFill>
                  <a:srgbClr val="3F70B7"/>
                </a:solidFill>
                <a:latin typeface="Microsoft YaHei UI"/>
                <a:ea typeface="Microsoft YaHei UI"/>
              </a:rPr>
              <a:t>用户态负载底座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950027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001"/>
          <p:cNvPicPr>
            <a:picLocks noChangeAspect="1"/>
          </p:cNvPicPr>
          <p:nvPr/>
        </p:nvPicPr>
        <p:blipFill>
          <a:blip r:embed="rId3"/>
          <a:srcRect l="5389" t="37981" r="4352" b="38194"/>
          <a:stretch>
            <a:fillRect/>
          </a:stretch>
        </p:blipFill>
        <p:spPr>
          <a:xfrm>
            <a:off x="9106535" y="123825"/>
            <a:ext cx="2757805" cy="728345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2E000297-A6AE-47F5-988C-E8AB1D2F3040}"/>
              </a:ext>
            </a:extLst>
          </p:cNvPr>
          <p:cNvSpPr txBox="1"/>
          <p:nvPr/>
        </p:nvSpPr>
        <p:spPr>
          <a:xfrm>
            <a:off x="736600" y="1143000"/>
            <a:ext cx="105410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zh-CN" altLang="en-US" sz="1500" b="1">
                <a:solidFill>
                  <a:srgbClr val="0B2F55"/>
                </a:solidFill>
                <a:latin typeface="Microsoft YaHei"/>
                <a:ea typeface="Microsoft YaHei"/>
              </a:rPr>
              <a:t>评测看的是 </a:t>
            </a:r>
            <a:r>
              <a:rPr lang="en-US" altLang="zh-CN" sz="1500" b="1">
                <a:solidFill>
                  <a:srgbClr val="0B2F55"/>
                </a:solidFill>
                <a:latin typeface="Microsoft YaHei"/>
                <a:ea typeface="Microsoft YaHei"/>
              </a:rPr>
              <a:t>open/read/write/mount </a:t>
            </a:r>
            <a:r>
              <a:rPr lang="zh-CN" altLang="en-US" sz="1500" b="1">
                <a:solidFill>
                  <a:srgbClr val="0B2F55"/>
                </a:solidFill>
                <a:latin typeface="Microsoft YaHei"/>
                <a:ea typeface="Microsoft YaHei"/>
              </a:rPr>
              <a:t>在 </a:t>
            </a:r>
            <a:r>
              <a:rPr lang="en-US" altLang="zh-CN" sz="1500" b="1">
                <a:solidFill>
                  <a:srgbClr val="0B2F55"/>
                </a:solidFill>
                <a:latin typeface="Microsoft YaHei"/>
                <a:ea typeface="Microsoft YaHei"/>
              </a:rPr>
              <a:t>fd / inode / mount </a:t>
            </a:r>
            <a:r>
              <a:rPr lang="zh-CN" altLang="en-US" sz="1500" b="1">
                <a:solidFill>
                  <a:srgbClr val="0B2F55"/>
                </a:solidFill>
                <a:latin typeface="Microsoft YaHei"/>
                <a:ea typeface="Microsoft YaHei"/>
              </a:rPr>
              <a:t>语义下是否一致，而不是列出多少文件系统。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C41921D-B2AF-4CEB-9863-DBB5498E45E4}"/>
              </a:ext>
            </a:extLst>
          </p:cNvPr>
          <p:cNvSpPr/>
          <p:nvPr/>
        </p:nvSpPr>
        <p:spPr>
          <a:xfrm>
            <a:off x="914400" y="1752600"/>
            <a:ext cx="2159000" cy="355600"/>
          </a:xfrm>
          <a:prstGeom prst="rect">
            <a:avLst/>
          </a:prstGeom>
          <a:solidFill>
            <a:srgbClr val="4A76D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altLang="zh-CN" sz="950" b="1">
                <a:solidFill>
                  <a:srgbClr val="FFFFFF"/>
                </a:solidFill>
                <a:latin typeface="Microsoft YaHei"/>
                <a:ea typeface="Microsoft YaHei"/>
              </a:rPr>
              <a:t>syscall </a:t>
            </a:r>
            <a:r>
              <a:rPr lang="zh-CN" altLang="en-US" sz="950" b="1">
                <a:solidFill>
                  <a:srgbClr val="FFFFFF"/>
                </a:solidFill>
                <a:latin typeface="Microsoft YaHei"/>
                <a:ea typeface="Microsoft YaHei"/>
              </a:rPr>
              <a:t>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056238-006D-46D1-96A5-7FFEBF9E6F53}"/>
              </a:ext>
            </a:extLst>
          </p:cNvPr>
          <p:cNvSpPr txBox="1"/>
          <p:nvPr/>
        </p:nvSpPr>
        <p:spPr>
          <a:xfrm>
            <a:off x="3429000" y="1790700"/>
            <a:ext cx="3429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fontScale="92500" lnSpcReduction="20000"/>
          </a:bodyPr>
          <a:lstStyle/>
          <a:p>
            <a:pPr algn="l"/>
            <a:r>
              <a:rPr lang="en-US" altLang="zh-CN" sz="1000">
                <a:solidFill>
                  <a:srgbClr val="5F6B7A"/>
                </a:solidFill>
                <a:latin typeface="Microsoft YaHei"/>
                <a:ea typeface="Microsoft YaHei"/>
              </a:rPr>
              <a:t>open/read/write/mount</a:t>
            </a:r>
            <a:endParaRPr lang="zh-CN" altLang="en-US" sz="1000">
              <a:solidFill>
                <a:srgbClr val="5F6B7A"/>
              </a:solidFill>
              <a:latin typeface="Microsoft YaHei"/>
              <a:ea typeface="Microsoft Ya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A938925-90A3-4914-BF6C-F94D01F8DDE3}"/>
              </a:ext>
            </a:extLst>
          </p:cNvPr>
          <p:cNvSpPr/>
          <p:nvPr/>
        </p:nvSpPr>
        <p:spPr>
          <a:xfrm>
            <a:off x="1955800" y="2133600"/>
            <a:ext cx="50800" cy="152400"/>
          </a:xfrm>
          <a:prstGeom prst="rect">
            <a:avLst/>
          </a:prstGeom>
          <a:solidFill>
            <a:srgbClr val="B8C9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BEA7FAA-26E5-40AE-9537-0356683EC92F}"/>
              </a:ext>
            </a:extLst>
          </p:cNvPr>
          <p:cNvSpPr/>
          <p:nvPr/>
        </p:nvSpPr>
        <p:spPr>
          <a:xfrm>
            <a:off x="914400" y="2260600"/>
            <a:ext cx="2159000" cy="355600"/>
          </a:xfrm>
          <a:prstGeom prst="rect">
            <a:avLst/>
          </a:prstGeom>
          <a:solidFill>
            <a:srgbClr val="4A76D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altLang="zh-CN" sz="950" b="1">
                <a:solidFill>
                  <a:srgbClr val="FFFFFF"/>
                </a:solidFill>
                <a:latin typeface="Microsoft YaHei"/>
                <a:ea typeface="Microsoft YaHei"/>
              </a:rPr>
              <a:t>File</a:t>
            </a:r>
            <a:endParaRPr lang="zh-CN" altLang="en-US" sz="950" b="1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20ACA25-C70B-428F-98D5-F792EBB03724}"/>
              </a:ext>
            </a:extLst>
          </p:cNvPr>
          <p:cNvSpPr txBox="1"/>
          <p:nvPr/>
        </p:nvSpPr>
        <p:spPr>
          <a:xfrm>
            <a:off x="3429000" y="2298700"/>
            <a:ext cx="3429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fontScale="92500" lnSpcReduction="20000"/>
          </a:bodyPr>
          <a:lstStyle/>
          <a:p>
            <a:pPr algn="l"/>
            <a:r>
              <a:rPr lang="en-US" altLang="zh-CN" sz="1000">
                <a:solidFill>
                  <a:srgbClr val="5F6B7A"/>
                </a:solidFill>
                <a:latin typeface="Microsoft YaHei"/>
                <a:ea typeface="Microsoft YaHei"/>
              </a:rPr>
              <a:t>fd offset / flags / poll / mmap</a:t>
            </a:r>
            <a:endParaRPr lang="zh-CN" altLang="en-US" sz="1000">
              <a:solidFill>
                <a:srgbClr val="5F6B7A"/>
              </a:solidFill>
              <a:latin typeface="Microsoft YaHei"/>
              <a:ea typeface="Microsoft YaHei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F9EDBB7-620D-41B5-8CD8-B0CB49AA2521}"/>
              </a:ext>
            </a:extLst>
          </p:cNvPr>
          <p:cNvSpPr/>
          <p:nvPr/>
        </p:nvSpPr>
        <p:spPr>
          <a:xfrm>
            <a:off x="1955800" y="2641600"/>
            <a:ext cx="50800" cy="152400"/>
          </a:xfrm>
          <a:prstGeom prst="rect">
            <a:avLst/>
          </a:prstGeom>
          <a:solidFill>
            <a:srgbClr val="B8C9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8D6A3F7-7A49-4214-8060-B4A68CEBE15C}"/>
              </a:ext>
            </a:extLst>
          </p:cNvPr>
          <p:cNvSpPr/>
          <p:nvPr/>
        </p:nvSpPr>
        <p:spPr>
          <a:xfrm>
            <a:off x="914400" y="2768600"/>
            <a:ext cx="2159000" cy="355600"/>
          </a:xfrm>
          <a:prstGeom prst="rect">
            <a:avLst/>
          </a:prstGeom>
          <a:solidFill>
            <a:srgbClr val="4A76D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altLang="zh-CN" sz="950" b="1">
                <a:solidFill>
                  <a:srgbClr val="FFFFFF"/>
                </a:solidFill>
                <a:latin typeface="Microsoft YaHei"/>
                <a:ea typeface="Microsoft YaHei"/>
              </a:rPr>
              <a:t>IndexNode trait</a:t>
            </a:r>
            <a:endParaRPr lang="zh-CN" altLang="en-US" sz="950" b="1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18D8E73-92EE-473D-8AB8-AE9AAD5247B1}"/>
              </a:ext>
            </a:extLst>
          </p:cNvPr>
          <p:cNvSpPr txBox="1"/>
          <p:nvPr/>
        </p:nvSpPr>
        <p:spPr>
          <a:xfrm>
            <a:off x="3429000" y="2806700"/>
            <a:ext cx="3429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fontScale="92500" lnSpcReduction="20000"/>
          </a:bodyPr>
          <a:lstStyle/>
          <a:p>
            <a:pPr algn="l"/>
            <a:r>
              <a:rPr lang="en-US" altLang="zh-CN" sz="1000">
                <a:solidFill>
                  <a:srgbClr val="5F6B7A"/>
                </a:solidFill>
                <a:latin typeface="Microsoft YaHei"/>
                <a:ea typeface="Microsoft YaHei"/>
              </a:rPr>
              <a:t>inode </a:t>
            </a:r>
            <a:r>
              <a:rPr lang="zh-CN" altLang="en-US" sz="1000">
                <a:solidFill>
                  <a:srgbClr val="5F6B7A"/>
                </a:solidFill>
                <a:latin typeface="Microsoft YaHei"/>
                <a:ea typeface="Microsoft YaHei"/>
              </a:rPr>
              <a:t>语义与操作接口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7BEC3EF-5557-4171-B68A-385A2F6BEBD1}"/>
              </a:ext>
            </a:extLst>
          </p:cNvPr>
          <p:cNvSpPr/>
          <p:nvPr/>
        </p:nvSpPr>
        <p:spPr>
          <a:xfrm>
            <a:off x="1955800" y="3149600"/>
            <a:ext cx="50800" cy="152400"/>
          </a:xfrm>
          <a:prstGeom prst="rect">
            <a:avLst/>
          </a:prstGeom>
          <a:solidFill>
            <a:srgbClr val="B8C9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0DCC76E-B454-433C-BEF9-1871968DB40C}"/>
              </a:ext>
            </a:extLst>
          </p:cNvPr>
          <p:cNvSpPr/>
          <p:nvPr/>
        </p:nvSpPr>
        <p:spPr>
          <a:xfrm>
            <a:off x="914400" y="3276600"/>
            <a:ext cx="2159000" cy="355600"/>
          </a:xfrm>
          <a:prstGeom prst="rect">
            <a:avLst/>
          </a:prstGeom>
          <a:solidFill>
            <a:srgbClr val="4A76D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altLang="zh-CN" sz="950" b="1">
                <a:solidFill>
                  <a:srgbClr val="FFFFFF"/>
                </a:solidFill>
                <a:latin typeface="Microsoft YaHei"/>
                <a:ea typeface="Microsoft YaHei"/>
              </a:rPr>
              <a:t>MountFS</a:t>
            </a:r>
            <a:endParaRPr lang="zh-CN" altLang="en-US" sz="950" b="1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79B8866-6B27-4C6A-96D3-58D20F8740F0}"/>
              </a:ext>
            </a:extLst>
          </p:cNvPr>
          <p:cNvSpPr txBox="1"/>
          <p:nvPr/>
        </p:nvSpPr>
        <p:spPr>
          <a:xfrm>
            <a:off x="3429000" y="3314700"/>
            <a:ext cx="3429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fontScale="92500" lnSpcReduction="20000"/>
          </a:bodyPr>
          <a:lstStyle/>
          <a:p>
            <a:pPr algn="l"/>
            <a:r>
              <a:rPr lang="zh-CN" altLang="en-US" sz="1000">
                <a:solidFill>
                  <a:srgbClr val="5F6B7A"/>
                </a:solidFill>
                <a:latin typeface="Microsoft YaHei"/>
                <a:ea typeface="Microsoft YaHei"/>
              </a:rPr>
              <a:t>跨 </a:t>
            </a:r>
            <a:r>
              <a:rPr lang="en-US" altLang="zh-CN" sz="1000">
                <a:solidFill>
                  <a:srgbClr val="5F6B7A"/>
                </a:solidFill>
                <a:latin typeface="Microsoft YaHei"/>
                <a:ea typeface="Microsoft YaHei"/>
              </a:rPr>
              <a:t>FS </a:t>
            </a:r>
            <a:r>
              <a:rPr lang="zh-CN" altLang="en-US" sz="1000">
                <a:solidFill>
                  <a:srgbClr val="5F6B7A"/>
                </a:solidFill>
                <a:latin typeface="Microsoft YaHei"/>
                <a:ea typeface="Microsoft YaHei"/>
              </a:rPr>
              <a:t>路径解析 </a:t>
            </a:r>
            <a:r>
              <a:rPr lang="en-US" altLang="zh-CN" sz="1000">
                <a:solidFill>
                  <a:srgbClr val="5F6B7A"/>
                </a:solidFill>
                <a:latin typeface="Microsoft YaHei"/>
                <a:ea typeface="Microsoft YaHei"/>
              </a:rPr>
              <a:t>/ bind / propagation</a:t>
            </a:r>
            <a:endParaRPr lang="zh-CN" altLang="en-US" sz="1000">
              <a:solidFill>
                <a:srgbClr val="5F6B7A"/>
              </a:solidFill>
              <a:latin typeface="Microsoft YaHei"/>
              <a:ea typeface="Microsoft YaHei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6F7A2CA-54D6-4D28-A3FB-15E7DAFC8537}"/>
              </a:ext>
            </a:extLst>
          </p:cNvPr>
          <p:cNvSpPr/>
          <p:nvPr/>
        </p:nvSpPr>
        <p:spPr>
          <a:xfrm>
            <a:off x="1955800" y="3657600"/>
            <a:ext cx="50800" cy="152400"/>
          </a:xfrm>
          <a:prstGeom prst="rect">
            <a:avLst/>
          </a:prstGeom>
          <a:solidFill>
            <a:srgbClr val="B8C9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84355D0-07FD-4BF0-A26E-E03378785CDE}"/>
              </a:ext>
            </a:extLst>
          </p:cNvPr>
          <p:cNvSpPr/>
          <p:nvPr/>
        </p:nvSpPr>
        <p:spPr>
          <a:xfrm>
            <a:off x="914400" y="3784600"/>
            <a:ext cx="2159000" cy="355600"/>
          </a:xfrm>
          <a:prstGeom prst="rect">
            <a:avLst/>
          </a:prstGeom>
          <a:solidFill>
            <a:srgbClr val="31A16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altLang="zh-CN" sz="950" b="1">
                <a:solidFill>
                  <a:srgbClr val="FFFFFF"/>
                </a:solidFill>
                <a:latin typeface="Microsoft YaHei"/>
                <a:ea typeface="Microsoft YaHei"/>
              </a:rPr>
              <a:t>FileSystem trait</a:t>
            </a:r>
            <a:endParaRPr lang="zh-CN" altLang="en-US" sz="950" b="1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DC45440-B8F1-4359-84A8-B2A3C589150A}"/>
              </a:ext>
            </a:extLst>
          </p:cNvPr>
          <p:cNvSpPr txBox="1"/>
          <p:nvPr/>
        </p:nvSpPr>
        <p:spPr>
          <a:xfrm>
            <a:off x="3429000" y="3822700"/>
            <a:ext cx="3429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fontScale="92500" lnSpcReduction="20000"/>
          </a:bodyPr>
          <a:lstStyle/>
          <a:p>
            <a:pPr algn="l"/>
            <a:r>
              <a:rPr lang="en-US" altLang="zh-CN" sz="1000">
                <a:solidFill>
                  <a:srgbClr val="5F6B7A"/>
                </a:solidFill>
                <a:latin typeface="Microsoft YaHei"/>
                <a:ea typeface="Microsoft YaHei"/>
              </a:rPr>
              <a:t>ext4 / fat32 / tmpfs / procfs / sysfs</a:t>
            </a:r>
            <a:endParaRPr lang="zh-CN" altLang="en-US" sz="1000">
              <a:solidFill>
                <a:srgbClr val="5F6B7A"/>
              </a:solidFill>
              <a:latin typeface="Microsoft YaHei"/>
              <a:ea typeface="Microsoft YaHei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BF397FF-F139-4EEA-B7D4-90B115BF0AF0}"/>
              </a:ext>
            </a:extLst>
          </p:cNvPr>
          <p:cNvSpPr/>
          <p:nvPr/>
        </p:nvSpPr>
        <p:spPr>
          <a:xfrm>
            <a:off x="1955800" y="4165600"/>
            <a:ext cx="50800" cy="152400"/>
          </a:xfrm>
          <a:prstGeom prst="rect">
            <a:avLst/>
          </a:prstGeom>
          <a:solidFill>
            <a:srgbClr val="B8C9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D2397BB-77CB-4666-A4EC-D5D9ABA4EA23}"/>
              </a:ext>
            </a:extLst>
          </p:cNvPr>
          <p:cNvSpPr/>
          <p:nvPr/>
        </p:nvSpPr>
        <p:spPr>
          <a:xfrm>
            <a:off x="914400" y="4292600"/>
            <a:ext cx="2159000" cy="355600"/>
          </a:xfrm>
          <a:prstGeom prst="rect">
            <a:avLst/>
          </a:prstGeom>
          <a:solidFill>
            <a:srgbClr val="31A16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altLang="zh-CN" sz="950" b="1">
                <a:solidFill>
                  <a:srgbClr val="FFFFFF"/>
                </a:solidFill>
                <a:latin typeface="Microsoft YaHei"/>
                <a:ea typeface="Microsoft YaHei"/>
              </a:rPr>
              <a:t>PageCache</a:t>
            </a:r>
            <a:endParaRPr lang="zh-CN" altLang="en-US" sz="950" b="1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0A0B71A-FE1D-4E07-9BB5-2DD3BF34D5CF}"/>
              </a:ext>
            </a:extLst>
          </p:cNvPr>
          <p:cNvSpPr txBox="1"/>
          <p:nvPr/>
        </p:nvSpPr>
        <p:spPr>
          <a:xfrm>
            <a:off x="3429000" y="4330700"/>
            <a:ext cx="3429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fontScale="92500" lnSpcReduction="20000"/>
          </a:bodyPr>
          <a:lstStyle/>
          <a:p>
            <a:pPr algn="l"/>
            <a:r>
              <a:rPr lang="en-US" altLang="zh-CN" sz="1000">
                <a:solidFill>
                  <a:srgbClr val="5F6B7A"/>
                </a:solidFill>
                <a:latin typeface="Microsoft YaHei"/>
                <a:ea typeface="Microsoft YaHei"/>
              </a:rPr>
              <a:t>dirty_pages + writeback + reclaim</a:t>
            </a:r>
            <a:endParaRPr lang="zh-CN" altLang="en-US" sz="1000">
              <a:solidFill>
                <a:srgbClr val="5F6B7A"/>
              </a:solidFill>
              <a:latin typeface="Microsoft YaHei"/>
              <a:ea typeface="Microsoft YaHei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25C3D09-9034-4E6B-B597-82A5A791F344}"/>
              </a:ext>
            </a:extLst>
          </p:cNvPr>
          <p:cNvSpPr/>
          <p:nvPr/>
        </p:nvSpPr>
        <p:spPr>
          <a:xfrm>
            <a:off x="1955800" y="4673600"/>
            <a:ext cx="50800" cy="152400"/>
          </a:xfrm>
          <a:prstGeom prst="rect">
            <a:avLst/>
          </a:prstGeom>
          <a:solidFill>
            <a:srgbClr val="B8C9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985B262-3E0B-40CF-BF6B-9FAF06AECAC8}"/>
              </a:ext>
            </a:extLst>
          </p:cNvPr>
          <p:cNvSpPr/>
          <p:nvPr/>
        </p:nvSpPr>
        <p:spPr>
          <a:xfrm>
            <a:off x="914400" y="4800600"/>
            <a:ext cx="2159000" cy="355600"/>
          </a:xfrm>
          <a:prstGeom prst="rect">
            <a:avLst/>
          </a:prstGeom>
          <a:solidFill>
            <a:srgbClr val="31A16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altLang="zh-CN" sz="950" b="1">
                <a:solidFill>
                  <a:srgbClr val="FFFFFF"/>
                </a:solidFill>
                <a:latin typeface="Microsoft YaHei"/>
                <a:ea typeface="Microsoft YaHei"/>
              </a:rPr>
              <a:t>BlockDevice</a:t>
            </a:r>
            <a:endParaRPr lang="zh-CN" altLang="en-US" sz="950" b="1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DE6F54B1-44AE-477C-905B-1B2F997BAE0E}"/>
              </a:ext>
            </a:extLst>
          </p:cNvPr>
          <p:cNvSpPr txBox="1"/>
          <p:nvPr/>
        </p:nvSpPr>
        <p:spPr>
          <a:xfrm>
            <a:off x="3429000" y="4838700"/>
            <a:ext cx="3429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fontScale="92500" lnSpcReduction="20000"/>
          </a:bodyPr>
          <a:lstStyle/>
          <a:p>
            <a:pPr algn="l"/>
            <a:r>
              <a:rPr lang="en-US" altLang="zh-CN" sz="1000">
                <a:solidFill>
                  <a:srgbClr val="5F6B7A"/>
                </a:solidFill>
                <a:latin typeface="Microsoft YaHei"/>
                <a:ea typeface="Microsoft YaHei"/>
              </a:rPr>
              <a:t>virtio block / PCI</a:t>
            </a:r>
            <a:endParaRPr lang="zh-CN" altLang="en-US" sz="1000">
              <a:solidFill>
                <a:srgbClr val="5F6B7A"/>
              </a:solidFill>
              <a:latin typeface="Microsoft YaHei"/>
              <a:ea typeface="Microsoft YaHei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CC38BC4-A86E-42B3-A388-18F76229EC53}"/>
              </a:ext>
            </a:extLst>
          </p:cNvPr>
          <p:cNvSpPr/>
          <p:nvPr/>
        </p:nvSpPr>
        <p:spPr>
          <a:xfrm>
            <a:off x="7747000" y="1828800"/>
            <a:ext cx="3175000" cy="10160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9E3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49402A3-DA66-4C02-858F-F46337DF18A1}"/>
              </a:ext>
            </a:extLst>
          </p:cNvPr>
          <p:cNvSpPr/>
          <p:nvPr/>
        </p:nvSpPr>
        <p:spPr>
          <a:xfrm>
            <a:off x="7747000" y="1828800"/>
            <a:ext cx="63500" cy="1016000"/>
          </a:xfrm>
          <a:prstGeom prst="rect">
            <a:avLst/>
          </a:prstGeom>
          <a:solidFill>
            <a:srgbClr val="F1993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744F633B-B837-425E-9981-14F5E4658A94}"/>
              </a:ext>
            </a:extLst>
          </p:cNvPr>
          <p:cNvSpPr txBox="1"/>
          <p:nvPr/>
        </p:nvSpPr>
        <p:spPr>
          <a:xfrm>
            <a:off x="7975600" y="2019300"/>
            <a:ext cx="27178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zh-CN" altLang="en-US" sz="1320" b="1">
                <a:solidFill>
                  <a:srgbClr val="123B67"/>
                </a:solidFill>
                <a:latin typeface="Microsoft YaHei"/>
                <a:ea typeface="Microsoft YaHei"/>
              </a:rPr>
              <a:t>语义收益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257604B2-DAFC-4B8A-BBEE-AC04E3E5B3F5}"/>
              </a:ext>
            </a:extLst>
          </p:cNvPr>
          <p:cNvSpPr txBox="1"/>
          <p:nvPr/>
        </p:nvSpPr>
        <p:spPr>
          <a:xfrm>
            <a:off x="7975600" y="2438400"/>
            <a:ext cx="279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fontScale="92500"/>
          </a:bodyPr>
          <a:lstStyle/>
          <a:p>
            <a:pPr algn="l"/>
            <a:r>
              <a:rPr lang="zh-CN" altLang="en-US" sz="1020">
                <a:solidFill>
                  <a:srgbClr val="5F6B7A"/>
                </a:solidFill>
                <a:latin typeface="Microsoft YaHei"/>
                <a:ea typeface="Microsoft YaHei"/>
              </a:rPr>
              <a:t>一套 </a:t>
            </a:r>
            <a:r>
              <a:rPr lang="en-US" altLang="zh-CN" sz="1020">
                <a:solidFill>
                  <a:srgbClr val="5F6B7A"/>
                </a:solidFill>
                <a:latin typeface="Microsoft YaHei"/>
                <a:ea typeface="Microsoft YaHei"/>
              </a:rPr>
              <a:t>syscall </a:t>
            </a:r>
            <a:r>
              <a:rPr lang="zh-CN" altLang="en-US" sz="1020">
                <a:solidFill>
                  <a:srgbClr val="5F6B7A"/>
                </a:solidFill>
                <a:latin typeface="Microsoft YaHei"/>
                <a:ea typeface="Microsoft YaHei"/>
              </a:rPr>
              <a:t>覆盖多 </a:t>
            </a:r>
            <a:r>
              <a:rPr lang="en-US" altLang="zh-CN" sz="1020">
                <a:solidFill>
                  <a:srgbClr val="5F6B7A"/>
                </a:solidFill>
                <a:latin typeface="Microsoft YaHei"/>
                <a:ea typeface="Microsoft YaHei"/>
              </a:rPr>
              <a:t>FS</a:t>
            </a:r>
            <a:r>
              <a:rPr lang="zh-CN" altLang="en-US" sz="1020">
                <a:solidFill>
                  <a:srgbClr val="5F6B7A"/>
                </a:solidFill>
                <a:latin typeface="Microsoft YaHei"/>
                <a:ea typeface="Microsoft YaHei"/>
              </a:rPr>
              <a:t>；</a:t>
            </a:r>
            <a:r>
              <a:rPr lang="en-US" altLang="zh-CN" sz="1020">
                <a:solidFill>
                  <a:srgbClr val="5F6B7A"/>
                </a:solidFill>
                <a:latin typeface="Microsoft YaHei"/>
                <a:ea typeface="Microsoft YaHei"/>
              </a:rPr>
              <a:t>mount </a:t>
            </a:r>
            <a:r>
              <a:rPr lang="zh-CN" altLang="en-US" sz="1020">
                <a:solidFill>
                  <a:srgbClr val="5F6B7A"/>
                </a:solidFill>
                <a:latin typeface="Microsoft YaHei"/>
                <a:ea typeface="Microsoft YaHei"/>
              </a:rPr>
              <a:t>与路径解析解耦。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C91FC57-21CF-4513-A3F6-C7751B727BB2}"/>
              </a:ext>
            </a:extLst>
          </p:cNvPr>
          <p:cNvSpPr/>
          <p:nvPr/>
        </p:nvSpPr>
        <p:spPr>
          <a:xfrm>
            <a:off x="7747000" y="3175000"/>
            <a:ext cx="3175000" cy="10160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9E3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EDBAB889-51C1-4CFD-A549-AFCE48E21695}"/>
              </a:ext>
            </a:extLst>
          </p:cNvPr>
          <p:cNvSpPr/>
          <p:nvPr/>
        </p:nvSpPr>
        <p:spPr>
          <a:xfrm>
            <a:off x="7747000" y="3175000"/>
            <a:ext cx="63500" cy="1016000"/>
          </a:xfrm>
          <a:prstGeom prst="rect">
            <a:avLst/>
          </a:prstGeom>
          <a:solidFill>
            <a:srgbClr val="4A76D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ABFC44CF-7F7E-4C6A-BBB4-98CBFB8AFEEB}"/>
              </a:ext>
            </a:extLst>
          </p:cNvPr>
          <p:cNvSpPr txBox="1"/>
          <p:nvPr/>
        </p:nvSpPr>
        <p:spPr>
          <a:xfrm>
            <a:off x="7975600" y="3365500"/>
            <a:ext cx="27178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zh-CN" altLang="en-US" sz="1320" b="1">
                <a:solidFill>
                  <a:srgbClr val="123B67"/>
                </a:solidFill>
                <a:latin typeface="Microsoft YaHei"/>
                <a:ea typeface="Microsoft YaHei"/>
              </a:rPr>
              <a:t>测试收益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BB2C4787-8C4B-497C-BC8D-58DA40B5C9DD}"/>
              </a:ext>
            </a:extLst>
          </p:cNvPr>
          <p:cNvSpPr txBox="1"/>
          <p:nvPr/>
        </p:nvSpPr>
        <p:spPr>
          <a:xfrm>
            <a:off x="7975600" y="3784600"/>
            <a:ext cx="279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fontScale="77500" lnSpcReduction="20000"/>
          </a:bodyPr>
          <a:lstStyle/>
          <a:p>
            <a:pPr algn="l"/>
            <a:r>
              <a:rPr lang="en-US" altLang="zh-CN" sz="1020">
                <a:solidFill>
                  <a:srgbClr val="5F6B7A"/>
                </a:solidFill>
                <a:latin typeface="Microsoft YaHei"/>
                <a:ea typeface="Microsoft YaHei"/>
              </a:rPr>
              <a:t>LTP FS case </a:t>
            </a:r>
            <a:r>
              <a:rPr lang="zh-CN" altLang="en-US" sz="1020">
                <a:solidFill>
                  <a:srgbClr val="5F6B7A"/>
                </a:solidFill>
                <a:latin typeface="Microsoft YaHei"/>
                <a:ea typeface="Microsoft YaHei"/>
              </a:rPr>
              <a:t>可按 </a:t>
            </a:r>
            <a:r>
              <a:rPr lang="en-US" altLang="zh-CN" sz="1020">
                <a:solidFill>
                  <a:srgbClr val="5F6B7A"/>
                </a:solidFill>
                <a:latin typeface="Microsoft YaHei"/>
                <a:ea typeface="Microsoft YaHei"/>
              </a:rPr>
              <a:t>syscall / inode / PageCache </a:t>
            </a:r>
            <a:r>
              <a:rPr lang="zh-CN" altLang="en-US" sz="1020">
                <a:solidFill>
                  <a:srgbClr val="5F6B7A"/>
                </a:solidFill>
                <a:latin typeface="Microsoft YaHei"/>
                <a:ea typeface="Microsoft YaHei"/>
              </a:rPr>
              <a:t>层级定位。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71BD0B68-4543-4A06-976E-9AE9EDFE61FF}"/>
              </a:ext>
            </a:extLst>
          </p:cNvPr>
          <p:cNvSpPr/>
          <p:nvPr/>
        </p:nvSpPr>
        <p:spPr>
          <a:xfrm>
            <a:off x="7747000" y="4521200"/>
            <a:ext cx="3175000" cy="10160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9E3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344D0AE8-E2C4-4D84-8986-78A5939E6ABF}"/>
              </a:ext>
            </a:extLst>
          </p:cNvPr>
          <p:cNvSpPr/>
          <p:nvPr/>
        </p:nvSpPr>
        <p:spPr>
          <a:xfrm>
            <a:off x="7747000" y="4521200"/>
            <a:ext cx="63500" cy="1016000"/>
          </a:xfrm>
          <a:prstGeom prst="rect">
            <a:avLst/>
          </a:prstGeom>
          <a:solidFill>
            <a:srgbClr val="31A16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7ABB6E55-AED0-476F-AF31-0728DC28ECD3}"/>
              </a:ext>
            </a:extLst>
          </p:cNvPr>
          <p:cNvSpPr txBox="1"/>
          <p:nvPr/>
        </p:nvSpPr>
        <p:spPr>
          <a:xfrm>
            <a:off x="7975600" y="4711700"/>
            <a:ext cx="27178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zh-CN" altLang="en-US" sz="1320" b="1">
                <a:solidFill>
                  <a:srgbClr val="123B67"/>
                </a:solidFill>
                <a:latin typeface="Microsoft YaHei"/>
                <a:ea typeface="Microsoft YaHei"/>
              </a:rPr>
              <a:t>工程收益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F5608308-D0EC-4AFD-8554-A202B3BB8FE2}"/>
              </a:ext>
            </a:extLst>
          </p:cNvPr>
          <p:cNvSpPr txBox="1"/>
          <p:nvPr/>
        </p:nvSpPr>
        <p:spPr>
          <a:xfrm>
            <a:off x="7975600" y="5130800"/>
            <a:ext cx="279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fontScale="70000" lnSpcReduction="20000"/>
          </a:bodyPr>
          <a:lstStyle/>
          <a:p>
            <a:pPr algn="l"/>
            <a:r>
              <a:rPr lang="zh-CN" altLang="en-US" sz="1020">
                <a:solidFill>
                  <a:srgbClr val="5F6B7A"/>
                </a:solidFill>
                <a:latin typeface="Microsoft YaHei"/>
                <a:ea typeface="Microsoft YaHei"/>
              </a:rPr>
              <a:t>参考 </a:t>
            </a:r>
            <a:r>
              <a:rPr lang="en-US" altLang="zh-CN" sz="1020">
                <a:solidFill>
                  <a:srgbClr val="5F6B7A"/>
                </a:solidFill>
                <a:latin typeface="Microsoft YaHei"/>
                <a:ea typeface="Microsoft YaHei"/>
              </a:rPr>
              <a:t>DragonOS </a:t>
            </a:r>
            <a:r>
              <a:rPr lang="zh-CN" altLang="en-US" sz="1020">
                <a:solidFill>
                  <a:srgbClr val="5F6B7A"/>
                </a:solidFill>
                <a:latin typeface="Microsoft YaHei"/>
                <a:ea typeface="Microsoft YaHei"/>
              </a:rPr>
              <a:t>分层，同时保留 </a:t>
            </a:r>
            <a:r>
              <a:rPr lang="en-US" altLang="zh-CN" sz="1020">
                <a:solidFill>
                  <a:srgbClr val="5F6B7A"/>
                </a:solidFill>
                <a:latin typeface="Microsoft YaHei"/>
                <a:ea typeface="Microsoft YaHei"/>
              </a:rPr>
              <a:t>MangoCore </a:t>
            </a:r>
            <a:r>
              <a:rPr lang="zh-CN" altLang="en-US" sz="1020">
                <a:solidFill>
                  <a:srgbClr val="5F6B7A"/>
                </a:solidFill>
                <a:latin typeface="Microsoft YaHei"/>
                <a:ea typeface="Microsoft YaHei"/>
              </a:rPr>
              <a:t>边界与缓存策略。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0A7CE6C1-B792-4865-BE66-04EC9B0DC9DA}"/>
              </a:ext>
            </a:extLst>
          </p:cNvPr>
          <p:cNvSpPr txBox="1"/>
          <p:nvPr/>
        </p:nvSpPr>
        <p:spPr>
          <a:xfrm>
            <a:off x="482600" y="6502400"/>
            <a:ext cx="10922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fontScale="92500" lnSpcReduction="20000"/>
          </a:bodyPr>
          <a:lstStyle/>
          <a:p>
            <a:pPr algn="l"/>
            <a:r>
              <a:rPr lang="zh-CN" altLang="en-US" sz="750">
                <a:solidFill>
                  <a:srgbClr val="8A96A8"/>
                </a:solidFill>
                <a:latin typeface="Microsoft YaHei"/>
                <a:ea typeface="Microsoft YaHei"/>
              </a:rPr>
              <a:t>依据：</a:t>
            </a:r>
            <a:r>
              <a:rPr lang="en-US" altLang="zh-CN" sz="750">
                <a:solidFill>
                  <a:srgbClr val="8A96A8"/>
                </a:solidFill>
                <a:latin typeface="Microsoft YaHei"/>
                <a:ea typeface="Microsoft YaHei"/>
              </a:rPr>
              <a:t>docs/03_fs/README.md</a:t>
            </a:r>
            <a:r>
              <a:rPr lang="zh-CN" altLang="en-US" sz="750">
                <a:solidFill>
                  <a:srgbClr val="8A96A8"/>
                </a:solidFill>
                <a:latin typeface="Microsoft YaHei"/>
                <a:ea typeface="Microsoft YaHei"/>
              </a:rPr>
              <a:t>、</a:t>
            </a:r>
            <a:r>
              <a:rPr lang="en-US" altLang="zh-CN" sz="750">
                <a:solidFill>
                  <a:srgbClr val="8A96A8"/>
                </a:solidFill>
                <a:latin typeface="Microsoft YaHei"/>
                <a:ea typeface="Microsoft YaHei"/>
              </a:rPr>
              <a:t>os/src/fs/vfs/mount.rs</a:t>
            </a:r>
            <a:r>
              <a:rPr lang="zh-CN" altLang="en-US" sz="750">
                <a:solidFill>
                  <a:srgbClr val="8A96A8"/>
                </a:solidFill>
                <a:latin typeface="Microsoft YaHei"/>
                <a:ea typeface="Microsoft YaHei"/>
              </a:rPr>
              <a:t>、</a:t>
            </a:r>
            <a:r>
              <a:rPr lang="en-US" altLang="zh-CN" sz="750">
                <a:solidFill>
                  <a:srgbClr val="8A96A8"/>
                </a:solidFill>
                <a:latin typeface="Microsoft YaHei"/>
                <a:ea typeface="Microsoft YaHei"/>
              </a:rPr>
              <a:t>os/src/fs/page_cache.rs</a:t>
            </a:r>
            <a:r>
              <a:rPr lang="zh-CN" altLang="en-US" sz="750">
                <a:solidFill>
                  <a:srgbClr val="8A96A8"/>
                </a:solidFill>
                <a:latin typeface="Microsoft YaHei"/>
                <a:ea typeface="Microsoft YaHei"/>
              </a:rPr>
              <a:t>；</a:t>
            </a:r>
            <a:r>
              <a:rPr lang="en-US" altLang="zh-CN" sz="750">
                <a:solidFill>
                  <a:srgbClr val="8A96A8"/>
                </a:solidFill>
                <a:latin typeface="Microsoft YaHei"/>
                <a:ea typeface="Microsoft YaHei"/>
              </a:rPr>
              <a:t>FS </a:t>
            </a:r>
            <a:r>
              <a:rPr lang="zh-CN" altLang="en-US" sz="750">
                <a:solidFill>
                  <a:srgbClr val="8A96A8"/>
                </a:solidFill>
                <a:latin typeface="Microsoft YaHei"/>
                <a:ea typeface="Microsoft YaHei"/>
              </a:rPr>
              <a:t>类型含 </a:t>
            </a:r>
            <a:r>
              <a:rPr lang="en-US" altLang="zh-CN" sz="750">
                <a:solidFill>
                  <a:srgbClr val="8A96A8"/>
                </a:solidFill>
                <a:latin typeface="Microsoft YaHei"/>
                <a:ea typeface="Microsoft YaHei"/>
              </a:rPr>
              <a:t>ext4/fat32/tmpfs/ramfs/procfs/devfs/sysfs</a:t>
            </a:r>
            <a:r>
              <a:rPr lang="zh-CN" altLang="en-US" sz="750">
                <a:solidFill>
                  <a:srgbClr val="8A96A8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841BCE43-95F8-4875-A773-3238B5A257A6}"/>
              </a:ext>
            </a:extLst>
          </p:cNvPr>
          <p:cNvSpPr/>
          <p:nvPr/>
        </p:nvSpPr>
        <p:spPr>
          <a:xfrm>
            <a:off x="254000" y="304800"/>
            <a:ext cx="101600" cy="482600"/>
          </a:xfrm>
          <a:prstGeom prst="rect">
            <a:avLst/>
          </a:prstGeom>
          <a:solidFill>
            <a:srgbClr val="3F70B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665042FB-7FD8-4319-8B43-CCB2781F4A2B}"/>
              </a:ext>
            </a:extLst>
          </p:cNvPr>
          <p:cNvSpPr/>
          <p:nvPr/>
        </p:nvSpPr>
        <p:spPr>
          <a:xfrm>
            <a:off x="254000" y="838200"/>
            <a:ext cx="11684000" cy="19050"/>
          </a:xfrm>
          <a:prstGeom prst="rect">
            <a:avLst/>
          </a:prstGeom>
          <a:solidFill>
            <a:srgbClr val="3F70B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BAAC9B1E-C636-426C-B921-E261D4C3BA7B}"/>
              </a:ext>
            </a:extLst>
          </p:cNvPr>
          <p:cNvSpPr txBox="1"/>
          <p:nvPr/>
        </p:nvSpPr>
        <p:spPr>
          <a:xfrm>
            <a:off x="736600" y="228600"/>
            <a:ext cx="81280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2000" b="1">
                <a:solidFill>
                  <a:srgbClr val="3F70B7"/>
                </a:solidFill>
                <a:latin typeface="Microsoft YaHei"/>
                <a:ea typeface="Microsoft YaHei"/>
              </a:rPr>
              <a:t>VFS / MountFS</a:t>
            </a:r>
            <a:r>
              <a:rPr lang="zh-CN" altLang="en-US" sz="2000" b="1">
                <a:solidFill>
                  <a:srgbClr val="3F70B7"/>
                </a:solidFill>
                <a:latin typeface="Microsoft YaHei"/>
                <a:ea typeface="Microsoft YaHei"/>
              </a:rPr>
              <a:t>：多文件系统复用同一套 </a:t>
            </a:r>
            <a:r>
              <a:rPr lang="en-US" altLang="zh-CN" sz="2000" b="1">
                <a:solidFill>
                  <a:srgbClr val="3F70B7"/>
                </a:solidFill>
                <a:latin typeface="Microsoft YaHei"/>
                <a:ea typeface="Microsoft YaHei"/>
              </a:rPr>
              <a:t>syscall </a:t>
            </a:r>
            <a:r>
              <a:rPr lang="zh-CN" altLang="en-US" sz="2000" b="1">
                <a:solidFill>
                  <a:srgbClr val="3F70B7"/>
                </a:solidFill>
                <a:latin typeface="Microsoft YaHei"/>
                <a:ea typeface="Microsoft YaHei"/>
              </a:rPr>
              <a:t>语义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A6530A8B-BAA0-4359-9F29-F96F0E76C34E}"/>
              </a:ext>
            </a:extLst>
          </p:cNvPr>
          <p:cNvSpPr/>
          <p:nvPr/>
        </p:nvSpPr>
        <p:spPr>
          <a:xfrm>
            <a:off x="0" y="0"/>
            <a:ext cx="8953500" cy="990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82BF05C1-5E9B-4163-A764-C4A40C5EBA30}"/>
              </a:ext>
            </a:extLst>
          </p:cNvPr>
          <p:cNvSpPr/>
          <p:nvPr/>
        </p:nvSpPr>
        <p:spPr>
          <a:xfrm>
            <a:off x="254000" y="330200"/>
            <a:ext cx="88900" cy="431800"/>
          </a:xfrm>
          <a:prstGeom prst="rect">
            <a:avLst/>
          </a:prstGeom>
          <a:solidFill>
            <a:srgbClr val="3F70B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B9B8DAC8-3B2C-4659-9DD1-F2E51CF1698F}"/>
              </a:ext>
            </a:extLst>
          </p:cNvPr>
          <p:cNvSpPr/>
          <p:nvPr/>
        </p:nvSpPr>
        <p:spPr>
          <a:xfrm>
            <a:off x="254000" y="838200"/>
            <a:ext cx="8763000" cy="17780"/>
          </a:xfrm>
          <a:prstGeom prst="rect">
            <a:avLst/>
          </a:prstGeom>
          <a:solidFill>
            <a:srgbClr val="3F70B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D491A686-5672-488A-A4F3-24D591B37017}"/>
              </a:ext>
            </a:extLst>
          </p:cNvPr>
          <p:cNvSpPr txBox="1"/>
          <p:nvPr/>
        </p:nvSpPr>
        <p:spPr>
          <a:xfrm>
            <a:off x="711200" y="279400"/>
            <a:ext cx="8064500" cy="3556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spAutoFit/>
          </a:bodyPr>
          <a:lstStyle/>
          <a:p>
            <a:pPr algn="l"/>
            <a:r>
              <a:rPr lang="en-US" altLang="zh-CN" b="1">
                <a:solidFill>
                  <a:srgbClr val="3F70B7"/>
                </a:solidFill>
                <a:latin typeface="Microsoft YaHei UI"/>
                <a:ea typeface="Microsoft YaHei UI"/>
              </a:rPr>
              <a:t>VFS / MountFS</a:t>
            </a:r>
            <a:r>
              <a:rPr lang="zh-CN" altLang="en-US" b="1">
                <a:solidFill>
                  <a:srgbClr val="3F70B7"/>
                </a:solidFill>
                <a:latin typeface="Microsoft YaHei UI"/>
                <a:ea typeface="Microsoft YaHei UI"/>
              </a:rPr>
              <a:t>：统一 </a:t>
            </a:r>
            <a:r>
              <a:rPr lang="en-US" altLang="zh-CN" b="1">
                <a:solidFill>
                  <a:srgbClr val="3F70B7"/>
                </a:solidFill>
                <a:latin typeface="Microsoft YaHei UI"/>
                <a:ea typeface="Microsoft YaHei UI"/>
              </a:rPr>
              <a:t>fd</a:t>
            </a:r>
            <a:r>
              <a:rPr lang="zh-CN" altLang="en-US" b="1">
                <a:solidFill>
                  <a:srgbClr val="3F70B7"/>
                </a:solidFill>
                <a:latin typeface="Microsoft YaHei UI"/>
                <a:ea typeface="Microsoft YaHei UI"/>
              </a:rPr>
              <a:t>、</a:t>
            </a:r>
            <a:r>
              <a:rPr lang="en-US" altLang="zh-CN" b="1">
                <a:solidFill>
                  <a:srgbClr val="3F70B7"/>
                </a:solidFill>
                <a:latin typeface="Microsoft YaHei UI"/>
                <a:ea typeface="Microsoft YaHei UI"/>
              </a:rPr>
              <a:t>inode </a:t>
            </a:r>
            <a:r>
              <a:rPr lang="zh-CN" altLang="en-US" b="1">
                <a:solidFill>
                  <a:srgbClr val="3F70B7"/>
                </a:solidFill>
                <a:latin typeface="Microsoft YaHei UI"/>
                <a:ea typeface="Microsoft YaHei UI"/>
              </a:rPr>
              <a:t>与 </a:t>
            </a:r>
            <a:r>
              <a:rPr lang="en-US" altLang="zh-CN" b="1">
                <a:solidFill>
                  <a:srgbClr val="3F70B7"/>
                </a:solidFill>
                <a:latin typeface="Microsoft YaHei UI"/>
                <a:ea typeface="Microsoft YaHei UI"/>
              </a:rPr>
              <a:t>mount </a:t>
            </a:r>
            <a:r>
              <a:rPr lang="zh-CN" altLang="en-US" b="1">
                <a:solidFill>
                  <a:srgbClr val="3F70B7"/>
                </a:solidFill>
                <a:latin typeface="Microsoft YaHei UI"/>
                <a:ea typeface="Microsoft YaHei UI"/>
              </a:rPr>
              <a:t>语义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067511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矩形 188">
            <a:extLst>
              <a:ext uri="{FF2B5EF4-FFF2-40B4-BE49-F238E27FC236}">
                <a16:creationId xmlns:a16="http://schemas.microsoft.com/office/drawing/2014/main" id="{114DD1DE-693B-40C5-8081-829762379EC3}"/>
              </a:ext>
            </a:extLst>
          </p:cNvPr>
          <p:cNvSpPr/>
          <p:nvPr/>
        </p:nvSpPr>
        <p:spPr>
          <a:xfrm>
            <a:off x="2794000" y="127000"/>
            <a:ext cx="6604000" cy="4318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altLang="zh-CN" sz="2600" b="1">
                <a:solidFill>
                  <a:srgbClr val="080F1F"/>
                </a:solidFill>
              </a:rPr>
              <a:t>MangoCore </a:t>
            </a:r>
            <a:r>
              <a:rPr lang="zh-CN" altLang="en-US" sz="2600" b="1">
                <a:solidFill>
                  <a:srgbClr val="080F1F"/>
                </a:solidFill>
              </a:rPr>
              <a:t>文件系统架构图</a:t>
            </a:r>
          </a:p>
        </p:txBody>
      </p:sp>
      <p:sp>
        <p:nvSpPr>
          <p:cNvPr id="190" name="矩形 189">
            <a:extLst>
              <a:ext uri="{FF2B5EF4-FFF2-40B4-BE49-F238E27FC236}">
                <a16:creationId xmlns:a16="http://schemas.microsoft.com/office/drawing/2014/main" id="{E022E1B8-3986-4D61-A1DF-4856159BA482}"/>
              </a:ext>
            </a:extLst>
          </p:cNvPr>
          <p:cNvSpPr/>
          <p:nvPr/>
        </p:nvSpPr>
        <p:spPr>
          <a:xfrm>
            <a:off x="304800" y="736600"/>
            <a:ext cx="11582400" cy="863600"/>
          </a:xfrm>
          <a:prstGeom prst="rect">
            <a:avLst/>
          </a:prstGeom>
          <a:solidFill>
            <a:srgbClr val="F3FF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91" name="矩形 190">
            <a:extLst>
              <a:ext uri="{FF2B5EF4-FFF2-40B4-BE49-F238E27FC236}">
                <a16:creationId xmlns:a16="http://schemas.microsoft.com/office/drawing/2014/main" id="{E89419C0-D2A8-4509-8C71-36DB80E14FA3}"/>
              </a:ext>
            </a:extLst>
          </p:cNvPr>
          <p:cNvSpPr/>
          <p:nvPr/>
        </p:nvSpPr>
        <p:spPr>
          <a:xfrm>
            <a:off x="736600" y="965200"/>
            <a:ext cx="1143000" cy="355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zh-CN" altLang="en-US" sz="2200" b="1">
                <a:solidFill>
                  <a:srgbClr val="15803D"/>
                </a:solidFill>
              </a:rPr>
              <a:t>用户态</a:t>
            </a:r>
          </a:p>
        </p:txBody>
      </p:sp>
      <p:sp>
        <p:nvSpPr>
          <p:cNvPr id="192" name="矩形 191">
            <a:extLst>
              <a:ext uri="{FF2B5EF4-FFF2-40B4-BE49-F238E27FC236}">
                <a16:creationId xmlns:a16="http://schemas.microsoft.com/office/drawing/2014/main" id="{4152CF9E-9026-4904-AA4B-E33635C4D3B3}"/>
              </a:ext>
            </a:extLst>
          </p:cNvPr>
          <p:cNvSpPr/>
          <p:nvPr/>
        </p:nvSpPr>
        <p:spPr>
          <a:xfrm>
            <a:off x="3365500" y="952500"/>
            <a:ext cx="2921000" cy="4318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zh-CN" altLang="en-US" sz="1200" b="1">
                <a:solidFill>
                  <a:srgbClr val="111827"/>
                </a:solidFill>
              </a:rPr>
              <a:t>应用 </a:t>
            </a:r>
            <a:r>
              <a:rPr lang="en-US" altLang="zh-CN" sz="1200" b="1">
                <a:solidFill>
                  <a:srgbClr val="111827"/>
                </a:solidFill>
              </a:rPr>
              <a:t>/ BusyBox / Lua</a:t>
            </a:r>
            <a:endParaRPr lang="zh-CN" altLang="en-US" sz="1200" b="1">
              <a:solidFill>
                <a:srgbClr val="111827"/>
              </a:solidFill>
            </a:endParaRPr>
          </a:p>
        </p:txBody>
      </p:sp>
      <p:sp>
        <p:nvSpPr>
          <p:cNvPr id="193" name="矩形 192">
            <a:extLst>
              <a:ext uri="{FF2B5EF4-FFF2-40B4-BE49-F238E27FC236}">
                <a16:creationId xmlns:a16="http://schemas.microsoft.com/office/drawing/2014/main" id="{41B97456-1833-4CCC-94D1-336613E734D4}"/>
              </a:ext>
            </a:extLst>
          </p:cNvPr>
          <p:cNvSpPr/>
          <p:nvPr/>
        </p:nvSpPr>
        <p:spPr>
          <a:xfrm>
            <a:off x="7620000" y="952500"/>
            <a:ext cx="2921000" cy="4318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altLang="zh-CN" sz="1200" b="1">
                <a:solidFill>
                  <a:srgbClr val="111827"/>
                </a:solidFill>
              </a:rPr>
              <a:t>libc / </a:t>
            </a:r>
            <a:r>
              <a:rPr lang="zh-CN" altLang="en-US" sz="1200" b="1">
                <a:solidFill>
                  <a:srgbClr val="111827"/>
                </a:solidFill>
              </a:rPr>
              <a:t>文件 </a:t>
            </a:r>
            <a:r>
              <a:rPr lang="en-US" altLang="zh-CN" sz="1200" b="1">
                <a:solidFill>
                  <a:srgbClr val="111827"/>
                </a:solidFill>
              </a:rPr>
              <a:t>API</a:t>
            </a:r>
            <a:endParaRPr lang="zh-CN" altLang="en-US" sz="1200" b="1">
              <a:solidFill>
                <a:srgbClr val="111827"/>
              </a:solidFill>
            </a:endParaRPr>
          </a:p>
        </p:txBody>
      </p:sp>
      <p:sp>
        <p:nvSpPr>
          <p:cNvPr id="194" name="矩形 193">
            <a:extLst>
              <a:ext uri="{FF2B5EF4-FFF2-40B4-BE49-F238E27FC236}">
                <a16:creationId xmlns:a16="http://schemas.microsoft.com/office/drawing/2014/main" id="{B7D61364-2547-402A-90A9-0B9A2AB994FF}"/>
              </a:ext>
            </a:extLst>
          </p:cNvPr>
          <p:cNvSpPr/>
          <p:nvPr/>
        </p:nvSpPr>
        <p:spPr>
          <a:xfrm>
            <a:off x="304800" y="1905000"/>
            <a:ext cx="11582400" cy="685800"/>
          </a:xfrm>
          <a:prstGeom prst="rect">
            <a:avLst/>
          </a:prstGeom>
          <a:solidFill>
            <a:srgbClr val="F0F8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95" name="矩形 194">
            <a:extLst>
              <a:ext uri="{FF2B5EF4-FFF2-40B4-BE49-F238E27FC236}">
                <a16:creationId xmlns:a16="http://schemas.microsoft.com/office/drawing/2014/main" id="{7F2A0AB0-03CB-4D24-B2F4-72EEACBAF71E}"/>
              </a:ext>
            </a:extLst>
          </p:cNvPr>
          <p:cNvSpPr/>
          <p:nvPr/>
        </p:nvSpPr>
        <p:spPr>
          <a:xfrm>
            <a:off x="736600" y="2057400"/>
            <a:ext cx="1651000" cy="355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zh-CN" altLang="en-US" sz="1900" b="1">
                <a:solidFill>
                  <a:srgbClr val="0969D8"/>
                </a:solidFill>
              </a:rPr>
              <a:t>系统调用层</a:t>
            </a:r>
          </a:p>
        </p:txBody>
      </p:sp>
      <p:sp>
        <p:nvSpPr>
          <p:cNvPr id="196" name="矩形 195">
            <a:extLst>
              <a:ext uri="{FF2B5EF4-FFF2-40B4-BE49-F238E27FC236}">
                <a16:creationId xmlns:a16="http://schemas.microsoft.com/office/drawing/2014/main" id="{CC28192E-9BF3-41B6-A989-36FD0F0D0D00}"/>
              </a:ext>
            </a:extLst>
          </p:cNvPr>
          <p:cNvSpPr/>
          <p:nvPr/>
        </p:nvSpPr>
        <p:spPr>
          <a:xfrm>
            <a:off x="3302000" y="2057400"/>
            <a:ext cx="7112000" cy="355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altLang="zh-CN" sz="1200" b="1">
                <a:solidFill>
                  <a:srgbClr val="111827"/>
                </a:solidFill>
              </a:rPr>
              <a:t>open / read / write / mmap / stat / mount / poll</a:t>
            </a:r>
            <a:endParaRPr lang="zh-CN" altLang="en-US" sz="1200" b="1">
              <a:solidFill>
                <a:srgbClr val="111827"/>
              </a:solidFill>
            </a:endParaRPr>
          </a:p>
        </p:txBody>
      </p:sp>
      <p:sp>
        <p:nvSpPr>
          <p:cNvPr id="197" name="矩形 196">
            <a:extLst>
              <a:ext uri="{FF2B5EF4-FFF2-40B4-BE49-F238E27FC236}">
                <a16:creationId xmlns:a16="http://schemas.microsoft.com/office/drawing/2014/main" id="{1E34F374-9ECB-4819-9D2F-CAB28BF902DD}"/>
              </a:ext>
            </a:extLst>
          </p:cNvPr>
          <p:cNvSpPr/>
          <p:nvPr/>
        </p:nvSpPr>
        <p:spPr>
          <a:xfrm>
            <a:off x="304800" y="2921000"/>
            <a:ext cx="11582400" cy="1041400"/>
          </a:xfrm>
          <a:prstGeom prst="rect">
            <a:avLst/>
          </a:prstGeom>
          <a:solidFill>
            <a:srgbClr val="FFF9E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98" name="矩形 197">
            <a:extLst>
              <a:ext uri="{FF2B5EF4-FFF2-40B4-BE49-F238E27FC236}">
                <a16:creationId xmlns:a16="http://schemas.microsoft.com/office/drawing/2014/main" id="{05E66E64-69B4-4B65-953E-6188546647E8}"/>
              </a:ext>
            </a:extLst>
          </p:cNvPr>
          <p:cNvSpPr/>
          <p:nvPr/>
        </p:nvSpPr>
        <p:spPr>
          <a:xfrm>
            <a:off x="914400" y="3200400"/>
            <a:ext cx="1016000" cy="355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altLang="zh-CN" sz="2200" b="1">
                <a:solidFill>
                  <a:srgbClr val="B45309"/>
                </a:solidFill>
              </a:rPr>
              <a:t>VFS </a:t>
            </a:r>
            <a:r>
              <a:rPr lang="zh-CN" altLang="en-US" sz="2200" b="1">
                <a:solidFill>
                  <a:srgbClr val="B45309"/>
                </a:solidFill>
              </a:rPr>
              <a:t>层</a:t>
            </a:r>
          </a:p>
        </p:txBody>
      </p:sp>
      <p:sp>
        <p:nvSpPr>
          <p:cNvPr id="199" name="矩形 198">
            <a:extLst>
              <a:ext uri="{FF2B5EF4-FFF2-40B4-BE49-F238E27FC236}">
                <a16:creationId xmlns:a16="http://schemas.microsoft.com/office/drawing/2014/main" id="{EE384A18-B62C-44B1-8169-91CA0369B9F5}"/>
              </a:ext>
            </a:extLst>
          </p:cNvPr>
          <p:cNvSpPr/>
          <p:nvPr/>
        </p:nvSpPr>
        <p:spPr>
          <a:xfrm>
            <a:off x="2286000" y="3175000"/>
            <a:ext cx="1524000" cy="5334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altLang="zh-CN" sz="1100" b="1">
                <a:solidFill>
                  <a:srgbClr val="111827"/>
                </a:solidFill>
              </a:rPr>
              <a:t>File
fd </a:t>
            </a:r>
            <a:r>
              <a:rPr lang="zh-CN" altLang="en-US" sz="1100" b="1">
                <a:solidFill>
                  <a:srgbClr val="111827"/>
                </a:solidFill>
              </a:rPr>
              <a:t>状态</a:t>
            </a:r>
          </a:p>
        </p:txBody>
      </p:sp>
      <p:sp>
        <p:nvSpPr>
          <p:cNvPr id="200" name="矩形 199">
            <a:extLst>
              <a:ext uri="{FF2B5EF4-FFF2-40B4-BE49-F238E27FC236}">
                <a16:creationId xmlns:a16="http://schemas.microsoft.com/office/drawing/2014/main" id="{970E736F-ED3C-48A5-9E53-FAF312FB3677}"/>
              </a:ext>
            </a:extLst>
          </p:cNvPr>
          <p:cNvSpPr/>
          <p:nvPr/>
        </p:nvSpPr>
        <p:spPr>
          <a:xfrm>
            <a:off x="4191000" y="3175000"/>
            <a:ext cx="1651000" cy="5334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altLang="zh-CN" sz="1100" b="1">
                <a:solidFill>
                  <a:srgbClr val="111827"/>
                </a:solidFill>
              </a:rPr>
              <a:t>IndexNode
inode </a:t>
            </a:r>
            <a:r>
              <a:rPr lang="zh-CN" altLang="en-US" sz="1100" b="1">
                <a:solidFill>
                  <a:srgbClr val="111827"/>
                </a:solidFill>
              </a:rPr>
              <a:t>接口</a:t>
            </a:r>
          </a:p>
        </p:txBody>
      </p:sp>
      <p:sp>
        <p:nvSpPr>
          <p:cNvPr id="201" name="矩形 200">
            <a:extLst>
              <a:ext uri="{FF2B5EF4-FFF2-40B4-BE49-F238E27FC236}">
                <a16:creationId xmlns:a16="http://schemas.microsoft.com/office/drawing/2014/main" id="{6AC6623F-3ABA-4FCA-90D7-5D2CABD49D52}"/>
              </a:ext>
            </a:extLst>
          </p:cNvPr>
          <p:cNvSpPr/>
          <p:nvPr/>
        </p:nvSpPr>
        <p:spPr>
          <a:xfrm>
            <a:off x="6223000" y="3175000"/>
            <a:ext cx="1651000" cy="5334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altLang="zh-CN" sz="1100" b="1">
                <a:solidFill>
                  <a:srgbClr val="111827"/>
                </a:solidFill>
              </a:rPr>
              <a:t>FileSystem
FS </a:t>
            </a:r>
            <a:r>
              <a:rPr lang="zh-CN" altLang="en-US" sz="1100" b="1">
                <a:solidFill>
                  <a:srgbClr val="111827"/>
                </a:solidFill>
              </a:rPr>
              <a:t>实例</a:t>
            </a:r>
          </a:p>
        </p:txBody>
      </p:sp>
      <p:sp>
        <p:nvSpPr>
          <p:cNvPr id="202" name="矩形 201">
            <a:extLst>
              <a:ext uri="{FF2B5EF4-FFF2-40B4-BE49-F238E27FC236}">
                <a16:creationId xmlns:a16="http://schemas.microsoft.com/office/drawing/2014/main" id="{3969E1CE-CFDA-4E49-8247-B3A29E2DD3CB}"/>
              </a:ext>
            </a:extLst>
          </p:cNvPr>
          <p:cNvSpPr/>
          <p:nvPr/>
        </p:nvSpPr>
        <p:spPr>
          <a:xfrm>
            <a:off x="8255000" y="3175000"/>
            <a:ext cx="1905000" cy="5334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altLang="zh-CN" sz="1100" b="1">
                <a:solidFill>
                  <a:srgbClr val="111827"/>
                </a:solidFill>
              </a:rPr>
              <a:t>MountFS / MountList
</a:t>
            </a:r>
            <a:r>
              <a:rPr lang="zh-CN" altLang="en-US" sz="1100" b="1">
                <a:solidFill>
                  <a:srgbClr val="111827"/>
                </a:solidFill>
              </a:rPr>
              <a:t>挂载管理</a:t>
            </a:r>
          </a:p>
        </p:txBody>
      </p:sp>
      <p:sp>
        <p:nvSpPr>
          <p:cNvPr id="203" name="矩形 202">
            <a:extLst>
              <a:ext uri="{FF2B5EF4-FFF2-40B4-BE49-F238E27FC236}">
                <a16:creationId xmlns:a16="http://schemas.microsoft.com/office/drawing/2014/main" id="{CA338A20-F86B-4320-961F-C82362B21DEF}"/>
              </a:ext>
            </a:extLst>
          </p:cNvPr>
          <p:cNvSpPr/>
          <p:nvPr/>
        </p:nvSpPr>
        <p:spPr>
          <a:xfrm>
            <a:off x="10477500" y="3175000"/>
            <a:ext cx="1397000" cy="5334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altLang="zh-CN" sz="1050" b="1">
                <a:solidFill>
                  <a:srgbClr val="111827"/>
                </a:solidFill>
              </a:rPr>
              <a:t>DentryCache
</a:t>
            </a:r>
            <a:r>
              <a:rPr lang="zh-CN" altLang="en-US" sz="1050" b="1">
                <a:solidFill>
                  <a:srgbClr val="111827"/>
                </a:solidFill>
              </a:rPr>
              <a:t>目录项缓存</a:t>
            </a:r>
          </a:p>
        </p:txBody>
      </p:sp>
      <p:sp>
        <p:nvSpPr>
          <p:cNvPr id="204" name="矩形 203">
            <a:extLst>
              <a:ext uri="{FF2B5EF4-FFF2-40B4-BE49-F238E27FC236}">
                <a16:creationId xmlns:a16="http://schemas.microsoft.com/office/drawing/2014/main" id="{51DAA629-1F7E-4604-90FA-656E5EE05EA0}"/>
              </a:ext>
            </a:extLst>
          </p:cNvPr>
          <p:cNvSpPr/>
          <p:nvPr/>
        </p:nvSpPr>
        <p:spPr>
          <a:xfrm>
            <a:off x="304800" y="4318000"/>
            <a:ext cx="11582400" cy="736600"/>
          </a:xfrm>
          <a:prstGeom prst="rect">
            <a:avLst/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205" name="矩形 204">
            <a:extLst>
              <a:ext uri="{FF2B5EF4-FFF2-40B4-BE49-F238E27FC236}">
                <a16:creationId xmlns:a16="http://schemas.microsoft.com/office/drawing/2014/main" id="{8D2A101E-315E-48D1-9DDE-F7A45A2A77B6}"/>
              </a:ext>
            </a:extLst>
          </p:cNvPr>
          <p:cNvSpPr/>
          <p:nvPr/>
        </p:nvSpPr>
        <p:spPr>
          <a:xfrm>
            <a:off x="736600" y="4470400"/>
            <a:ext cx="1651000" cy="355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zh-CN" altLang="en-US" sz="1900" b="1">
                <a:solidFill>
                  <a:srgbClr val="1E293B"/>
                </a:solidFill>
              </a:rPr>
              <a:t>文件系统实现</a:t>
            </a:r>
          </a:p>
        </p:txBody>
      </p:sp>
      <p:sp>
        <p:nvSpPr>
          <p:cNvPr id="206" name="矩形 205">
            <a:extLst>
              <a:ext uri="{FF2B5EF4-FFF2-40B4-BE49-F238E27FC236}">
                <a16:creationId xmlns:a16="http://schemas.microsoft.com/office/drawing/2014/main" id="{58F4CB9B-6841-4856-A158-461B6CE39582}"/>
              </a:ext>
            </a:extLst>
          </p:cNvPr>
          <p:cNvSpPr/>
          <p:nvPr/>
        </p:nvSpPr>
        <p:spPr>
          <a:xfrm>
            <a:off x="3048000" y="4495800"/>
            <a:ext cx="1143000" cy="355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altLang="zh-CN" sz="1100" b="1">
                <a:solidFill>
                  <a:srgbClr val="111827"/>
                </a:solidFill>
              </a:rPr>
              <a:t>ext4</a:t>
            </a:r>
            <a:endParaRPr lang="zh-CN" altLang="en-US" sz="1100" b="1">
              <a:solidFill>
                <a:srgbClr val="111827"/>
              </a:solidFill>
            </a:endParaRPr>
          </a:p>
        </p:txBody>
      </p:sp>
      <p:sp>
        <p:nvSpPr>
          <p:cNvPr id="207" name="矩形 206">
            <a:extLst>
              <a:ext uri="{FF2B5EF4-FFF2-40B4-BE49-F238E27FC236}">
                <a16:creationId xmlns:a16="http://schemas.microsoft.com/office/drawing/2014/main" id="{EEE1EF72-BCB2-4F99-8CB5-E2EE4E13FE37}"/>
              </a:ext>
            </a:extLst>
          </p:cNvPr>
          <p:cNvSpPr/>
          <p:nvPr/>
        </p:nvSpPr>
        <p:spPr>
          <a:xfrm>
            <a:off x="4635500" y="4495800"/>
            <a:ext cx="1143000" cy="355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altLang="zh-CN" sz="1100" b="1">
                <a:solidFill>
                  <a:srgbClr val="111827"/>
                </a:solidFill>
              </a:rPr>
              <a:t>FAT32</a:t>
            </a:r>
            <a:endParaRPr lang="zh-CN" altLang="en-US" sz="1100" b="1">
              <a:solidFill>
                <a:srgbClr val="111827"/>
              </a:solidFill>
            </a:endParaRPr>
          </a:p>
        </p:txBody>
      </p:sp>
      <p:sp>
        <p:nvSpPr>
          <p:cNvPr id="208" name="矩形 207">
            <a:extLst>
              <a:ext uri="{FF2B5EF4-FFF2-40B4-BE49-F238E27FC236}">
                <a16:creationId xmlns:a16="http://schemas.microsoft.com/office/drawing/2014/main" id="{508E168B-0DCA-4805-A13C-08704DCEC77D}"/>
              </a:ext>
            </a:extLst>
          </p:cNvPr>
          <p:cNvSpPr/>
          <p:nvPr/>
        </p:nvSpPr>
        <p:spPr>
          <a:xfrm>
            <a:off x="6223000" y="4495800"/>
            <a:ext cx="1143000" cy="355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altLang="zh-CN" sz="1100" b="1">
                <a:solidFill>
                  <a:srgbClr val="111827"/>
                </a:solidFill>
              </a:rPr>
              <a:t>tmpfs</a:t>
            </a:r>
            <a:endParaRPr lang="zh-CN" altLang="en-US" sz="1100" b="1">
              <a:solidFill>
                <a:srgbClr val="111827"/>
              </a:solidFill>
            </a:endParaRPr>
          </a:p>
        </p:txBody>
      </p:sp>
      <p:sp>
        <p:nvSpPr>
          <p:cNvPr id="209" name="矩形 208">
            <a:extLst>
              <a:ext uri="{FF2B5EF4-FFF2-40B4-BE49-F238E27FC236}">
                <a16:creationId xmlns:a16="http://schemas.microsoft.com/office/drawing/2014/main" id="{0CE17514-EE51-48CA-AF0A-B009650B2548}"/>
              </a:ext>
            </a:extLst>
          </p:cNvPr>
          <p:cNvSpPr/>
          <p:nvPr/>
        </p:nvSpPr>
        <p:spPr>
          <a:xfrm>
            <a:off x="7810500" y="4495800"/>
            <a:ext cx="1143000" cy="355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altLang="zh-CN" sz="1100" b="1">
                <a:solidFill>
                  <a:srgbClr val="111827"/>
                </a:solidFill>
              </a:rPr>
              <a:t>ramfs</a:t>
            </a:r>
            <a:endParaRPr lang="zh-CN" altLang="en-US" sz="1100" b="1">
              <a:solidFill>
                <a:srgbClr val="111827"/>
              </a:solidFill>
            </a:endParaRPr>
          </a:p>
        </p:txBody>
      </p:sp>
      <p:sp>
        <p:nvSpPr>
          <p:cNvPr id="210" name="矩形 209">
            <a:extLst>
              <a:ext uri="{FF2B5EF4-FFF2-40B4-BE49-F238E27FC236}">
                <a16:creationId xmlns:a16="http://schemas.microsoft.com/office/drawing/2014/main" id="{4344975A-ACE3-4D38-8086-DC24574F7529}"/>
              </a:ext>
            </a:extLst>
          </p:cNvPr>
          <p:cNvSpPr/>
          <p:nvPr/>
        </p:nvSpPr>
        <p:spPr>
          <a:xfrm>
            <a:off x="9398000" y="4495800"/>
            <a:ext cx="1524000" cy="355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altLang="zh-CN" sz="1100" b="1">
                <a:solidFill>
                  <a:srgbClr val="111827"/>
                </a:solidFill>
              </a:rPr>
              <a:t>procfs / sysfs</a:t>
            </a:r>
            <a:endParaRPr lang="zh-CN" altLang="en-US" sz="1100" b="1">
              <a:solidFill>
                <a:srgbClr val="111827"/>
              </a:solidFill>
            </a:endParaRPr>
          </a:p>
        </p:txBody>
      </p:sp>
      <p:sp>
        <p:nvSpPr>
          <p:cNvPr id="211" name="矩形 210">
            <a:extLst>
              <a:ext uri="{FF2B5EF4-FFF2-40B4-BE49-F238E27FC236}">
                <a16:creationId xmlns:a16="http://schemas.microsoft.com/office/drawing/2014/main" id="{BB934AEC-ED0A-4A4F-9E0E-ED8E6D362433}"/>
              </a:ext>
            </a:extLst>
          </p:cNvPr>
          <p:cNvSpPr/>
          <p:nvPr/>
        </p:nvSpPr>
        <p:spPr>
          <a:xfrm>
            <a:off x="11176000" y="4495800"/>
            <a:ext cx="1143000" cy="355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altLang="zh-CN" sz="1100" b="1">
                <a:solidFill>
                  <a:srgbClr val="111827"/>
                </a:solidFill>
              </a:rPr>
              <a:t>devfs</a:t>
            </a:r>
            <a:endParaRPr lang="zh-CN" altLang="en-US" sz="1100" b="1">
              <a:solidFill>
                <a:srgbClr val="111827"/>
              </a:solidFill>
            </a:endParaRPr>
          </a:p>
        </p:txBody>
      </p:sp>
      <p:sp>
        <p:nvSpPr>
          <p:cNvPr id="212" name="矩形 211">
            <a:extLst>
              <a:ext uri="{FF2B5EF4-FFF2-40B4-BE49-F238E27FC236}">
                <a16:creationId xmlns:a16="http://schemas.microsoft.com/office/drawing/2014/main" id="{8AC339D5-CF34-4183-B953-BA0F5662EBC1}"/>
              </a:ext>
            </a:extLst>
          </p:cNvPr>
          <p:cNvSpPr/>
          <p:nvPr/>
        </p:nvSpPr>
        <p:spPr>
          <a:xfrm>
            <a:off x="304800" y="5461000"/>
            <a:ext cx="11582400" cy="812800"/>
          </a:xfrm>
          <a:prstGeom prst="rect">
            <a:avLst/>
          </a:prstGeom>
          <a:solidFill>
            <a:srgbClr val="FBF7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213" name="矩形 212">
            <a:extLst>
              <a:ext uri="{FF2B5EF4-FFF2-40B4-BE49-F238E27FC236}">
                <a16:creationId xmlns:a16="http://schemas.microsoft.com/office/drawing/2014/main" id="{5E304666-EAB7-443A-9631-7AE9276EE9C0}"/>
              </a:ext>
            </a:extLst>
          </p:cNvPr>
          <p:cNvSpPr/>
          <p:nvPr/>
        </p:nvSpPr>
        <p:spPr>
          <a:xfrm>
            <a:off x="736600" y="5664200"/>
            <a:ext cx="1587500" cy="355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zh-CN" altLang="en-US" sz="1900" b="1">
                <a:solidFill>
                  <a:srgbClr val="6D28D9"/>
                </a:solidFill>
              </a:rPr>
              <a:t>缓存与后端</a:t>
            </a:r>
          </a:p>
        </p:txBody>
      </p:sp>
      <p:sp>
        <p:nvSpPr>
          <p:cNvPr id="214" name="矩形 213">
            <a:extLst>
              <a:ext uri="{FF2B5EF4-FFF2-40B4-BE49-F238E27FC236}">
                <a16:creationId xmlns:a16="http://schemas.microsoft.com/office/drawing/2014/main" id="{C097D6EB-E332-4DD3-AA12-826BA4659948}"/>
              </a:ext>
            </a:extLst>
          </p:cNvPr>
          <p:cNvSpPr/>
          <p:nvPr/>
        </p:nvSpPr>
        <p:spPr>
          <a:xfrm>
            <a:off x="3492500" y="5651500"/>
            <a:ext cx="2921000" cy="4318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altLang="zh-CN" sz="1100" b="1">
                <a:solidFill>
                  <a:srgbClr val="111827"/>
                </a:solidFill>
              </a:rPr>
              <a:t>PageCache
</a:t>
            </a:r>
            <a:r>
              <a:rPr lang="zh-CN" altLang="en-US" sz="1100" b="1">
                <a:solidFill>
                  <a:srgbClr val="111827"/>
                </a:solidFill>
              </a:rPr>
              <a:t>文件数据缓存</a:t>
            </a:r>
          </a:p>
        </p:txBody>
      </p:sp>
      <p:sp>
        <p:nvSpPr>
          <p:cNvPr id="215" name="矩形 214">
            <a:extLst>
              <a:ext uri="{FF2B5EF4-FFF2-40B4-BE49-F238E27FC236}">
                <a16:creationId xmlns:a16="http://schemas.microsoft.com/office/drawing/2014/main" id="{4218151D-10C3-4B29-941B-9C780C45B65C}"/>
              </a:ext>
            </a:extLst>
          </p:cNvPr>
          <p:cNvSpPr/>
          <p:nvPr/>
        </p:nvSpPr>
        <p:spPr>
          <a:xfrm>
            <a:off x="7747000" y="5651500"/>
            <a:ext cx="3175000" cy="4318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altLang="zh-CN" sz="1100" b="1">
                <a:solidFill>
                  <a:srgbClr val="111827"/>
                </a:solidFill>
              </a:rPr>
              <a:t>ext4 MetaBlockCache
ext4 </a:t>
            </a:r>
            <a:r>
              <a:rPr lang="zh-CN" altLang="en-US" sz="1100" b="1">
                <a:solidFill>
                  <a:srgbClr val="111827"/>
                </a:solidFill>
              </a:rPr>
              <a:t>元数据缓存</a:t>
            </a:r>
          </a:p>
        </p:txBody>
      </p:sp>
      <p:sp>
        <p:nvSpPr>
          <p:cNvPr id="216" name="矩形 215">
            <a:extLst>
              <a:ext uri="{FF2B5EF4-FFF2-40B4-BE49-F238E27FC236}">
                <a16:creationId xmlns:a16="http://schemas.microsoft.com/office/drawing/2014/main" id="{BC85642F-C8D0-4E63-BF16-E008E1C1A5A9}"/>
              </a:ext>
            </a:extLst>
          </p:cNvPr>
          <p:cNvSpPr/>
          <p:nvPr/>
        </p:nvSpPr>
        <p:spPr>
          <a:xfrm>
            <a:off x="304800" y="6477000"/>
            <a:ext cx="11582400" cy="330200"/>
          </a:xfrm>
          <a:prstGeom prst="rect">
            <a:avLst/>
          </a:prstGeom>
          <a:solidFill>
            <a:srgbClr val="FFF5F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217" name="矩形 216">
            <a:extLst>
              <a:ext uri="{FF2B5EF4-FFF2-40B4-BE49-F238E27FC236}">
                <a16:creationId xmlns:a16="http://schemas.microsoft.com/office/drawing/2014/main" id="{89B4C305-D55E-4CE4-A14B-71D27CE4E007}"/>
              </a:ext>
            </a:extLst>
          </p:cNvPr>
          <p:cNvSpPr/>
          <p:nvPr/>
        </p:nvSpPr>
        <p:spPr>
          <a:xfrm>
            <a:off x="863600" y="6502400"/>
            <a:ext cx="1270000" cy="254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zh-CN" altLang="en-US" sz="1600" b="1">
                <a:solidFill>
                  <a:srgbClr val="DC2626"/>
                </a:solidFill>
              </a:rPr>
              <a:t>块设备层</a:t>
            </a:r>
          </a:p>
        </p:txBody>
      </p:sp>
      <p:sp>
        <p:nvSpPr>
          <p:cNvPr id="218" name="矩形 217">
            <a:extLst>
              <a:ext uri="{FF2B5EF4-FFF2-40B4-BE49-F238E27FC236}">
                <a16:creationId xmlns:a16="http://schemas.microsoft.com/office/drawing/2014/main" id="{76B95C3B-56B2-4765-8166-A7701DA3AB5A}"/>
              </a:ext>
            </a:extLst>
          </p:cNvPr>
          <p:cNvSpPr/>
          <p:nvPr/>
        </p:nvSpPr>
        <p:spPr>
          <a:xfrm>
            <a:off x="4064000" y="6502400"/>
            <a:ext cx="5334000" cy="254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altLang="zh-CN" sz="1000" b="1">
                <a:solidFill>
                  <a:srgbClr val="111827"/>
                </a:solidFill>
              </a:rPr>
              <a:t>VirtIO Block Driver / BlockDevice</a:t>
            </a:r>
            <a:endParaRPr lang="zh-CN" altLang="en-US" sz="1000" b="1">
              <a:solidFill>
                <a:srgbClr val="11182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91203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001"/>
          <p:cNvPicPr>
            <a:picLocks noChangeAspect="1"/>
          </p:cNvPicPr>
          <p:nvPr/>
        </p:nvPicPr>
        <p:blipFill>
          <a:blip r:embed="rId3"/>
          <a:srcRect l="5389" t="37981" r="4352" b="38194"/>
          <a:stretch>
            <a:fillRect/>
          </a:stretch>
        </p:blipFill>
        <p:spPr>
          <a:xfrm>
            <a:off x="9106535" y="123825"/>
            <a:ext cx="2757805" cy="728345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69983D72-0032-4094-BC51-D25762762A0D}"/>
              </a:ext>
            </a:extLst>
          </p:cNvPr>
          <p:cNvSpPr txBox="1"/>
          <p:nvPr/>
        </p:nvSpPr>
        <p:spPr>
          <a:xfrm>
            <a:off x="736600" y="1143000"/>
            <a:ext cx="105410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altLang="zh-CN" sz="1500" b="1">
                <a:solidFill>
                  <a:srgbClr val="0B2F55"/>
                </a:solidFill>
                <a:latin typeface="Microsoft YaHei"/>
                <a:ea typeface="Microsoft YaHei"/>
              </a:rPr>
              <a:t>PageCache </a:t>
            </a:r>
            <a:r>
              <a:rPr lang="zh-CN" altLang="en-US" sz="1500" b="1">
                <a:solidFill>
                  <a:srgbClr val="0B2F55"/>
                </a:solidFill>
                <a:latin typeface="Microsoft YaHei"/>
                <a:ea typeface="Microsoft YaHei"/>
              </a:rPr>
              <a:t>的问题集中在数据页状态、</a:t>
            </a:r>
            <a:r>
              <a:rPr lang="en-US" altLang="zh-CN" sz="1500" b="1">
                <a:solidFill>
                  <a:srgbClr val="0B2F55"/>
                </a:solidFill>
                <a:latin typeface="Microsoft YaHei"/>
                <a:ea typeface="Microsoft YaHei"/>
              </a:rPr>
              <a:t>dirty </a:t>
            </a:r>
            <a:r>
              <a:rPr lang="zh-CN" altLang="en-US" sz="1500" b="1">
                <a:solidFill>
                  <a:srgbClr val="0B2F55"/>
                </a:solidFill>
                <a:latin typeface="Microsoft YaHei"/>
                <a:ea typeface="Microsoft YaHei"/>
              </a:rPr>
              <a:t>集合、</a:t>
            </a:r>
            <a:r>
              <a:rPr lang="en-US" altLang="zh-CN" sz="1500" b="1">
                <a:solidFill>
                  <a:srgbClr val="0B2F55"/>
                </a:solidFill>
                <a:latin typeface="Microsoft YaHei"/>
                <a:ea typeface="Microsoft YaHei"/>
              </a:rPr>
              <a:t>writeback </a:t>
            </a:r>
            <a:r>
              <a:rPr lang="zh-CN" altLang="en-US" sz="1500" b="1">
                <a:solidFill>
                  <a:srgbClr val="0B2F55"/>
                </a:solidFill>
                <a:latin typeface="Microsoft YaHei"/>
                <a:ea typeface="Microsoft YaHei"/>
              </a:rPr>
              <a:t>和 </a:t>
            </a:r>
            <a:r>
              <a:rPr lang="en-US" altLang="zh-CN" sz="1500" b="1">
                <a:solidFill>
                  <a:srgbClr val="0B2F55"/>
                </a:solidFill>
                <a:latin typeface="Microsoft YaHei"/>
                <a:ea typeface="Microsoft YaHei"/>
              </a:rPr>
              <a:t>reclaim</a:t>
            </a:r>
            <a:r>
              <a:rPr lang="zh-CN" altLang="en-US" sz="1500" b="1">
                <a:solidFill>
                  <a:srgbClr val="0B2F55"/>
                </a:solidFill>
                <a:latin typeface="Microsoft YaHei"/>
                <a:ea typeface="Microsoft YaHei"/>
              </a:rPr>
              <a:t>，不是单纯“加缓存”。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1104FF9-790D-4132-B78A-040489539D0E}"/>
              </a:ext>
            </a:extLst>
          </p:cNvPr>
          <p:cNvSpPr/>
          <p:nvPr/>
        </p:nvSpPr>
        <p:spPr>
          <a:xfrm>
            <a:off x="812800" y="1905000"/>
            <a:ext cx="1651000" cy="9144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9E3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A6B8A7E-4C4A-41BC-B69E-81351D6F1DAD}"/>
              </a:ext>
            </a:extLst>
          </p:cNvPr>
          <p:cNvSpPr/>
          <p:nvPr/>
        </p:nvSpPr>
        <p:spPr>
          <a:xfrm>
            <a:off x="812800" y="1905000"/>
            <a:ext cx="63500" cy="914400"/>
          </a:xfrm>
          <a:prstGeom prst="rect">
            <a:avLst/>
          </a:prstGeom>
          <a:solidFill>
            <a:srgbClr val="4A76D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27E8B41-8F5C-4109-ABE1-08EF3BD09CB7}"/>
              </a:ext>
            </a:extLst>
          </p:cNvPr>
          <p:cNvSpPr txBox="1"/>
          <p:nvPr/>
        </p:nvSpPr>
        <p:spPr>
          <a:xfrm>
            <a:off x="990600" y="2044700"/>
            <a:ext cx="13716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fontScale="92500" lnSpcReduction="20000"/>
          </a:bodyPr>
          <a:lstStyle/>
          <a:p>
            <a:pPr algn="l"/>
            <a:r>
              <a:rPr lang="en-US" altLang="zh-CN" sz="1300" b="1">
                <a:solidFill>
                  <a:srgbClr val="123B67"/>
                </a:solidFill>
                <a:latin typeface="Microsoft YaHei"/>
                <a:ea typeface="Microsoft YaHei"/>
              </a:rPr>
              <a:t>Loading</a:t>
            </a:r>
            <a:endParaRPr lang="zh-CN" altLang="en-US" sz="1300" b="1">
              <a:solidFill>
                <a:srgbClr val="123B67"/>
              </a:solidFill>
              <a:latin typeface="Microsoft YaHei"/>
              <a:ea typeface="Microsoft YaHei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F3159F0-DBDE-4950-B364-21A6874B10FA}"/>
              </a:ext>
            </a:extLst>
          </p:cNvPr>
          <p:cNvSpPr txBox="1"/>
          <p:nvPr/>
        </p:nvSpPr>
        <p:spPr>
          <a:xfrm>
            <a:off x="990600" y="2362200"/>
            <a:ext cx="13716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zh-CN" altLang="en-US" sz="950">
                <a:solidFill>
                  <a:srgbClr val="5F6B7A"/>
                </a:solidFill>
                <a:latin typeface="Microsoft YaHei"/>
                <a:ea typeface="Microsoft YaHei"/>
              </a:rPr>
              <a:t>后端读入</a:t>
            </a:r>
          </a:p>
        </p:txBody>
      </p:sp>
      <p:sp>
        <p:nvSpPr>
          <p:cNvPr id="11" name="箭头: 右 10">
            <a:extLst>
              <a:ext uri="{FF2B5EF4-FFF2-40B4-BE49-F238E27FC236}">
                <a16:creationId xmlns:a16="http://schemas.microsoft.com/office/drawing/2014/main" id="{BBD34448-1FA6-43F6-84A2-59707726F3C2}"/>
              </a:ext>
            </a:extLst>
          </p:cNvPr>
          <p:cNvSpPr/>
          <p:nvPr/>
        </p:nvSpPr>
        <p:spPr>
          <a:xfrm>
            <a:off x="2540000" y="2209800"/>
            <a:ext cx="381000" cy="228600"/>
          </a:xfrm>
          <a:prstGeom prst="rightArrow">
            <a:avLst/>
          </a:prstGeom>
          <a:solidFill>
            <a:srgbClr val="AEC0E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934DC29-67D9-44EC-ADC8-0C134780DC6A}"/>
              </a:ext>
            </a:extLst>
          </p:cNvPr>
          <p:cNvSpPr/>
          <p:nvPr/>
        </p:nvSpPr>
        <p:spPr>
          <a:xfrm>
            <a:off x="3022600" y="1905000"/>
            <a:ext cx="1651000" cy="9144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9E3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F78FE91-7AD3-4C61-9F3D-5F9AC9194609}"/>
              </a:ext>
            </a:extLst>
          </p:cNvPr>
          <p:cNvSpPr/>
          <p:nvPr/>
        </p:nvSpPr>
        <p:spPr>
          <a:xfrm>
            <a:off x="3022600" y="1905000"/>
            <a:ext cx="63500" cy="914400"/>
          </a:xfrm>
          <a:prstGeom prst="rect">
            <a:avLst/>
          </a:prstGeom>
          <a:solidFill>
            <a:srgbClr val="31A16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75DAD12-5204-4361-AE85-510D3B2C0919}"/>
              </a:ext>
            </a:extLst>
          </p:cNvPr>
          <p:cNvSpPr txBox="1"/>
          <p:nvPr/>
        </p:nvSpPr>
        <p:spPr>
          <a:xfrm>
            <a:off x="3200400" y="2044700"/>
            <a:ext cx="13716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fontScale="92500" lnSpcReduction="20000"/>
          </a:bodyPr>
          <a:lstStyle/>
          <a:p>
            <a:pPr algn="l"/>
            <a:r>
              <a:rPr lang="en-US" altLang="zh-CN" sz="1300" b="1">
                <a:solidFill>
                  <a:srgbClr val="123B67"/>
                </a:solidFill>
                <a:latin typeface="Microsoft YaHei"/>
                <a:ea typeface="Microsoft YaHei"/>
              </a:rPr>
              <a:t>UpToDate</a:t>
            </a:r>
            <a:endParaRPr lang="zh-CN" altLang="en-US" sz="1300" b="1">
              <a:solidFill>
                <a:srgbClr val="123B67"/>
              </a:solidFill>
              <a:latin typeface="Microsoft YaHei"/>
              <a:ea typeface="Microsoft YaHei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38B4EAC-E578-48E7-9DA2-7747978D2731}"/>
              </a:ext>
            </a:extLst>
          </p:cNvPr>
          <p:cNvSpPr txBox="1"/>
          <p:nvPr/>
        </p:nvSpPr>
        <p:spPr>
          <a:xfrm>
            <a:off x="3200400" y="2362200"/>
            <a:ext cx="13716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zh-CN" altLang="en-US" sz="950">
                <a:solidFill>
                  <a:srgbClr val="5F6B7A"/>
                </a:solidFill>
                <a:latin typeface="Microsoft YaHei"/>
                <a:ea typeface="Microsoft YaHei"/>
              </a:rPr>
              <a:t>数据有效</a:t>
            </a:r>
          </a:p>
        </p:txBody>
      </p:sp>
      <p:sp>
        <p:nvSpPr>
          <p:cNvPr id="16" name="箭头: 右 15">
            <a:extLst>
              <a:ext uri="{FF2B5EF4-FFF2-40B4-BE49-F238E27FC236}">
                <a16:creationId xmlns:a16="http://schemas.microsoft.com/office/drawing/2014/main" id="{9F751F43-5005-48A3-B8A4-2DC1F15CB7F7}"/>
              </a:ext>
            </a:extLst>
          </p:cNvPr>
          <p:cNvSpPr/>
          <p:nvPr/>
        </p:nvSpPr>
        <p:spPr>
          <a:xfrm>
            <a:off x="4749800" y="2209800"/>
            <a:ext cx="381000" cy="228600"/>
          </a:xfrm>
          <a:prstGeom prst="rightArrow">
            <a:avLst/>
          </a:prstGeom>
          <a:solidFill>
            <a:srgbClr val="AEC0E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F385B31-7647-4B60-9E87-560CB37B5433}"/>
              </a:ext>
            </a:extLst>
          </p:cNvPr>
          <p:cNvSpPr/>
          <p:nvPr/>
        </p:nvSpPr>
        <p:spPr>
          <a:xfrm>
            <a:off x="5232400" y="1905000"/>
            <a:ext cx="1651000" cy="9144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9E3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A1503A8-72AC-42D5-B83E-3FC7C0C839FF}"/>
              </a:ext>
            </a:extLst>
          </p:cNvPr>
          <p:cNvSpPr/>
          <p:nvPr/>
        </p:nvSpPr>
        <p:spPr>
          <a:xfrm>
            <a:off x="5232400" y="1905000"/>
            <a:ext cx="63500" cy="914400"/>
          </a:xfrm>
          <a:prstGeom prst="rect">
            <a:avLst/>
          </a:prstGeom>
          <a:solidFill>
            <a:srgbClr val="F1993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EF3FE36-4527-4266-A71F-E4FE1ECCA3DC}"/>
              </a:ext>
            </a:extLst>
          </p:cNvPr>
          <p:cNvSpPr txBox="1"/>
          <p:nvPr/>
        </p:nvSpPr>
        <p:spPr>
          <a:xfrm>
            <a:off x="5410200" y="2044700"/>
            <a:ext cx="13716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fontScale="92500" lnSpcReduction="20000"/>
          </a:bodyPr>
          <a:lstStyle/>
          <a:p>
            <a:pPr algn="l"/>
            <a:r>
              <a:rPr lang="en-US" altLang="zh-CN" sz="1300" b="1">
                <a:solidFill>
                  <a:srgbClr val="123B67"/>
                </a:solidFill>
                <a:latin typeface="Microsoft YaHei"/>
                <a:ea typeface="Microsoft YaHei"/>
              </a:rPr>
              <a:t>Dirty</a:t>
            </a:r>
            <a:endParaRPr lang="zh-CN" altLang="en-US" sz="1300" b="1">
              <a:solidFill>
                <a:srgbClr val="123B67"/>
              </a:solidFill>
              <a:latin typeface="Microsoft YaHei"/>
              <a:ea typeface="Microsoft YaHei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CC92FE2-40D9-4D6A-A4B2-3F38032900AA}"/>
              </a:ext>
            </a:extLst>
          </p:cNvPr>
          <p:cNvSpPr txBox="1"/>
          <p:nvPr/>
        </p:nvSpPr>
        <p:spPr>
          <a:xfrm>
            <a:off x="5410200" y="2362200"/>
            <a:ext cx="13716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zh-CN" altLang="en-US" sz="950">
                <a:solidFill>
                  <a:srgbClr val="5F6B7A"/>
                </a:solidFill>
                <a:latin typeface="Microsoft YaHei"/>
                <a:ea typeface="Microsoft YaHei"/>
              </a:rPr>
              <a:t>待写回</a:t>
            </a:r>
          </a:p>
        </p:txBody>
      </p:sp>
      <p:sp>
        <p:nvSpPr>
          <p:cNvPr id="21" name="箭头: 右 20">
            <a:extLst>
              <a:ext uri="{FF2B5EF4-FFF2-40B4-BE49-F238E27FC236}">
                <a16:creationId xmlns:a16="http://schemas.microsoft.com/office/drawing/2014/main" id="{293234C7-D051-4102-9A16-CAE1EFD7405B}"/>
              </a:ext>
            </a:extLst>
          </p:cNvPr>
          <p:cNvSpPr/>
          <p:nvPr/>
        </p:nvSpPr>
        <p:spPr>
          <a:xfrm>
            <a:off x="6959600" y="2209800"/>
            <a:ext cx="381000" cy="228600"/>
          </a:xfrm>
          <a:prstGeom prst="rightArrow">
            <a:avLst/>
          </a:prstGeom>
          <a:solidFill>
            <a:srgbClr val="AEC0E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38E0DE4-F4FD-4045-B727-A920FA9E4A25}"/>
              </a:ext>
            </a:extLst>
          </p:cNvPr>
          <p:cNvSpPr/>
          <p:nvPr/>
        </p:nvSpPr>
        <p:spPr>
          <a:xfrm>
            <a:off x="7442200" y="1905000"/>
            <a:ext cx="1651000" cy="9144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9E3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6711DDD-5D5F-49B2-A65A-1E6D2235B86F}"/>
              </a:ext>
            </a:extLst>
          </p:cNvPr>
          <p:cNvSpPr/>
          <p:nvPr/>
        </p:nvSpPr>
        <p:spPr>
          <a:xfrm>
            <a:off x="7442200" y="1905000"/>
            <a:ext cx="63500" cy="914400"/>
          </a:xfrm>
          <a:prstGeom prst="rect">
            <a:avLst/>
          </a:prstGeom>
          <a:solidFill>
            <a:srgbClr val="23A2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6CA8FC1-41DF-4C4C-A8A0-416CA5FE360F}"/>
              </a:ext>
            </a:extLst>
          </p:cNvPr>
          <p:cNvSpPr txBox="1"/>
          <p:nvPr/>
        </p:nvSpPr>
        <p:spPr>
          <a:xfrm>
            <a:off x="7620000" y="2044700"/>
            <a:ext cx="13716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fontScale="92500" lnSpcReduction="20000"/>
          </a:bodyPr>
          <a:lstStyle/>
          <a:p>
            <a:pPr algn="l"/>
            <a:r>
              <a:rPr lang="en-US" altLang="zh-CN" sz="1300" b="1">
                <a:solidFill>
                  <a:srgbClr val="123B67"/>
                </a:solidFill>
                <a:latin typeface="Microsoft YaHei"/>
                <a:ea typeface="Microsoft YaHei"/>
              </a:rPr>
              <a:t>Writeback</a:t>
            </a:r>
            <a:endParaRPr lang="zh-CN" altLang="en-US" sz="1300" b="1">
              <a:solidFill>
                <a:srgbClr val="123B67"/>
              </a:solidFill>
              <a:latin typeface="Microsoft YaHei"/>
              <a:ea typeface="Microsoft YaHei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FA89A3A4-BD11-43CB-8105-4E429C3081AE}"/>
              </a:ext>
            </a:extLst>
          </p:cNvPr>
          <p:cNvSpPr txBox="1"/>
          <p:nvPr/>
        </p:nvSpPr>
        <p:spPr>
          <a:xfrm>
            <a:off x="7620000" y="2362200"/>
            <a:ext cx="13716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zh-CN" altLang="en-US" sz="950">
                <a:solidFill>
                  <a:srgbClr val="5F6B7A"/>
                </a:solidFill>
                <a:latin typeface="Microsoft YaHei"/>
                <a:ea typeface="Microsoft YaHei"/>
              </a:rPr>
              <a:t>正在写回</a:t>
            </a:r>
          </a:p>
        </p:txBody>
      </p:sp>
      <p:sp>
        <p:nvSpPr>
          <p:cNvPr id="26" name="箭头: 右 25">
            <a:extLst>
              <a:ext uri="{FF2B5EF4-FFF2-40B4-BE49-F238E27FC236}">
                <a16:creationId xmlns:a16="http://schemas.microsoft.com/office/drawing/2014/main" id="{46BD591A-A465-4550-94F4-5514B91E59F8}"/>
              </a:ext>
            </a:extLst>
          </p:cNvPr>
          <p:cNvSpPr/>
          <p:nvPr/>
        </p:nvSpPr>
        <p:spPr>
          <a:xfrm>
            <a:off x="9169400" y="2209800"/>
            <a:ext cx="381000" cy="228600"/>
          </a:xfrm>
          <a:prstGeom prst="rightArrow">
            <a:avLst/>
          </a:prstGeom>
          <a:solidFill>
            <a:srgbClr val="AEC0E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AE3A917-FFB2-4177-A486-065BE701996A}"/>
              </a:ext>
            </a:extLst>
          </p:cNvPr>
          <p:cNvSpPr/>
          <p:nvPr/>
        </p:nvSpPr>
        <p:spPr>
          <a:xfrm>
            <a:off x="9652000" y="1905000"/>
            <a:ext cx="1651000" cy="9144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9E3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621284F-ACD4-40B8-A932-7D3C9D5ACF4D}"/>
              </a:ext>
            </a:extLst>
          </p:cNvPr>
          <p:cNvSpPr/>
          <p:nvPr/>
        </p:nvSpPr>
        <p:spPr>
          <a:xfrm>
            <a:off x="9652000" y="1905000"/>
            <a:ext cx="63500" cy="914400"/>
          </a:xfrm>
          <a:prstGeom prst="rect">
            <a:avLst/>
          </a:prstGeom>
          <a:solidFill>
            <a:srgbClr val="D64B4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BA720D3F-9231-4DA6-8A95-C75B1C99A39A}"/>
              </a:ext>
            </a:extLst>
          </p:cNvPr>
          <p:cNvSpPr txBox="1"/>
          <p:nvPr/>
        </p:nvSpPr>
        <p:spPr>
          <a:xfrm>
            <a:off x="9829800" y="2044700"/>
            <a:ext cx="13716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fontScale="92500" lnSpcReduction="20000"/>
          </a:bodyPr>
          <a:lstStyle/>
          <a:p>
            <a:pPr algn="l"/>
            <a:r>
              <a:rPr lang="en-US" altLang="zh-CN" sz="1300" b="1">
                <a:solidFill>
                  <a:srgbClr val="123B67"/>
                </a:solidFill>
                <a:latin typeface="Microsoft YaHei"/>
                <a:ea typeface="Microsoft YaHei"/>
              </a:rPr>
              <a:t>Error</a:t>
            </a:r>
            <a:endParaRPr lang="zh-CN" altLang="en-US" sz="1300" b="1">
              <a:solidFill>
                <a:srgbClr val="123B67"/>
              </a:solidFill>
              <a:latin typeface="Microsoft YaHei"/>
              <a:ea typeface="Microsoft YaHei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F482CAB9-2534-4BD1-A1B0-376C2642BC7F}"/>
              </a:ext>
            </a:extLst>
          </p:cNvPr>
          <p:cNvSpPr txBox="1"/>
          <p:nvPr/>
        </p:nvSpPr>
        <p:spPr>
          <a:xfrm>
            <a:off x="9829800" y="2362200"/>
            <a:ext cx="13716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altLang="zh-CN" sz="950">
                <a:solidFill>
                  <a:srgbClr val="5F6B7A"/>
                </a:solidFill>
                <a:latin typeface="Microsoft YaHei"/>
                <a:ea typeface="Microsoft YaHei"/>
              </a:rPr>
              <a:t>I/O </a:t>
            </a:r>
            <a:r>
              <a:rPr lang="zh-CN" altLang="en-US" sz="950">
                <a:solidFill>
                  <a:srgbClr val="5F6B7A"/>
                </a:solidFill>
                <a:latin typeface="Microsoft YaHei"/>
                <a:ea typeface="Microsoft YaHei"/>
              </a:rPr>
              <a:t>错误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DD92EB45-F74F-4C55-8269-C5E225AC9D17}"/>
              </a:ext>
            </a:extLst>
          </p:cNvPr>
          <p:cNvSpPr/>
          <p:nvPr/>
        </p:nvSpPr>
        <p:spPr>
          <a:xfrm>
            <a:off x="990600" y="3556000"/>
            <a:ext cx="3175000" cy="14224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9E3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C58C2504-88C0-499E-80CB-E238435F4933}"/>
              </a:ext>
            </a:extLst>
          </p:cNvPr>
          <p:cNvSpPr/>
          <p:nvPr/>
        </p:nvSpPr>
        <p:spPr>
          <a:xfrm>
            <a:off x="990600" y="3556000"/>
            <a:ext cx="63500" cy="1422400"/>
          </a:xfrm>
          <a:prstGeom prst="rect">
            <a:avLst/>
          </a:prstGeom>
          <a:solidFill>
            <a:srgbClr val="4A76D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AE5AC038-90FE-4385-A10F-05E6B2854AE5}"/>
              </a:ext>
            </a:extLst>
          </p:cNvPr>
          <p:cNvSpPr/>
          <p:nvPr/>
        </p:nvSpPr>
        <p:spPr>
          <a:xfrm>
            <a:off x="1168400" y="3733800"/>
            <a:ext cx="558800" cy="330200"/>
          </a:xfrm>
          <a:prstGeom prst="roundRect">
            <a:avLst/>
          </a:prstGeom>
          <a:solidFill>
            <a:srgbClr val="4A76D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altLang="zh-CN"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 lang="zh-CN" altLang="en-US" sz="1000" b="1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76375BB1-73E1-4030-BD85-8325483CC7C4}"/>
              </a:ext>
            </a:extLst>
          </p:cNvPr>
          <p:cNvSpPr txBox="1"/>
          <p:nvPr/>
        </p:nvSpPr>
        <p:spPr>
          <a:xfrm>
            <a:off x="1854200" y="3746500"/>
            <a:ext cx="21336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zh-CN" altLang="en-US" sz="1320" b="1">
                <a:solidFill>
                  <a:srgbClr val="123B67"/>
                </a:solidFill>
                <a:latin typeface="Microsoft YaHei"/>
                <a:ea typeface="Microsoft YaHei"/>
              </a:rPr>
              <a:t>唯一缓存对象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34E1BB78-4BE9-46E2-8C2A-18681338EA81}"/>
              </a:ext>
            </a:extLst>
          </p:cNvPr>
          <p:cNvSpPr txBox="1"/>
          <p:nvPr/>
        </p:nvSpPr>
        <p:spPr>
          <a:xfrm>
            <a:off x="1219200" y="4165600"/>
            <a:ext cx="2794000" cy="6858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altLang="zh-CN" sz="1020">
                <a:solidFill>
                  <a:srgbClr val="5F6B7A"/>
                </a:solidFill>
                <a:latin typeface="Microsoft YaHei"/>
                <a:ea typeface="Microsoft YaHei"/>
              </a:rPr>
              <a:t>PageCacheBackend </a:t>
            </a:r>
            <a:r>
              <a:rPr lang="zh-CN" altLang="en-US" sz="1020">
                <a:solidFill>
                  <a:srgbClr val="5F6B7A"/>
                </a:solidFill>
                <a:latin typeface="Microsoft YaHei"/>
                <a:ea typeface="Microsoft YaHei"/>
              </a:rPr>
              <a:t>桥接 </a:t>
            </a:r>
            <a:r>
              <a:rPr lang="en-US" altLang="zh-CN" sz="1020">
                <a:solidFill>
                  <a:srgbClr val="5F6B7A"/>
                </a:solidFill>
                <a:latin typeface="Microsoft YaHei"/>
                <a:ea typeface="Microsoft YaHei"/>
              </a:rPr>
              <a:t>inode / block</a:t>
            </a:r>
            <a:r>
              <a:rPr lang="zh-CN" altLang="en-US" sz="1020">
                <a:solidFill>
                  <a:srgbClr val="5F6B7A"/>
                </a:solidFill>
                <a:latin typeface="Microsoft YaHei"/>
                <a:ea typeface="Microsoft YaHei"/>
              </a:rPr>
              <a:t>；</a:t>
            </a:r>
            <a:r>
              <a:rPr lang="en-US" altLang="zh-CN" sz="1020">
                <a:solidFill>
                  <a:srgbClr val="5F6B7A"/>
                </a:solidFill>
                <a:latin typeface="Microsoft YaHei"/>
                <a:ea typeface="Microsoft YaHei"/>
              </a:rPr>
              <a:t>PageEntry </a:t>
            </a:r>
            <a:r>
              <a:rPr lang="zh-CN" altLang="en-US" sz="1020">
                <a:solidFill>
                  <a:srgbClr val="5F6B7A"/>
                </a:solidFill>
                <a:latin typeface="Microsoft YaHei"/>
                <a:ea typeface="Microsoft YaHei"/>
              </a:rPr>
              <a:t>按页维护 </a:t>
            </a:r>
            <a:r>
              <a:rPr lang="en-US" altLang="zh-CN" sz="1020">
                <a:solidFill>
                  <a:srgbClr val="5F6B7A"/>
                </a:solidFill>
                <a:latin typeface="Microsoft YaHei"/>
                <a:ea typeface="Microsoft YaHei"/>
              </a:rPr>
              <a:t>state </a:t>
            </a:r>
            <a:r>
              <a:rPr lang="zh-CN" altLang="en-US" sz="1020">
                <a:solidFill>
                  <a:srgbClr val="5F6B7A"/>
                </a:solidFill>
                <a:latin typeface="Microsoft YaHei"/>
                <a:ea typeface="Microsoft YaHei"/>
              </a:rPr>
              <a:t>与 </a:t>
            </a:r>
            <a:r>
              <a:rPr lang="en-US" altLang="zh-CN" sz="1020">
                <a:solidFill>
                  <a:srgbClr val="5F6B7A"/>
                </a:solidFill>
                <a:latin typeface="Microsoft YaHei"/>
                <a:ea typeface="Microsoft YaHei"/>
              </a:rPr>
              <a:t>valid mask</a:t>
            </a:r>
            <a:r>
              <a:rPr lang="zh-CN" altLang="en-US" sz="1020">
                <a:solidFill>
                  <a:srgbClr val="5F6B7A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0AE4C7B6-0CEF-4B45-97B0-A6A87E952DCB}"/>
              </a:ext>
            </a:extLst>
          </p:cNvPr>
          <p:cNvSpPr/>
          <p:nvPr/>
        </p:nvSpPr>
        <p:spPr>
          <a:xfrm>
            <a:off x="4521200" y="3556000"/>
            <a:ext cx="3175000" cy="14224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9E3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BF6C5BD5-6914-4EE6-9607-243380448F1E}"/>
              </a:ext>
            </a:extLst>
          </p:cNvPr>
          <p:cNvSpPr/>
          <p:nvPr/>
        </p:nvSpPr>
        <p:spPr>
          <a:xfrm>
            <a:off x="4521200" y="3556000"/>
            <a:ext cx="63500" cy="1422400"/>
          </a:xfrm>
          <a:prstGeom prst="rect">
            <a:avLst/>
          </a:prstGeom>
          <a:solidFill>
            <a:srgbClr val="F1993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7D69EE69-939A-4124-AF73-7F99B2717A9E}"/>
              </a:ext>
            </a:extLst>
          </p:cNvPr>
          <p:cNvSpPr/>
          <p:nvPr/>
        </p:nvSpPr>
        <p:spPr>
          <a:xfrm>
            <a:off x="4699000" y="3733800"/>
            <a:ext cx="558800" cy="330200"/>
          </a:xfrm>
          <a:prstGeom prst="roundRect">
            <a:avLst/>
          </a:prstGeom>
          <a:solidFill>
            <a:srgbClr val="F1993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altLang="zh-CN"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 lang="zh-CN" altLang="en-US" sz="1000" b="1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F5F00012-81C9-4482-A970-88B0A467262A}"/>
              </a:ext>
            </a:extLst>
          </p:cNvPr>
          <p:cNvSpPr txBox="1"/>
          <p:nvPr/>
        </p:nvSpPr>
        <p:spPr>
          <a:xfrm>
            <a:off x="5384800" y="3746500"/>
            <a:ext cx="21336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zh-CN" altLang="en-US" sz="1320" b="1">
                <a:solidFill>
                  <a:srgbClr val="123B67"/>
                </a:solidFill>
                <a:latin typeface="Microsoft YaHei"/>
                <a:ea typeface="Microsoft YaHei"/>
              </a:rPr>
              <a:t>脏页与回写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0EEE86DD-E20D-46FA-8F09-9D6C3829C8C2}"/>
              </a:ext>
            </a:extLst>
          </p:cNvPr>
          <p:cNvSpPr txBox="1"/>
          <p:nvPr/>
        </p:nvSpPr>
        <p:spPr>
          <a:xfrm>
            <a:off x="4749800" y="4165600"/>
            <a:ext cx="2794000" cy="6858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altLang="zh-CN" sz="1020">
                <a:solidFill>
                  <a:srgbClr val="5F6B7A"/>
                </a:solidFill>
                <a:latin typeface="Microsoft YaHei"/>
                <a:ea typeface="Microsoft YaHei"/>
              </a:rPr>
              <a:t>dirty_pages BTreeSet </a:t>
            </a:r>
            <a:r>
              <a:rPr lang="zh-CN" altLang="en-US" sz="1020">
                <a:solidFill>
                  <a:srgbClr val="5F6B7A"/>
                </a:solidFill>
                <a:latin typeface="Microsoft YaHei"/>
                <a:ea typeface="Microsoft YaHei"/>
              </a:rPr>
              <a:t>追踪脏页；</a:t>
            </a:r>
            <a:r>
              <a:rPr lang="en-US" altLang="zh-CN" sz="1020">
                <a:solidFill>
                  <a:srgbClr val="5F6B7A"/>
                </a:solidFill>
                <a:latin typeface="Microsoft YaHei"/>
                <a:ea typeface="Microsoft YaHei"/>
              </a:rPr>
              <a:t>writeback_all() </a:t>
            </a:r>
            <a:r>
              <a:rPr lang="zh-CN" altLang="en-US" sz="1020">
                <a:solidFill>
                  <a:srgbClr val="5F6B7A"/>
                </a:solidFill>
                <a:latin typeface="Microsoft YaHei"/>
                <a:ea typeface="Microsoft YaHei"/>
              </a:rPr>
              <a:t>批量写回；全局 </a:t>
            </a:r>
            <a:r>
              <a:rPr lang="en-US" altLang="zh-CN" sz="1020">
                <a:solidFill>
                  <a:srgbClr val="5F6B7A"/>
                </a:solidFill>
                <a:latin typeface="Microsoft YaHei"/>
                <a:ea typeface="Microsoft YaHei"/>
              </a:rPr>
              <a:t>dirty/writeback </a:t>
            </a:r>
            <a:r>
              <a:rPr lang="zh-CN" altLang="en-US" sz="1020">
                <a:solidFill>
                  <a:srgbClr val="5F6B7A"/>
                </a:solidFill>
                <a:latin typeface="Microsoft YaHei"/>
                <a:ea typeface="Microsoft YaHei"/>
              </a:rPr>
              <a:t>计数可诊断。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AFC8BE5D-1880-4975-B053-84EE36DD2976}"/>
              </a:ext>
            </a:extLst>
          </p:cNvPr>
          <p:cNvSpPr/>
          <p:nvPr/>
        </p:nvSpPr>
        <p:spPr>
          <a:xfrm>
            <a:off x="8051800" y="3556000"/>
            <a:ext cx="3175000" cy="14224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9E3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324ED120-A773-488B-B303-83DAC519B781}"/>
              </a:ext>
            </a:extLst>
          </p:cNvPr>
          <p:cNvSpPr/>
          <p:nvPr/>
        </p:nvSpPr>
        <p:spPr>
          <a:xfrm>
            <a:off x="8051800" y="3556000"/>
            <a:ext cx="63500" cy="1422400"/>
          </a:xfrm>
          <a:prstGeom prst="rect">
            <a:avLst/>
          </a:prstGeom>
          <a:solidFill>
            <a:srgbClr val="31A16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5E2991EF-3D62-491E-A4A0-2D3688119F85}"/>
              </a:ext>
            </a:extLst>
          </p:cNvPr>
          <p:cNvSpPr/>
          <p:nvPr/>
        </p:nvSpPr>
        <p:spPr>
          <a:xfrm>
            <a:off x="8229600" y="3733800"/>
            <a:ext cx="558800" cy="330200"/>
          </a:xfrm>
          <a:prstGeom prst="roundRect">
            <a:avLst/>
          </a:prstGeom>
          <a:solidFill>
            <a:srgbClr val="31A16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altLang="zh-CN"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 lang="zh-CN" altLang="en-US" sz="1000" b="1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FCE98D65-F64D-4773-BBD2-A56CCB5F91C2}"/>
              </a:ext>
            </a:extLst>
          </p:cNvPr>
          <p:cNvSpPr txBox="1"/>
          <p:nvPr/>
        </p:nvSpPr>
        <p:spPr>
          <a:xfrm>
            <a:off x="8915400" y="3746500"/>
            <a:ext cx="21336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zh-CN" altLang="en-US" sz="1320" b="1">
                <a:solidFill>
                  <a:srgbClr val="123B67"/>
                </a:solidFill>
                <a:latin typeface="Microsoft YaHei"/>
                <a:ea typeface="Microsoft YaHei"/>
              </a:rPr>
              <a:t>回收与节流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02232B04-021A-4D12-A710-0844A26199A6}"/>
              </a:ext>
            </a:extLst>
          </p:cNvPr>
          <p:cNvSpPr txBox="1"/>
          <p:nvPr/>
        </p:nvSpPr>
        <p:spPr>
          <a:xfrm>
            <a:off x="8280400" y="4165600"/>
            <a:ext cx="2794000" cy="6858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altLang="zh-CN" sz="1020">
                <a:solidFill>
                  <a:srgbClr val="5F6B7A"/>
                </a:solidFill>
                <a:latin typeface="Microsoft YaHei"/>
                <a:ea typeface="Microsoft YaHei"/>
              </a:rPr>
              <a:t>dirty background </a:t>
            </a:r>
            <a:r>
              <a:rPr lang="zh-CN" altLang="en-US" sz="1020">
                <a:solidFill>
                  <a:srgbClr val="5F6B7A"/>
                </a:solidFill>
                <a:latin typeface="Microsoft YaHei"/>
                <a:ea typeface="Microsoft YaHei"/>
              </a:rPr>
              <a:t>约 </a:t>
            </a:r>
            <a:r>
              <a:rPr lang="en-US" altLang="zh-CN" sz="1020">
                <a:solidFill>
                  <a:srgbClr val="5F6B7A"/>
                </a:solidFill>
                <a:latin typeface="Microsoft YaHei"/>
                <a:ea typeface="Microsoft YaHei"/>
              </a:rPr>
              <a:t>8MB</a:t>
            </a:r>
            <a:r>
              <a:rPr lang="zh-CN" altLang="en-US" sz="1020">
                <a:solidFill>
                  <a:srgbClr val="5F6B7A"/>
                </a:solidFill>
                <a:latin typeface="Microsoft YaHei"/>
                <a:ea typeface="Microsoft YaHei"/>
              </a:rPr>
              <a:t>；写入者节流约 </a:t>
            </a:r>
            <a:r>
              <a:rPr lang="en-US" altLang="zh-CN" sz="1020">
                <a:solidFill>
                  <a:srgbClr val="5F6B7A"/>
                </a:solidFill>
                <a:latin typeface="Microsoft YaHei"/>
                <a:ea typeface="Microsoft YaHei"/>
              </a:rPr>
              <a:t>16MB</a:t>
            </a:r>
            <a:r>
              <a:rPr lang="zh-CN" altLang="en-US" sz="1020">
                <a:solidFill>
                  <a:srgbClr val="5F6B7A"/>
                </a:solidFill>
                <a:latin typeface="Microsoft YaHei"/>
                <a:ea typeface="Microsoft YaHei"/>
              </a:rPr>
              <a:t>；批量回写 </a:t>
            </a:r>
            <a:r>
              <a:rPr lang="en-US" altLang="zh-CN" sz="1020">
                <a:solidFill>
                  <a:srgbClr val="5F6B7A"/>
                </a:solidFill>
                <a:latin typeface="Microsoft YaHei"/>
                <a:ea typeface="Microsoft YaHei"/>
              </a:rPr>
              <a:t>64 / 128 </a:t>
            </a:r>
            <a:r>
              <a:rPr lang="zh-CN" altLang="en-US" sz="1020">
                <a:solidFill>
                  <a:srgbClr val="5F6B7A"/>
                </a:solidFill>
                <a:latin typeface="Microsoft YaHei"/>
                <a:ea typeface="Microsoft YaHei"/>
              </a:rPr>
              <a:t>页。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EBBB6279-F128-4A6D-BBF5-4FE9EAD2D3C7}"/>
              </a:ext>
            </a:extLst>
          </p:cNvPr>
          <p:cNvSpPr txBox="1"/>
          <p:nvPr/>
        </p:nvSpPr>
        <p:spPr>
          <a:xfrm>
            <a:off x="1498600" y="5461000"/>
            <a:ext cx="91948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zh-CN" altLang="en-US" sz="1200">
                <a:solidFill>
                  <a:srgbClr val="0B2F55"/>
                </a:solidFill>
                <a:latin typeface="Microsoft YaHei"/>
                <a:ea typeface="Microsoft YaHei"/>
              </a:rPr>
              <a:t>这页说明 </a:t>
            </a:r>
            <a:r>
              <a:rPr lang="en-US" altLang="zh-CN" sz="1200">
                <a:solidFill>
                  <a:srgbClr val="0B2F55"/>
                </a:solidFill>
                <a:latin typeface="Microsoft YaHei"/>
                <a:ea typeface="Microsoft YaHei"/>
              </a:rPr>
              <a:t>PageCache </a:t>
            </a:r>
            <a:r>
              <a:rPr lang="zh-CN" altLang="en-US" sz="1200">
                <a:solidFill>
                  <a:srgbClr val="0B2F55"/>
                </a:solidFill>
                <a:latin typeface="Microsoft YaHei"/>
                <a:ea typeface="Microsoft YaHei"/>
              </a:rPr>
              <a:t>的边界：对象定位、</a:t>
            </a:r>
            <a:r>
              <a:rPr lang="en-US" altLang="zh-CN" sz="1200">
                <a:solidFill>
                  <a:srgbClr val="0B2F55"/>
                </a:solidFill>
                <a:latin typeface="Microsoft YaHei"/>
                <a:ea typeface="Microsoft YaHei"/>
              </a:rPr>
              <a:t>dirty </a:t>
            </a:r>
            <a:r>
              <a:rPr lang="zh-CN" altLang="en-US" sz="1200">
                <a:solidFill>
                  <a:srgbClr val="0B2F55"/>
                </a:solidFill>
                <a:latin typeface="Microsoft YaHei"/>
                <a:ea typeface="Microsoft YaHei"/>
              </a:rPr>
              <a:t>追踪、写回触发和回收节流。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66AA65A1-614E-4A65-A574-1FB251D0031A}"/>
              </a:ext>
            </a:extLst>
          </p:cNvPr>
          <p:cNvSpPr txBox="1"/>
          <p:nvPr/>
        </p:nvSpPr>
        <p:spPr>
          <a:xfrm>
            <a:off x="482600" y="6502400"/>
            <a:ext cx="10922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fontScale="92500" lnSpcReduction="20000"/>
          </a:bodyPr>
          <a:lstStyle/>
          <a:p>
            <a:pPr algn="l"/>
            <a:r>
              <a:rPr lang="zh-CN" altLang="en-US" sz="750">
                <a:solidFill>
                  <a:srgbClr val="8A96A8"/>
                </a:solidFill>
                <a:latin typeface="Microsoft YaHei"/>
                <a:ea typeface="Microsoft YaHei"/>
              </a:rPr>
              <a:t>依据：</a:t>
            </a:r>
            <a:r>
              <a:rPr lang="en-US" altLang="zh-CN" sz="750">
                <a:solidFill>
                  <a:srgbClr val="8A96A8"/>
                </a:solidFill>
                <a:latin typeface="Microsoft YaHei"/>
                <a:ea typeface="Microsoft YaHei"/>
              </a:rPr>
              <a:t>os/src/fs/page_cache.rs</a:t>
            </a:r>
            <a:r>
              <a:rPr lang="zh-CN" altLang="en-US" sz="750">
                <a:solidFill>
                  <a:srgbClr val="8A96A8"/>
                </a:solidFill>
                <a:latin typeface="Microsoft YaHei"/>
                <a:ea typeface="Microsoft YaHei"/>
              </a:rPr>
              <a:t>：</a:t>
            </a:r>
            <a:r>
              <a:rPr lang="en-US" altLang="zh-CN" sz="750">
                <a:solidFill>
                  <a:srgbClr val="8A96A8"/>
                </a:solidFill>
                <a:latin typeface="Microsoft YaHei"/>
                <a:ea typeface="Microsoft YaHei"/>
              </a:rPr>
              <a:t>PageState</a:t>
            </a:r>
            <a:r>
              <a:rPr lang="zh-CN" altLang="en-US" sz="750">
                <a:solidFill>
                  <a:srgbClr val="8A96A8"/>
                </a:solidFill>
                <a:latin typeface="Microsoft YaHei"/>
                <a:ea typeface="Microsoft YaHei"/>
              </a:rPr>
              <a:t>、</a:t>
            </a:r>
            <a:r>
              <a:rPr lang="en-US" altLang="zh-CN" sz="750">
                <a:solidFill>
                  <a:srgbClr val="8A96A8"/>
                </a:solidFill>
                <a:latin typeface="Microsoft YaHei"/>
                <a:ea typeface="Microsoft YaHei"/>
              </a:rPr>
              <a:t>dirty_pages</a:t>
            </a:r>
            <a:r>
              <a:rPr lang="zh-CN" altLang="en-US" sz="750">
                <a:solidFill>
                  <a:srgbClr val="8A96A8"/>
                </a:solidFill>
                <a:latin typeface="Microsoft YaHei"/>
                <a:ea typeface="Microsoft YaHei"/>
              </a:rPr>
              <a:t>、</a:t>
            </a:r>
            <a:r>
              <a:rPr lang="en-US" altLang="zh-CN" sz="750">
                <a:solidFill>
                  <a:srgbClr val="8A96A8"/>
                </a:solidFill>
                <a:latin typeface="Microsoft YaHei"/>
                <a:ea typeface="Microsoft YaHei"/>
              </a:rPr>
              <a:t>GLOBAL_DIRTY_PAGES</a:t>
            </a:r>
            <a:r>
              <a:rPr lang="zh-CN" altLang="en-US" sz="750">
                <a:solidFill>
                  <a:srgbClr val="8A96A8"/>
                </a:solidFill>
                <a:latin typeface="Microsoft YaHei"/>
                <a:ea typeface="Microsoft YaHei"/>
              </a:rPr>
              <a:t>、</a:t>
            </a:r>
            <a:r>
              <a:rPr lang="en-US" altLang="zh-CN" sz="750">
                <a:solidFill>
                  <a:srgbClr val="8A96A8"/>
                </a:solidFill>
                <a:latin typeface="Microsoft YaHei"/>
                <a:ea typeface="Microsoft YaHei"/>
              </a:rPr>
              <a:t>DIRTY_BACKGROUND / DIRTY_THROTTLE</a:t>
            </a:r>
            <a:r>
              <a:rPr lang="zh-CN" altLang="en-US" sz="750">
                <a:solidFill>
                  <a:srgbClr val="8A96A8"/>
                </a:solidFill>
                <a:latin typeface="Microsoft YaHei"/>
                <a:ea typeface="Microsoft YaHei"/>
              </a:rPr>
              <a:t>、</a:t>
            </a:r>
            <a:r>
              <a:rPr lang="en-US" altLang="zh-CN" sz="750">
                <a:solidFill>
                  <a:srgbClr val="8A96A8"/>
                </a:solidFill>
                <a:latin typeface="Microsoft YaHei"/>
                <a:ea typeface="Microsoft YaHei"/>
              </a:rPr>
              <a:t>writeback_all</a:t>
            </a:r>
            <a:r>
              <a:rPr lang="zh-CN" altLang="en-US" sz="750">
                <a:solidFill>
                  <a:srgbClr val="8A96A8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67237B31-B0EC-47F4-B298-D0A952DE9797}"/>
              </a:ext>
            </a:extLst>
          </p:cNvPr>
          <p:cNvSpPr/>
          <p:nvPr/>
        </p:nvSpPr>
        <p:spPr>
          <a:xfrm>
            <a:off x="254000" y="304800"/>
            <a:ext cx="101600" cy="482600"/>
          </a:xfrm>
          <a:prstGeom prst="rect">
            <a:avLst/>
          </a:prstGeom>
          <a:solidFill>
            <a:srgbClr val="3F70B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0E1DBB09-EBDD-460A-8D18-0900014195DE}"/>
              </a:ext>
            </a:extLst>
          </p:cNvPr>
          <p:cNvSpPr/>
          <p:nvPr/>
        </p:nvSpPr>
        <p:spPr>
          <a:xfrm>
            <a:off x="254000" y="838200"/>
            <a:ext cx="11684000" cy="19050"/>
          </a:xfrm>
          <a:prstGeom prst="rect">
            <a:avLst/>
          </a:prstGeom>
          <a:solidFill>
            <a:srgbClr val="3F70B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F8C664F9-90B5-4918-AC2F-110CF1D92E7B}"/>
              </a:ext>
            </a:extLst>
          </p:cNvPr>
          <p:cNvSpPr txBox="1"/>
          <p:nvPr/>
        </p:nvSpPr>
        <p:spPr>
          <a:xfrm>
            <a:off x="736600" y="228600"/>
            <a:ext cx="81280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2000" b="1">
                <a:solidFill>
                  <a:srgbClr val="3F70B7"/>
                </a:solidFill>
                <a:latin typeface="Microsoft YaHei"/>
                <a:ea typeface="Microsoft YaHei"/>
              </a:rPr>
              <a:t>PageCache</a:t>
            </a:r>
            <a:r>
              <a:rPr lang="zh-CN" altLang="en-US" sz="2000" b="1">
                <a:solidFill>
                  <a:srgbClr val="3F70B7"/>
                </a:solidFill>
                <a:latin typeface="Microsoft YaHei"/>
                <a:ea typeface="Microsoft YaHei"/>
              </a:rPr>
              <a:t>：脏页、写回与回收的生命周期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81E4A473-E72E-4C9D-B071-EEAD46EC2F1D}"/>
              </a:ext>
            </a:extLst>
          </p:cNvPr>
          <p:cNvSpPr/>
          <p:nvPr/>
        </p:nvSpPr>
        <p:spPr>
          <a:xfrm>
            <a:off x="0" y="0"/>
            <a:ext cx="8953500" cy="990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34A553DB-323F-4289-8EA7-B0DFC9534963}"/>
              </a:ext>
            </a:extLst>
          </p:cNvPr>
          <p:cNvSpPr/>
          <p:nvPr/>
        </p:nvSpPr>
        <p:spPr>
          <a:xfrm>
            <a:off x="254000" y="330200"/>
            <a:ext cx="88900" cy="431800"/>
          </a:xfrm>
          <a:prstGeom prst="rect">
            <a:avLst/>
          </a:prstGeom>
          <a:solidFill>
            <a:srgbClr val="3F70B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6B82E5C6-E17C-4064-B91F-F2A625116CFC}"/>
              </a:ext>
            </a:extLst>
          </p:cNvPr>
          <p:cNvSpPr/>
          <p:nvPr/>
        </p:nvSpPr>
        <p:spPr>
          <a:xfrm>
            <a:off x="254000" y="838200"/>
            <a:ext cx="8763000" cy="17780"/>
          </a:xfrm>
          <a:prstGeom prst="rect">
            <a:avLst/>
          </a:prstGeom>
          <a:solidFill>
            <a:srgbClr val="3F70B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F2C0FE63-C102-4D22-BB37-068C1CAC010C}"/>
              </a:ext>
            </a:extLst>
          </p:cNvPr>
          <p:cNvSpPr txBox="1"/>
          <p:nvPr/>
        </p:nvSpPr>
        <p:spPr>
          <a:xfrm>
            <a:off x="711200" y="279400"/>
            <a:ext cx="8064500" cy="3556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spAutoFit/>
          </a:bodyPr>
          <a:lstStyle/>
          <a:p>
            <a:pPr algn="l"/>
            <a:r>
              <a:rPr lang="en-US" altLang="zh-CN" b="1">
                <a:solidFill>
                  <a:srgbClr val="3F70B7"/>
                </a:solidFill>
                <a:latin typeface="Microsoft YaHei UI"/>
                <a:ea typeface="Microsoft YaHei UI"/>
              </a:rPr>
              <a:t>PageCache</a:t>
            </a:r>
            <a:r>
              <a:rPr lang="zh-CN" altLang="en-US" b="1">
                <a:solidFill>
                  <a:srgbClr val="3F70B7"/>
                </a:solidFill>
                <a:latin typeface="Microsoft YaHei UI"/>
                <a:ea typeface="Microsoft YaHei UI"/>
              </a:rPr>
              <a:t>：数据页状态、脏页写回与回收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637038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矩形 210">
            <a:extLst>
              <a:ext uri="{FF2B5EF4-FFF2-40B4-BE49-F238E27FC236}">
                <a16:creationId xmlns:a16="http://schemas.microsoft.com/office/drawing/2014/main" id="{3C378425-45FB-4B82-8501-C2DA29A164C3}"/>
              </a:ext>
            </a:extLst>
          </p:cNvPr>
          <p:cNvSpPr/>
          <p:nvPr/>
        </p:nvSpPr>
        <p:spPr>
          <a:xfrm>
            <a:off x="2794000" y="127000"/>
            <a:ext cx="6604000" cy="4318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altLang="zh-CN" sz="2600" b="1">
                <a:solidFill>
                  <a:srgbClr val="080F1F"/>
                </a:solidFill>
              </a:rPr>
              <a:t>MangoCore </a:t>
            </a:r>
            <a:r>
              <a:rPr lang="zh-CN" altLang="en-US" sz="2600" b="1">
                <a:solidFill>
                  <a:srgbClr val="080F1F"/>
                </a:solidFill>
              </a:rPr>
              <a:t>网络子系统架构图</a:t>
            </a:r>
          </a:p>
        </p:txBody>
      </p:sp>
      <p:sp>
        <p:nvSpPr>
          <p:cNvPr id="212" name="矩形 211">
            <a:extLst>
              <a:ext uri="{FF2B5EF4-FFF2-40B4-BE49-F238E27FC236}">
                <a16:creationId xmlns:a16="http://schemas.microsoft.com/office/drawing/2014/main" id="{AA40669C-7293-422E-8B7B-5F512A460C61}"/>
              </a:ext>
            </a:extLst>
          </p:cNvPr>
          <p:cNvSpPr/>
          <p:nvPr/>
        </p:nvSpPr>
        <p:spPr>
          <a:xfrm>
            <a:off x="431800" y="736600"/>
            <a:ext cx="9652000" cy="812800"/>
          </a:xfrm>
          <a:prstGeom prst="rect">
            <a:avLst/>
          </a:prstGeom>
          <a:solidFill>
            <a:srgbClr val="F3FF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213" name="矩形 212">
            <a:extLst>
              <a:ext uri="{FF2B5EF4-FFF2-40B4-BE49-F238E27FC236}">
                <a16:creationId xmlns:a16="http://schemas.microsoft.com/office/drawing/2014/main" id="{73FE5B65-E793-4CA6-864B-0CEB8945FA45}"/>
              </a:ext>
            </a:extLst>
          </p:cNvPr>
          <p:cNvSpPr/>
          <p:nvPr/>
        </p:nvSpPr>
        <p:spPr>
          <a:xfrm>
            <a:off x="889000" y="965200"/>
            <a:ext cx="1079500" cy="3302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zh-CN" altLang="en-US" sz="2000" b="1">
                <a:solidFill>
                  <a:srgbClr val="15803D"/>
                </a:solidFill>
              </a:rPr>
              <a:t>用户态</a:t>
            </a:r>
          </a:p>
        </p:txBody>
      </p:sp>
      <p:sp>
        <p:nvSpPr>
          <p:cNvPr id="214" name="矩形 213">
            <a:extLst>
              <a:ext uri="{FF2B5EF4-FFF2-40B4-BE49-F238E27FC236}">
                <a16:creationId xmlns:a16="http://schemas.microsoft.com/office/drawing/2014/main" id="{9F3F115B-0D95-4908-86F5-5ADB1CCE0556}"/>
              </a:ext>
            </a:extLst>
          </p:cNvPr>
          <p:cNvSpPr/>
          <p:nvPr/>
        </p:nvSpPr>
        <p:spPr>
          <a:xfrm>
            <a:off x="3175000" y="914400"/>
            <a:ext cx="2921000" cy="482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zh-CN" altLang="en-US" sz="1050" b="1">
                <a:solidFill>
                  <a:srgbClr val="111827"/>
                </a:solidFill>
              </a:rPr>
              <a:t>普通网络应用
</a:t>
            </a:r>
            <a:r>
              <a:rPr lang="en-US" altLang="zh-CN" sz="1050" b="1">
                <a:solidFill>
                  <a:srgbClr val="111827"/>
                </a:solidFill>
              </a:rPr>
              <a:t>socket / connect / send / recv</a:t>
            </a:r>
            <a:endParaRPr lang="zh-CN" altLang="en-US" sz="1050" b="1">
              <a:solidFill>
                <a:srgbClr val="111827"/>
              </a:solidFill>
            </a:endParaRPr>
          </a:p>
        </p:txBody>
      </p:sp>
      <p:sp>
        <p:nvSpPr>
          <p:cNvPr id="215" name="矩形 214">
            <a:extLst>
              <a:ext uri="{FF2B5EF4-FFF2-40B4-BE49-F238E27FC236}">
                <a16:creationId xmlns:a16="http://schemas.microsoft.com/office/drawing/2014/main" id="{AEDEED85-FB34-4DDB-BE30-AE1C50FEE3AC}"/>
              </a:ext>
            </a:extLst>
          </p:cNvPr>
          <p:cNvSpPr/>
          <p:nvPr/>
        </p:nvSpPr>
        <p:spPr>
          <a:xfrm>
            <a:off x="7175500" y="914400"/>
            <a:ext cx="2921000" cy="482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zh-CN" altLang="en-US" sz="1050" b="1">
                <a:solidFill>
                  <a:srgbClr val="111827"/>
                </a:solidFill>
              </a:rPr>
              <a:t>网络管理命令
</a:t>
            </a:r>
            <a:r>
              <a:rPr lang="en-US" altLang="zh-CN" sz="1050" b="1">
                <a:solidFill>
                  <a:srgbClr val="111827"/>
                </a:solidFill>
              </a:rPr>
              <a:t>ip addr / ip route / ip link</a:t>
            </a:r>
            <a:endParaRPr lang="zh-CN" altLang="en-US" sz="1050" b="1">
              <a:solidFill>
                <a:srgbClr val="111827"/>
              </a:solidFill>
            </a:endParaRPr>
          </a:p>
        </p:txBody>
      </p:sp>
      <p:sp>
        <p:nvSpPr>
          <p:cNvPr id="216" name="矩形 215">
            <a:extLst>
              <a:ext uri="{FF2B5EF4-FFF2-40B4-BE49-F238E27FC236}">
                <a16:creationId xmlns:a16="http://schemas.microsoft.com/office/drawing/2014/main" id="{D881882C-BF6C-47E7-93CE-34D3E724C25E}"/>
              </a:ext>
            </a:extLst>
          </p:cNvPr>
          <p:cNvSpPr/>
          <p:nvPr/>
        </p:nvSpPr>
        <p:spPr>
          <a:xfrm>
            <a:off x="431800" y="1841500"/>
            <a:ext cx="9652000" cy="685800"/>
          </a:xfrm>
          <a:prstGeom prst="rect">
            <a:avLst/>
          </a:prstGeom>
          <a:solidFill>
            <a:srgbClr val="F0F8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217" name="矩形 216">
            <a:extLst>
              <a:ext uri="{FF2B5EF4-FFF2-40B4-BE49-F238E27FC236}">
                <a16:creationId xmlns:a16="http://schemas.microsoft.com/office/drawing/2014/main" id="{ECD7A570-7031-442F-A111-34DB4ECB8B98}"/>
              </a:ext>
            </a:extLst>
          </p:cNvPr>
          <p:cNvSpPr/>
          <p:nvPr/>
        </p:nvSpPr>
        <p:spPr>
          <a:xfrm>
            <a:off x="736600" y="1993900"/>
            <a:ext cx="1587500" cy="3302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zh-CN" altLang="en-US" b="1">
                <a:solidFill>
                  <a:srgbClr val="0969D8"/>
                </a:solidFill>
              </a:rPr>
              <a:t>系统调用层</a:t>
            </a:r>
          </a:p>
        </p:txBody>
      </p:sp>
      <p:sp>
        <p:nvSpPr>
          <p:cNvPr id="218" name="矩形 217">
            <a:extLst>
              <a:ext uri="{FF2B5EF4-FFF2-40B4-BE49-F238E27FC236}">
                <a16:creationId xmlns:a16="http://schemas.microsoft.com/office/drawing/2014/main" id="{562171D8-1957-4AD1-A85F-04DEAA322D88}"/>
              </a:ext>
            </a:extLst>
          </p:cNvPr>
          <p:cNvSpPr/>
          <p:nvPr/>
        </p:nvSpPr>
        <p:spPr>
          <a:xfrm>
            <a:off x="3111500" y="2006600"/>
            <a:ext cx="6604000" cy="355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altLang="zh-CN" sz="1100" b="1">
                <a:solidFill>
                  <a:srgbClr val="111827"/>
                </a:solidFill>
              </a:rPr>
              <a:t>socket / bind / connect / sendmsg / recvmsg / ioctl</a:t>
            </a:r>
            <a:endParaRPr lang="zh-CN" altLang="en-US" sz="1100" b="1">
              <a:solidFill>
                <a:srgbClr val="111827"/>
              </a:solidFill>
            </a:endParaRPr>
          </a:p>
        </p:txBody>
      </p:sp>
      <p:sp>
        <p:nvSpPr>
          <p:cNvPr id="219" name="矩形 218">
            <a:extLst>
              <a:ext uri="{FF2B5EF4-FFF2-40B4-BE49-F238E27FC236}">
                <a16:creationId xmlns:a16="http://schemas.microsoft.com/office/drawing/2014/main" id="{0BB71DCB-2BF7-45C4-B333-414B968176A6}"/>
              </a:ext>
            </a:extLst>
          </p:cNvPr>
          <p:cNvSpPr/>
          <p:nvPr/>
        </p:nvSpPr>
        <p:spPr>
          <a:xfrm>
            <a:off x="431800" y="2857500"/>
            <a:ext cx="9652000" cy="990600"/>
          </a:xfrm>
          <a:prstGeom prst="rect">
            <a:avLst/>
          </a:prstGeom>
          <a:solidFill>
            <a:srgbClr val="F4F9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220" name="矩形 219">
            <a:extLst>
              <a:ext uri="{FF2B5EF4-FFF2-40B4-BE49-F238E27FC236}">
                <a16:creationId xmlns:a16="http://schemas.microsoft.com/office/drawing/2014/main" id="{C344A5FC-37EF-401E-BAF2-52FEFC5059A1}"/>
              </a:ext>
            </a:extLst>
          </p:cNvPr>
          <p:cNvSpPr/>
          <p:nvPr/>
        </p:nvSpPr>
        <p:spPr>
          <a:xfrm>
            <a:off x="889000" y="3124200"/>
            <a:ext cx="1333500" cy="355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altLang="zh-CN" sz="2000" b="1">
                <a:solidFill>
                  <a:srgbClr val="0969D8"/>
                </a:solidFill>
              </a:rPr>
              <a:t>Socket </a:t>
            </a:r>
            <a:r>
              <a:rPr lang="zh-CN" altLang="en-US" sz="2000" b="1">
                <a:solidFill>
                  <a:srgbClr val="0969D8"/>
                </a:solidFill>
              </a:rPr>
              <a:t>层</a:t>
            </a:r>
          </a:p>
        </p:txBody>
      </p:sp>
      <p:sp>
        <p:nvSpPr>
          <p:cNvPr id="221" name="矩形 220">
            <a:extLst>
              <a:ext uri="{FF2B5EF4-FFF2-40B4-BE49-F238E27FC236}">
                <a16:creationId xmlns:a16="http://schemas.microsoft.com/office/drawing/2014/main" id="{36B17723-999B-4580-9F14-F36098E9DDAA}"/>
              </a:ext>
            </a:extLst>
          </p:cNvPr>
          <p:cNvSpPr/>
          <p:nvPr/>
        </p:nvSpPr>
        <p:spPr>
          <a:xfrm>
            <a:off x="2413000" y="3111500"/>
            <a:ext cx="1270000" cy="482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altLang="zh-CN" sz="950" b="1">
                <a:solidFill>
                  <a:srgbClr val="111827"/>
                </a:solidFill>
              </a:rPr>
              <a:t>TcpSocket
SOCK_STREAM</a:t>
            </a:r>
            <a:endParaRPr lang="zh-CN" altLang="en-US" sz="950" b="1">
              <a:solidFill>
                <a:srgbClr val="111827"/>
              </a:solidFill>
            </a:endParaRPr>
          </a:p>
        </p:txBody>
      </p:sp>
      <p:sp>
        <p:nvSpPr>
          <p:cNvPr id="222" name="矩形 221">
            <a:extLst>
              <a:ext uri="{FF2B5EF4-FFF2-40B4-BE49-F238E27FC236}">
                <a16:creationId xmlns:a16="http://schemas.microsoft.com/office/drawing/2014/main" id="{6C93D656-0022-4B4D-9257-AD33010E5DDD}"/>
              </a:ext>
            </a:extLst>
          </p:cNvPr>
          <p:cNvSpPr/>
          <p:nvPr/>
        </p:nvSpPr>
        <p:spPr>
          <a:xfrm>
            <a:off x="3873500" y="3111500"/>
            <a:ext cx="1270000" cy="482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altLang="zh-CN" sz="950" b="1">
                <a:solidFill>
                  <a:srgbClr val="111827"/>
                </a:solidFill>
              </a:rPr>
              <a:t>UdpSocket
SOCK_DGRAM</a:t>
            </a:r>
            <a:endParaRPr lang="zh-CN" altLang="en-US" sz="950" b="1">
              <a:solidFill>
                <a:srgbClr val="111827"/>
              </a:solidFill>
            </a:endParaRPr>
          </a:p>
        </p:txBody>
      </p:sp>
      <p:sp>
        <p:nvSpPr>
          <p:cNvPr id="223" name="矩形 222">
            <a:extLst>
              <a:ext uri="{FF2B5EF4-FFF2-40B4-BE49-F238E27FC236}">
                <a16:creationId xmlns:a16="http://schemas.microsoft.com/office/drawing/2014/main" id="{57462007-7AE5-4CB0-A6C3-211CE092ADF6}"/>
              </a:ext>
            </a:extLst>
          </p:cNvPr>
          <p:cNvSpPr/>
          <p:nvPr/>
        </p:nvSpPr>
        <p:spPr>
          <a:xfrm>
            <a:off x="5334000" y="3111500"/>
            <a:ext cx="1270000" cy="482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altLang="zh-CN" sz="950" b="1">
                <a:solidFill>
                  <a:srgbClr val="111827"/>
                </a:solidFill>
              </a:rPr>
              <a:t>RawSocket
SOCK_RAW</a:t>
            </a:r>
            <a:endParaRPr lang="zh-CN" altLang="en-US" sz="950" b="1">
              <a:solidFill>
                <a:srgbClr val="111827"/>
              </a:solidFill>
            </a:endParaRPr>
          </a:p>
        </p:txBody>
      </p:sp>
      <p:sp>
        <p:nvSpPr>
          <p:cNvPr id="224" name="矩形 223">
            <a:extLst>
              <a:ext uri="{FF2B5EF4-FFF2-40B4-BE49-F238E27FC236}">
                <a16:creationId xmlns:a16="http://schemas.microsoft.com/office/drawing/2014/main" id="{42180FE9-EE81-41F2-82D0-FF4F378EDC5E}"/>
              </a:ext>
            </a:extLst>
          </p:cNvPr>
          <p:cNvSpPr/>
          <p:nvPr/>
        </p:nvSpPr>
        <p:spPr>
          <a:xfrm>
            <a:off x="6794500" y="3111500"/>
            <a:ext cx="1270000" cy="482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altLang="zh-CN" sz="950" b="1">
                <a:solidFill>
                  <a:srgbClr val="111827"/>
                </a:solidFill>
              </a:rPr>
              <a:t>Unix Domain
</a:t>
            </a:r>
            <a:r>
              <a:rPr lang="zh-CN" altLang="en-US" sz="950" b="1">
                <a:solidFill>
                  <a:srgbClr val="111827"/>
                </a:solidFill>
              </a:rPr>
              <a:t>本机 </a:t>
            </a:r>
            <a:r>
              <a:rPr lang="en-US" altLang="zh-CN" sz="950" b="1">
                <a:solidFill>
                  <a:srgbClr val="111827"/>
                </a:solidFill>
              </a:rPr>
              <a:t>IPC</a:t>
            </a:r>
            <a:endParaRPr lang="zh-CN" altLang="en-US" sz="950" b="1">
              <a:solidFill>
                <a:srgbClr val="111827"/>
              </a:solidFill>
            </a:endParaRPr>
          </a:p>
        </p:txBody>
      </p:sp>
      <p:sp>
        <p:nvSpPr>
          <p:cNvPr id="225" name="矩形 224">
            <a:extLst>
              <a:ext uri="{FF2B5EF4-FFF2-40B4-BE49-F238E27FC236}">
                <a16:creationId xmlns:a16="http://schemas.microsoft.com/office/drawing/2014/main" id="{095C83CC-19A3-4FAA-94B1-EBEF1A3243C9}"/>
              </a:ext>
            </a:extLst>
          </p:cNvPr>
          <p:cNvSpPr/>
          <p:nvPr/>
        </p:nvSpPr>
        <p:spPr>
          <a:xfrm>
            <a:off x="8255000" y="3111500"/>
            <a:ext cx="1270000" cy="482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altLang="zh-CN" sz="950" b="1">
                <a:solidFill>
                  <a:srgbClr val="111827"/>
                </a:solidFill>
              </a:rPr>
              <a:t>NetlinkSocket
AF_NETLINK</a:t>
            </a:r>
            <a:endParaRPr lang="zh-CN" altLang="en-US" sz="950" b="1">
              <a:solidFill>
                <a:srgbClr val="111827"/>
              </a:solidFill>
            </a:endParaRPr>
          </a:p>
        </p:txBody>
      </p:sp>
      <p:sp>
        <p:nvSpPr>
          <p:cNvPr id="226" name="矩形 225">
            <a:extLst>
              <a:ext uri="{FF2B5EF4-FFF2-40B4-BE49-F238E27FC236}">
                <a16:creationId xmlns:a16="http://schemas.microsoft.com/office/drawing/2014/main" id="{CDE55FC2-C34B-4AB1-9E41-BA1A85CF7693}"/>
              </a:ext>
            </a:extLst>
          </p:cNvPr>
          <p:cNvSpPr/>
          <p:nvPr/>
        </p:nvSpPr>
        <p:spPr>
          <a:xfrm>
            <a:off x="431800" y="4127500"/>
            <a:ext cx="9652000" cy="889000"/>
          </a:xfrm>
          <a:prstGeom prst="rect">
            <a:avLst/>
          </a:prstGeom>
          <a:solidFill>
            <a:srgbClr val="FBF7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227" name="矩形 226">
            <a:extLst>
              <a:ext uri="{FF2B5EF4-FFF2-40B4-BE49-F238E27FC236}">
                <a16:creationId xmlns:a16="http://schemas.microsoft.com/office/drawing/2014/main" id="{C9D910CC-0598-4AE7-979C-95E95655243F}"/>
              </a:ext>
            </a:extLst>
          </p:cNvPr>
          <p:cNvSpPr/>
          <p:nvPr/>
        </p:nvSpPr>
        <p:spPr>
          <a:xfrm>
            <a:off x="736600" y="4343400"/>
            <a:ext cx="1651000" cy="355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zh-CN" altLang="en-US" b="1">
                <a:solidFill>
                  <a:srgbClr val="6D28D9"/>
                </a:solidFill>
              </a:rPr>
              <a:t>路由与绑定层</a:t>
            </a:r>
          </a:p>
        </p:txBody>
      </p:sp>
      <p:sp>
        <p:nvSpPr>
          <p:cNvPr id="228" name="矩形 227">
            <a:extLst>
              <a:ext uri="{FF2B5EF4-FFF2-40B4-BE49-F238E27FC236}">
                <a16:creationId xmlns:a16="http://schemas.microsoft.com/office/drawing/2014/main" id="{B3499B8B-3BEF-48E1-990E-D15D90DA4DDF}"/>
              </a:ext>
            </a:extLst>
          </p:cNvPr>
          <p:cNvSpPr/>
          <p:nvPr/>
        </p:nvSpPr>
        <p:spPr>
          <a:xfrm>
            <a:off x="2730500" y="4368800"/>
            <a:ext cx="1524000" cy="4064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altLang="zh-CN" sz="950" b="1">
                <a:solidFill>
                  <a:srgbClr val="111827"/>
                </a:solidFill>
              </a:rPr>
              <a:t>device_list
lo / eth0 / veth*</a:t>
            </a:r>
            <a:endParaRPr lang="zh-CN" altLang="en-US" sz="950" b="1">
              <a:solidFill>
                <a:srgbClr val="111827"/>
              </a:solidFill>
            </a:endParaRPr>
          </a:p>
        </p:txBody>
      </p:sp>
      <p:sp>
        <p:nvSpPr>
          <p:cNvPr id="229" name="矩形 228">
            <a:extLst>
              <a:ext uri="{FF2B5EF4-FFF2-40B4-BE49-F238E27FC236}">
                <a16:creationId xmlns:a16="http://schemas.microsoft.com/office/drawing/2014/main" id="{55541C7A-BB29-4A33-AE02-6FA8F65E6475}"/>
              </a:ext>
            </a:extLst>
          </p:cNvPr>
          <p:cNvSpPr/>
          <p:nvPr/>
        </p:nvSpPr>
        <p:spPr>
          <a:xfrm>
            <a:off x="4572000" y="4368800"/>
            <a:ext cx="1714500" cy="4064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altLang="zh-CN" sz="950" b="1">
                <a:solidFill>
                  <a:srgbClr val="111827"/>
                </a:solidFill>
              </a:rPr>
              <a:t>Router / RouteTable</a:t>
            </a:r>
            <a:endParaRPr lang="zh-CN" altLang="en-US" sz="950" b="1">
              <a:solidFill>
                <a:srgbClr val="111827"/>
              </a:solidFill>
            </a:endParaRPr>
          </a:p>
        </p:txBody>
      </p:sp>
      <p:sp>
        <p:nvSpPr>
          <p:cNvPr id="230" name="矩形 229">
            <a:extLst>
              <a:ext uri="{FF2B5EF4-FFF2-40B4-BE49-F238E27FC236}">
                <a16:creationId xmlns:a16="http://schemas.microsoft.com/office/drawing/2014/main" id="{FC9E62C7-6FD3-4447-B35F-CA430A1D5CE6}"/>
              </a:ext>
            </a:extLst>
          </p:cNvPr>
          <p:cNvSpPr/>
          <p:nvPr/>
        </p:nvSpPr>
        <p:spPr>
          <a:xfrm>
            <a:off x="6604000" y="4368800"/>
            <a:ext cx="1397000" cy="4064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altLang="zh-CN" sz="950" b="1">
                <a:solidFill>
                  <a:srgbClr val="111827"/>
                </a:solidFill>
              </a:rPr>
              <a:t>route_output</a:t>
            </a:r>
            <a:endParaRPr lang="zh-CN" altLang="en-US" sz="950" b="1">
              <a:solidFill>
                <a:srgbClr val="111827"/>
              </a:solidFill>
            </a:endParaRPr>
          </a:p>
        </p:txBody>
      </p:sp>
      <p:sp>
        <p:nvSpPr>
          <p:cNvPr id="231" name="矩形 230">
            <a:extLst>
              <a:ext uri="{FF2B5EF4-FFF2-40B4-BE49-F238E27FC236}">
                <a16:creationId xmlns:a16="http://schemas.microsoft.com/office/drawing/2014/main" id="{C328C14D-52C5-430B-BE3C-B3A15CD3CEDC}"/>
              </a:ext>
            </a:extLst>
          </p:cNvPr>
          <p:cNvSpPr/>
          <p:nvPr/>
        </p:nvSpPr>
        <p:spPr>
          <a:xfrm>
            <a:off x="8318500" y="4368800"/>
            <a:ext cx="1524000" cy="4064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altLang="zh-CN" sz="950" b="1">
                <a:solidFill>
                  <a:srgbClr val="111827"/>
                </a:solidFill>
              </a:rPr>
              <a:t>Binding
RouteSocketHandle</a:t>
            </a:r>
            <a:endParaRPr lang="zh-CN" altLang="en-US" sz="950" b="1">
              <a:solidFill>
                <a:srgbClr val="111827"/>
              </a:solidFill>
            </a:endParaRPr>
          </a:p>
        </p:txBody>
      </p:sp>
      <p:sp>
        <p:nvSpPr>
          <p:cNvPr id="232" name="矩形 231">
            <a:extLst>
              <a:ext uri="{FF2B5EF4-FFF2-40B4-BE49-F238E27FC236}">
                <a16:creationId xmlns:a16="http://schemas.microsoft.com/office/drawing/2014/main" id="{37D9234E-EBED-440A-BDB4-35A3448684FD}"/>
              </a:ext>
            </a:extLst>
          </p:cNvPr>
          <p:cNvSpPr/>
          <p:nvPr/>
        </p:nvSpPr>
        <p:spPr>
          <a:xfrm>
            <a:off x="431800" y="5308600"/>
            <a:ext cx="9652000" cy="685800"/>
          </a:xfrm>
          <a:prstGeom prst="rect">
            <a:avLst/>
          </a:prstGeom>
          <a:solidFill>
            <a:srgbClr val="FFF9E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233" name="矩形 232">
            <a:extLst>
              <a:ext uri="{FF2B5EF4-FFF2-40B4-BE49-F238E27FC236}">
                <a16:creationId xmlns:a16="http://schemas.microsoft.com/office/drawing/2014/main" id="{41014881-C55D-4753-ADDC-1E076B0AA7AB}"/>
              </a:ext>
            </a:extLst>
          </p:cNvPr>
          <p:cNvSpPr/>
          <p:nvPr/>
        </p:nvSpPr>
        <p:spPr>
          <a:xfrm>
            <a:off x="889000" y="5461000"/>
            <a:ext cx="1143000" cy="3302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zh-CN" altLang="en-US" sz="2000" b="1">
                <a:solidFill>
                  <a:srgbClr val="B45309"/>
                </a:solidFill>
              </a:rPr>
              <a:t>执行层</a:t>
            </a:r>
          </a:p>
        </p:txBody>
      </p:sp>
      <p:sp>
        <p:nvSpPr>
          <p:cNvPr id="234" name="矩形 233">
            <a:extLst>
              <a:ext uri="{FF2B5EF4-FFF2-40B4-BE49-F238E27FC236}">
                <a16:creationId xmlns:a16="http://schemas.microsoft.com/office/drawing/2014/main" id="{6167283D-3443-40D7-8F29-FF77A9321F65}"/>
              </a:ext>
            </a:extLst>
          </p:cNvPr>
          <p:cNvSpPr/>
          <p:nvPr/>
        </p:nvSpPr>
        <p:spPr>
          <a:xfrm>
            <a:off x="2984500" y="5486400"/>
            <a:ext cx="6350000" cy="3302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altLang="zh-CN" sz="1050" b="1">
                <a:solidFill>
                  <a:srgbClr val="111827"/>
                </a:solidFill>
              </a:rPr>
              <a:t>NET_INTERFACE / DeviceStack</a:t>
            </a:r>
            <a:r>
              <a:rPr lang="zh-CN" altLang="en-US" sz="1050" b="1">
                <a:solidFill>
                  <a:srgbClr val="111827"/>
                </a:solidFill>
              </a:rPr>
              <a:t>：</a:t>
            </a:r>
            <a:r>
              <a:rPr lang="en-US" altLang="zh-CN" sz="1050" b="1">
                <a:solidFill>
                  <a:srgbClr val="111827"/>
                </a:solidFill>
              </a:rPr>
              <a:t>DeviceStack(lo) · DeviceStack(eth0) · DeviceStack(veth*)</a:t>
            </a:r>
            <a:endParaRPr lang="zh-CN" altLang="en-US" sz="1050" b="1">
              <a:solidFill>
                <a:srgbClr val="111827"/>
              </a:solidFill>
            </a:endParaRPr>
          </a:p>
        </p:txBody>
      </p:sp>
      <p:sp>
        <p:nvSpPr>
          <p:cNvPr id="235" name="矩形 234">
            <a:extLst>
              <a:ext uri="{FF2B5EF4-FFF2-40B4-BE49-F238E27FC236}">
                <a16:creationId xmlns:a16="http://schemas.microsoft.com/office/drawing/2014/main" id="{813AAA8E-1466-4E3E-9A52-1CE627875773}"/>
              </a:ext>
            </a:extLst>
          </p:cNvPr>
          <p:cNvSpPr/>
          <p:nvPr/>
        </p:nvSpPr>
        <p:spPr>
          <a:xfrm>
            <a:off x="431800" y="6248400"/>
            <a:ext cx="9652000" cy="533400"/>
          </a:xfrm>
          <a:prstGeom prst="rect">
            <a:avLst/>
          </a:prstGeom>
          <a:solidFill>
            <a:srgbClr val="FFF5F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236" name="矩形 235">
            <a:extLst>
              <a:ext uri="{FF2B5EF4-FFF2-40B4-BE49-F238E27FC236}">
                <a16:creationId xmlns:a16="http://schemas.microsoft.com/office/drawing/2014/main" id="{61BC929F-DD19-4487-9C91-02E8FD34028D}"/>
              </a:ext>
            </a:extLst>
          </p:cNvPr>
          <p:cNvSpPr/>
          <p:nvPr/>
        </p:nvSpPr>
        <p:spPr>
          <a:xfrm>
            <a:off x="736600" y="6337300"/>
            <a:ext cx="1587500" cy="3048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zh-CN" altLang="en-US" sz="1700" b="1">
                <a:solidFill>
                  <a:srgbClr val="DC2626"/>
                </a:solidFill>
              </a:rPr>
              <a:t>设备驱动层</a:t>
            </a:r>
          </a:p>
        </p:txBody>
      </p:sp>
      <p:sp>
        <p:nvSpPr>
          <p:cNvPr id="237" name="矩形 236">
            <a:extLst>
              <a:ext uri="{FF2B5EF4-FFF2-40B4-BE49-F238E27FC236}">
                <a16:creationId xmlns:a16="http://schemas.microsoft.com/office/drawing/2014/main" id="{AD8E8E80-5B4B-477B-9274-0D192044700D}"/>
              </a:ext>
            </a:extLst>
          </p:cNvPr>
          <p:cNvSpPr/>
          <p:nvPr/>
        </p:nvSpPr>
        <p:spPr>
          <a:xfrm>
            <a:off x="2921000" y="6375400"/>
            <a:ext cx="1651000" cy="3048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altLang="zh-CN" sz="950" b="1">
                <a:solidFill>
                  <a:srgbClr val="111827"/>
                </a:solidFill>
              </a:rPr>
              <a:t>VirtIO Net Driver</a:t>
            </a:r>
            <a:endParaRPr lang="zh-CN" altLang="en-US" sz="950" b="1">
              <a:solidFill>
                <a:srgbClr val="111827"/>
              </a:solidFill>
            </a:endParaRPr>
          </a:p>
        </p:txBody>
      </p:sp>
      <p:sp>
        <p:nvSpPr>
          <p:cNvPr id="238" name="矩形 237">
            <a:extLst>
              <a:ext uri="{FF2B5EF4-FFF2-40B4-BE49-F238E27FC236}">
                <a16:creationId xmlns:a16="http://schemas.microsoft.com/office/drawing/2014/main" id="{72EB6B23-8D0E-4A85-B883-EC031C1FBC5A}"/>
              </a:ext>
            </a:extLst>
          </p:cNvPr>
          <p:cNvSpPr/>
          <p:nvPr/>
        </p:nvSpPr>
        <p:spPr>
          <a:xfrm>
            <a:off x="5461000" y="6375400"/>
            <a:ext cx="1651000" cy="3048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altLang="zh-CN" sz="950" b="1">
                <a:solidFill>
                  <a:srgbClr val="111827"/>
                </a:solidFill>
              </a:rPr>
              <a:t>Loopback</a:t>
            </a:r>
            <a:endParaRPr lang="zh-CN" altLang="en-US" sz="950" b="1">
              <a:solidFill>
                <a:srgbClr val="111827"/>
              </a:solidFill>
            </a:endParaRPr>
          </a:p>
        </p:txBody>
      </p:sp>
      <p:sp>
        <p:nvSpPr>
          <p:cNvPr id="239" name="矩形 238">
            <a:extLst>
              <a:ext uri="{FF2B5EF4-FFF2-40B4-BE49-F238E27FC236}">
                <a16:creationId xmlns:a16="http://schemas.microsoft.com/office/drawing/2014/main" id="{FDD5A536-0F87-468A-8B6E-587D83DAF0F4}"/>
              </a:ext>
            </a:extLst>
          </p:cNvPr>
          <p:cNvSpPr/>
          <p:nvPr/>
        </p:nvSpPr>
        <p:spPr>
          <a:xfrm>
            <a:off x="8001000" y="6375400"/>
            <a:ext cx="1651000" cy="3048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altLang="zh-CN" sz="950" b="1">
                <a:solidFill>
                  <a:srgbClr val="111827"/>
                </a:solidFill>
              </a:rPr>
              <a:t>VethDriver</a:t>
            </a:r>
            <a:endParaRPr lang="zh-CN" altLang="en-US" sz="950" b="1">
              <a:solidFill>
                <a:srgbClr val="111827"/>
              </a:solidFill>
            </a:endParaRPr>
          </a:p>
        </p:txBody>
      </p:sp>
      <p:sp>
        <p:nvSpPr>
          <p:cNvPr id="240" name="矩形 239">
            <a:extLst>
              <a:ext uri="{FF2B5EF4-FFF2-40B4-BE49-F238E27FC236}">
                <a16:creationId xmlns:a16="http://schemas.microsoft.com/office/drawing/2014/main" id="{7F64F5C7-BD71-4990-B255-00E579EB97F6}"/>
              </a:ext>
            </a:extLst>
          </p:cNvPr>
          <p:cNvSpPr/>
          <p:nvPr/>
        </p:nvSpPr>
        <p:spPr>
          <a:xfrm>
            <a:off x="10414000" y="2794000"/>
            <a:ext cx="1524000" cy="2476500"/>
          </a:xfrm>
          <a:prstGeom prst="rect">
            <a:avLst/>
          </a:prstGeom>
          <a:solidFill>
            <a:srgbClr val="FFFAF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241" name="矩形 240">
            <a:extLst>
              <a:ext uri="{FF2B5EF4-FFF2-40B4-BE49-F238E27FC236}">
                <a16:creationId xmlns:a16="http://schemas.microsoft.com/office/drawing/2014/main" id="{167278E6-4888-4F97-AAF7-C1C430D6A314}"/>
              </a:ext>
            </a:extLst>
          </p:cNvPr>
          <p:cNvSpPr/>
          <p:nvPr/>
        </p:nvSpPr>
        <p:spPr>
          <a:xfrm>
            <a:off x="10604500" y="2984500"/>
            <a:ext cx="1206500" cy="2794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zh-CN" altLang="en-US" sz="1500" b="1">
                <a:solidFill>
                  <a:srgbClr val="EA580C"/>
                </a:solidFill>
              </a:rPr>
              <a:t>管理面路径</a:t>
            </a:r>
          </a:p>
        </p:txBody>
      </p:sp>
      <p:sp>
        <p:nvSpPr>
          <p:cNvPr id="242" name="矩形 241">
            <a:extLst>
              <a:ext uri="{FF2B5EF4-FFF2-40B4-BE49-F238E27FC236}">
                <a16:creationId xmlns:a16="http://schemas.microsoft.com/office/drawing/2014/main" id="{ADC40C78-76C4-496B-B58D-EB2EE8C09132}"/>
              </a:ext>
            </a:extLst>
          </p:cNvPr>
          <p:cNvSpPr/>
          <p:nvPr/>
        </p:nvSpPr>
        <p:spPr>
          <a:xfrm>
            <a:off x="10604500" y="3556000"/>
            <a:ext cx="1143000" cy="355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altLang="zh-CN" sz="880" b="1">
                <a:solidFill>
                  <a:srgbClr val="111827"/>
                </a:solidFill>
              </a:rPr>
              <a:t>ip addr / ip link</a:t>
            </a:r>
            <a:endParaRPr lang="zh-CN" altLang="en-US" sz="880" b="1">
              <a:solidFill>
                <a:srgbClr val="111827"/>
              </a:solidFill>
            </a:endParaRPr>
          </a:p>
        </p:txBody>
      </p:sp>
      <p:sp>
        <p:nvSpPr>
          <p:cNvPr id="243" name="矩形 242">
            <a:extLst>
              <a:ext uri="{FF2B5EF4-FFF2-40B4-BE49-F238E27FC236}">
                <a16:creationId xmlns:a16="http://schemas.microsoft.com/office/drawing/2014/main" id="{E2B6B620-F154-4357-A548-8994359563B9}"/>
              </a:ext>
            </a:extLst>
          </p:cNvPr>
          <p:cNvSpPr/>
          <p:nvPr/>
        </p:nvSpPr>
        <p:spPr>
          <a:xfrm>
            <a:off x="10604500" y="4191000"/>
            <a:ext cx="1143000" cy="355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altLang="zh-CN" sz="880" b="1">
                <a:solidFill>
                  <a:srgbClr val="111827"/>
                </a:solidFill>
              </a:rPr>
              <a:t>NetlinkSocket</a:t>
            </a:r>
            <a:endParaRPr lang="zh-CN" altLang="en-US" sz="880" b="1">
              <a:solidFill>
                <a:srgbClr val="111827"/>
              </a:solidFill>
            </a:endParaRPr>
          </a:p>
        </p:txBody>
      </p:sp>
      <p:sp>
        <p:nvSpPr>
          <p:cNvPr id="244" name="矩形 243">
            <a:extLst>
              <a:ext uri="{FF2B5EF4-FFF2-40B4-BE49-F238E27FC236}">
                <a16:creationId xmlns:a16="http://schemas.microsoft.com/office/drawing/2014/main" id="{A3067678-1339-4AAF-9772-C274DB458784}"/>
              </a:ext>
            </a:extLst>
          </p:cNvPr>
          <p:cNvSpPr/>
          <p:nvPr/>
        </p:nvSpPr>
        <p:spPr>
          <a:xfrm>
            <a:off x="10604500" y="4826000"/>
            <a:ext cx="1143000" cy="355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altLang="zh-CN" sz="850" b="1">
                <a:solidFill>
                  <a:srgbClr val="111827"/>
                </a:solidFill>
              </a:rPr>
              <a:t>device_list
router / iface</a:t>
            </a:r>
            <a:endParaRPr lang="zh-CN" altLang="en-US" sz="850" b="1">
              <a:solidFill>
                <a:srgbClr val="111827"/>
              </a:solidFill>
            </a:endParaRPr>
          </a:p>
        </p:txBody>
      </p:sp>
      <p:sp>
        <p:nvSpPr>
          <p:cNvPr id="245" name="矩形 244">
            <a:extLst>
              <a:ext uri="{FF2B5EF4-FFF2-40B4-BE49-F238E27FC236}">
                <a16:creationId xmlns:a16="http://schemas.microsoft.com/office/drawing/2014/main" id="{632167A9-B33A-4C35-9B10-6AAE7054AAC3}"/>
              </a:ext>
            </a:extLst>
          </p:cNvPr>
          <p:cNvSpPr/>
          <p:nvPr/>
        </p:nvSpPr>
        <p:spPr>
          <a:xfrm>
            <a:off x="10223500" y="5778500"/>
            <a:ext cx="1651000" cy="6604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246" name="矩形 245">
            <a:extLst>
              <a:ext uri="{FF2B5EF4-FFF2-40B4-BE49-F238E27FC236}">
                <a16:creationId xmlns:a16="http://schemas.microsoft.com/office/drawing/2014/main" id="{0B5D73DC-A283-452C-9F4B-D30642BBBEFB}"/>
              </a:ext>
            </a:extLst>
          </p:cNvPr>
          <p:cNvSpPr/>
          <p:nvPr/>
        </p:nvSpPr>
        <p:spPr>
          <a:xfrm>
            <a:off x="10350500" y="5867400"/>
            <a:ext cx="1397000" cy="482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zh-CN" altLang="en-US" sz="850">
                <a:solidFill>
                  <a:srgbClr val="334155"/>
                </a:solidFill>
              </a:rPr>
              <a:t>蓝色：数据面路径
橙色：管理面路径</a:t>
            </a:r>
          </a:p>
        </p:txBody>
      </p:sp>
    </p:spTree>
    <p:extLst>
      <p:ext uri="{BB962C8B-B14F-4D97-AF65-F5344CB8AC3E}">
        <p14:creationId xmlns:p14="http://schemas.microsoft.com/office/powerpoint/2010/main" val="40243931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001"/>
          <p:cNvPicPr>
            <a:picLocks noChangeAspect="1"/>
          </p:cNvPicPr>
          <p:nvPr/>
        </p:nvPicPr>
        <p:blipFill>
          <a:blip r:embed="rId3"/>
          <a:srcRect l="5389" t="37981" r="4352" b="38194"/>
          <a:stretch>
            <a:fillRect/>
          </a:stretch>
        </p:blipFill>
        <p:spPr>
          <a:xfrm>
            <a:off x="9106535" y="123825"/>
            <a:ext cx="2757805" cy="728345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B83F8BE3-D563-452F-9436-EBB69CE28755}"/>
              </a:ext>
            </a:extLst>
          </p:cNvPr>
          <p:cNvSpPr txBox="1"/>
          <p:nvPr/>
        </p:nvSpPr>
        <p:spPr>
          <a:xfrm>
            <a:off x="736600" y="1143000"/>
            <a:ext cx="10541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zh-CN" altLang="en-US" sz="1500" b="1">
                <a:solidFill>
                  <a:srgbClr val="0B2F55"/>
                </a:solidFill>
                <a:latin typeface="Microsoft YaHei"/>
                <a:ea typeface="Microsoft YaHei"/>
              </a:rPr>
              <a:t>用户看到的是 </a:t>
            </a:r>
            <a:r>
              <a:rPr lang="en-US" altLang="zh-CN" sz="1500" b="1">
                <a:solidFill>
                  <a:srgbClr val="0B2F55"/>
                </a:solidFill>
                <a:latin typeface="Microsoft YaHei"/>
                <a:ea typeface="Microsoft YaHei"/>
              </a:rPr>
              <a:t>POSIX Socket</a:t>
            </a:r>
            <a:r>
              <a:rPr lang="zh-CN" altLang="en-US" sz="1500" b="1">
                <a:solidFill>
                  <a:srgbClr val="0B2F55"/>
                </a:solidFill>
                <a:latin typeface="Microsoft YaHei"/>
                <a:ea typeface="Microsoft YaHei"/>
              </a:rPr>
              <a:t>；内核通过 </a:t>
            </a:r>
            <a:r>
              <a:rPr lang="en-US" altLang="zh-CN" sz="1500" b="1">
                <a:solidFill>
                  <a:srgbClr val="0B2F55"/>
                </a:solidFill>
                <a:latin typeface="Microsoft YaHei"/>
                <a:ea typeface="Microsoft YaHei"/>
              </a:rPr>
              <a:t>RouteSocketHandle / SocketBinding </a:t>
            </a:r>
            <a:r>
              <a:rPr lang="zh-CN" altLang="en-US" sz="1500" b="1">
                <a:solidFill>
                  <a:srgbClr val="0B2F55"/>
                </a:solidFill>
                <a:latin typeface="Microsoft YaHei"/>
                <a:ea typeface="Microsoft YaHei"/>
              </a:rPr>
              <a:t>连接具体设备与 </a:t>
            </a:r>
            <a:r>
              <a:rPr lang="en-US" altLang="zh-CN" sz="1500" b="1">
                <a:solidFill>
                  <a:srgbClr val="0B2F55"/>
                </a:solidFill>
                <a:latin typeface="Microsoft YaHei"/>
                <a:ea typeface="Microsoft YaHei"/>
              </a:rPr>
              <a:t>smoltcp handle</a:t>
            </a:r>
            <a:r>
              <a:rPr lang="zh-CN" altLang="en-US" sz="1500" b="1">
                <a:solidFill>
                  <a:srgbClr val="0B2F55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F67E605-C3A8-47D8-988F-51AF65E5CF9E}"/>
              </a:ext>
            </a:extLst>
          </p:cNvPr>
          <p:cNvSpPr/>
          <p:nvPr/>
        </p:nvSpPr>
        <p:spPr>
          <a:xfrm>
            <a:off x="965200" y="1854200"/>
            <a:ext cx="9017000" cy="9652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A9BCD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AB32FBA5-1B5F-47ED-91EF-F824F6E35FDA}"/>
              </a:ext>
            </a:extLst>
          </p:cNvPr>
          <p:cNvSpPr/>
          <p:nvPr/>
        </p:nvSpPr>
        <p:spPr>
          <a:xfrm>
            <a:off x="1270000" y="2095500"/>
            <a:ext cx="1841500" cy="406400"/>
          </a:xfrm>
          <a:prstGeom prst="roundRect">
            <a:avLst/>
          </a:prstGeom>
          <a:solidFill>
            <a:srgbClr val="4A76D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alt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Protocol Layer</a:t>
            </a:r>
            <a:endParaRPr lang="zh-CN" altLang="en-US" sz="1050" b="1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CB5110E-BF7D-4D1F-8D10-CBDB3BD763C7}"/>
              </a:ext>
            </a:extLst>
          </p:cNvPr>
          <p:cNvSpPr txBox="1"/>
          <p:nvPr/>
        </p:nvSpPr>
        <p:spPr>
          <a:xfrm>
            <a:off x="3556000" y="2006600"/>
            <a:ext cx="5969000" cy="609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altLang="zh-CN" sz="1250">
                <a:solidFill>
                  <a:srgbClr val="172B4D"/>
                </a:solidFill>
                <a:latin typeface="Microsoft YaHei"/>
                <a:ea typeface="Microsoft YaHei"/>
              </a:rPr>
              <a:t>TCP / UDP / RAW / Unix / Netlink / Packet
Socket trait + SocketFile </a:t>
            </a:r>
            <a:r>
              <a:rPr lang="zh-CN" altLang="en-US" sz="1250">
                <a:solidFill>
                  <a:srgbClr val="172B4D"/>
                </a:solidFill>
                <a:latin typeface="Microsoft YaHei"/>
                <a:ea typeface="Microsoft YaHei"/>
              </a:rPr>
              <a:t>封装 </a:t>
            </a:r>
            <a:r>
              <a:rPr lang="en-US" altLang="zh-CN" sz="1250">
                <a:solidFill>
                  <a:srgbClr val="172B4D"/>
                </a:solidFill>
                <a:latin typeface="Microsoft YaHei"/>
                <a:ea typeface="Microsoft YaHei"/>
              </a:rPr>
              <a:t>POSIX </a:t>
            </a:r>
            <a:r>
              <a:rPr lang="zh-CN" altLang="en-US" sz="1250">
                <a:solidFill>
                  <a:srgbClr val="172B4D"/>
                </a:solidFill>
                <a:latin typeface="Microsoft YaHei"/>
                <a:ea typeface="Microsoft YaHei"/>
              </a:rPr>
              <a:t>语义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6518A0B-3B2B-4476-BFE2-B2B0B6C00983}"/>
              </a:ext>
            </a:extLst>
          </p:cNvPr>
          <p:cNvSpPr/>
          <p:nvPr/>
        </p:nvSpPr>
        <p:spPr>
          <a:xfrm>
            <a:off x="5524500" y="2832100"/>
            <a:ext cx="38100" cy="457200"/>
          </a:xfrm>
          <a:prstGeom prst="rect">
            <a:avLst/>
          </a:prstGeom>
          <a:solidFill>
            <a:srgbClr val="B5C5E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C809825-13D1-4E72-B47E-90821556768E}"/>
              </a:ext>
            </a:extLst>
          </p:cNvPr>
          <p:cNvSpPr/>
          <p:nvPr/>
        </p:nvSpPr>
        <p:spPr>
          <a:xfrm>
            <a:off x="965200" y="3276600"/>
            <a:ext cx="9017000" cy="9652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5C18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A67D46C2-915F-4D5E-85A7-EA3CEE8C20E1}"/>
              </a:ext>
            </a:extLst>
          </p:cNvPr>
          <p:cNvSpPr/>
          <p:nvPr/>
        </p:nvSpPr>
        <p:spPr>
          <a:xfrm>
            <a:off x="1270000" y="3517900"/>
            <a:ext cx="1841500" cy="406400"/>
          </a:xfrm>
          <a:prstGeom prst="roundRect">
            <a:avLst/>
          </a:prstGeom>
          <a:solidFill>
            <a:srgbClr val="F1993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alt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Routing Layer</a:t>
            </a:r>
            <a:endParaRPr lang="zh-CN" altLang="en-US" sz="1050" b="1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BB44B7B-8467-4878-97B5-4CC9E2A594D8}"/>
              </a:ext>
            </a:extLst>
          </p:cNvPr>
          <p:cNvSpPr txBox="1"/>
          <p:nvPr/>
        </p:nvSpPr>
        <p:spPr>
          <a:xfrm>
            <a:off x="3556000" y="3429000"/>
            <a:ext cx="5969000" cy="609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altLang="zh-CN" sz="1250">
                <a:solidFill>
                  <a:srgbClr val="172B4D"/>
                </a:solidFill>
                <a:latin typeface="Microsoft YaHei"/>
                <a:ea typeface="Microsoft YaHei"/>
              </a:rPr>
              <a:t>RouteSocketHandle → SocketBinding
route_output + RouteTable + PortManager</a:t>
            </a:r>
            <a:endParaRPr lang="zh-CN" altLang="en-US" sz="1250">
              <a:solidFill>
                <a:srgbClr val="172B4D"/>
              </a:solidFill>
              <a:latin typeface="Microsoft YaHei"/>
              <a:ea typeface="Microsoft YaHei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E3FDC04-71F8-41E9-AA8A-4FC9EBBB2EFA}"/>
              </a:ext>
            </a:extLst>
          </p:cNvPr>
          <p:cNvSpPr/>
          <p:nvPr/>
        </p:nvSpPr>
        <p:spPr>
          <a:xfrm>
            <a:off x="5524500" y="4254500"/>
            <a:ext cx="38100" cy="457200"/>
          </a:xfrm>
          <a:prstGeom prst="rect">
            <a:avLst/>
          </a:prstGeom>
          <a:solidFill>
            <a:srgbClr val="B5C5E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80AAB5A-4E81-40F6-8977-8D65553AC9AC}"/>
              </a:ext>
            </a:extLst>
          </p:cNvPr>
          <p:cNvSpPr/>
          <p:nvPr/>
        </p:nvSpPr>
        <p:spPr>
          <a:xfrm>
            <a:off x="965200" y="4699000"/>
            <a:ext cx="9017000" cy="9652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9ECDB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7A0FA324-7B71-46D4-9359-3A4A3220C5CB}"/>
              </a:ext>
            </a:extLst>
          </p:cNvPr>
          <p:cNvSpPr/>
          <p:nvPr/>
        </p:nvSpPr>
        <p:spPr>
          <a:xfrm>
            <a:off x="1270000" y="4940300"/>
            <a:ext cx="1841500" cy="406400"/>
          </a:xfrm>
          <a:prstGeom prst="roundRect">
            <a:avLst/>
          </a:prstGeom>
          <a:solidFill>
            <a:srgbClr val="31A16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alt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Device Layer</a:t>
            </a:r>
            <a:endParaRPr lang="zh-CN" altLang="en-US" sz="1050" b="1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28982D4-3E90-421C-88D0-0E864321CD46}"/>
              </a:ext>
            </a:extLst>
          </p:cNvPr>
          <p:cNvSpPr txBox="1"/>
          <p:nvPr/>
        </p:nvSpPr>
        <p:spPr>
          <a:xfrm>
            <a:off x="3556000" y="4851400"/>
            <a:ext cx="5969000" cy="609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altLang="zh-CN" sz="1250">
                <a:solidFill>
                  <a:srgbClr val="172B4D"/>
                </a:solidFill>
                <a:latin typeface="Microsoft YaHei"/>
                <a:ea typeface="Microsoft YaHei"/>
              </a:rPr>
              <a:t>lo / eth0 / veth
DeviceStack</a:t>
            </a:r>
            <a:r>
              <a:rPr lang="zh-CN" altLang="en-US" sz="1250">
                <a:solidFill>
                  <a:srgbClr val="172B4D"/>
                </a:solidFill>
                <a:latin typeface="Microsoft YaHei"/>
                <a:ea typeface="Microsoft YaHei"/>
              </a:rPr>
              <a:t>：每设备独立 </a:t>
            </a:r>
            <a:r>
              <a:rPr lang="en-US" altLang="zh-CN" sz="1250">
                <a:solidFill>
                  <a:srgbClr val="172B4D"/>
                </a:solidFill>
                <a:latin typeface="Microsoft YaHei"/>
                <a:ea typeface="Microsoft YaHei"/>
              </a:rPr>
              <a:t>Interface / SocketSet</a:t>
            </a:r>
            <a:endParaRPr lang="zh-CN" altLang="en-US" sz="1250">
              <a:solidFill>
                <a:srgbClr val="172B4D"/>
              </a:solidFill>
              <a:latin typeface="Microsoft YaHei"/>
              <a:ea typeface="Microsoft YaHei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5B11544-C793-4E13-B326-475342C854CF}"/>
              </a:ext>
            </a:extLst>
          </p:cNvPr>
          <p:cNvSpPr/>
          <p:nvPr/>
        </p:nvSpPr>
        <p:spPr>
          <a:xfrm>
            <a:off x="10223500" y="1930400"/>
            <a:ext cx="1524000" cy="31750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9E3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D76CE0F-D173-49CE-A368-60D2C765D273}"/>
              </a:ext>
            </a:extLst>
          </p:cNvPr>
          <p:cNvSpPr/>
          <p:nvPr/>
        </p:nvSpPr>
        <p:spPr>
          <a:xfrm>
            <a:off x="10223500" y="1930400"/>
            <a:ext cx="63500" cy="3175000"/>
          </a:xfrm>
          <a:prstGeom prst="rect">
            <a:avLst/>
          </a:prstGeom>
          <a:solidFill>
            <a:srgbClr val="23A2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EA96FCF-253A-4B85-B020-74F106AFFE6D}"/>
              </a:ext>
            </a:extLst>
          </p:cNvPr>
          <p:cNvSpPr txBox="1"/>
          <p:nvPr/>
        </p:nvSpPr>
        <p:spPr>
          <a:xfrm>
            <a:off x="10452100" y="2120900"/>
            <a:ext cx="10668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zh-CN" altLang="en-US" sz="1320" b="1">
                <a:solidFill>
                  <a:srgbClr val="123B67"/>
                </a:solidFill>
                <a:latin typeface="Microsoft YaHei"/>
                <a:ea typeface="Microsoft YaHei"/>
              </a:rPr>
              <a:t>证据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4CBA713-89C5-47D3-A24C-E3BC6035C944}"/>
              </a:ext>
            </a:extLst>
          </p:cNvPr>
          <p:cNvSpPr txBox="1"/>
          <p:nvPr/>
        </p:nvSpPr>
        <p:spPr>
          <a:xfrm>
            <a:off x="10452100" y="2540000"/>
            <a:ext cx="1117600" cy="24384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altLang="zh-CN" sz="950">
                <a:solidFill>
                  <a:srgbClr val="0B2F55"/>
                </a:solidFill>
                <a:latin typeface="Microsoft YaHei"/>
                <a:ea typeface="Microsoft YaHei"/>
              </a:rPr>
              <a:t>handle: usize id
binding: ifindex + handle + proto
NET_INTERFACE: stacks / bindings</a:t>
            </a:r>
            <a:endParaRPr lang="zh-CN" altLang="en-US" sz="950">
              <a:solidFill>
                <a:srgbClr val="0B2F55"/>
              </a:solidFill>
              <a:latin typeface="Microsoft YaHei"/>
              <a:ea typeface="Microsoft YaHei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2855FEF-DF75-427A-B559-2B8515A89A76}"/>
              </a:ext>
            </a:extLst>
          </p:cNvPr>
          <p:cNvSpPr txBox="1"/>
          <p:nvPr/>
        </p:nvSpPr>
        <p:spPr>
          <a:xfrm>
            <a:off x="1587500" y="5715000"/>
            <a:ext cx="89535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zh-CN" altLang="en-US" sz="1200" b="1">
                <a:solidFill>
                  <a:srgbClr val="0B2F55"/>
                </a:solidFill>
                <a:latin typeface="Microsoft YaHei"/>
                <a:ea typeface="Microsoft YaHei"/>
              </a:rPr>
              <a:t>结论：</a:t>
            </a:r>
            <a:r>
              <a:rPr lang="en-US" altLang="zh-CN" sz="1200" b="1">
                <a:solidFill>
                  <a:srgbClr val="0B2F55"/>
                </a:solidFill>
                <a:latin typeface="Microsoft YaHei"/>
                <a:ea typeface="Microsoft YaHei"/>
              </a:rPr>
              <a:t>Socket </a:t>
            </a:r>
            <a:r>
              <a:rPr lang="zh-CN" altLang="en-US" sz="1200" b="1">
                <a:solidFill>
                  <a:srgbClr val="0B2F55"/>
                </a:solidFill>
                <a:latin typeface="Microsoft YaHei"/>
                <a:ea typeface="Microsoft YaHei"/>
              </a:rPr>
              <a:t>语义向上稳定，设备与路由向下可扩展。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0FF7D56-7450-49B9-A9F9-8444D86D2160}"/>
              </a:ext>
            </a:extLst>
          </p:cNvPr>
          <p:cNvSpPr txBox="1"/>
          <p:nvPr/>
        </p:nvSpPr>
        <p:spPr>
          <a:xfrm>
            <a:off x="482600" y="6502400"/>
            <a:ext cx="10922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fontScale="92500" lnSpcReduction="20000"/>
          </a:bodyPr>
          <a:lstStyle/>
          <a:p>
            <a:pPr algn="l"/>
            <a:r>
              <a:rPr lang="zh-CN" altLang="en-US" sz="750">
                <a:solidFill>
                  <a:srgbClr val="8A96A8"/>
                </a:solidFill>
                <a:latin typeface="Microsoft YaHei"/>
                <a:ea typeface="Microsoft YaHei"/>
              </a:rPr>
              <a:t>依据：</a:t>
            </a:r>
            <a:r>
              <a:rPr lang="en-US" altLang="zh-CN" sz="750">
                <a:solidFill>
                  <a:srgbClr val="8A96A8"/>
                </a:solidFill>
                <a:latin typeface="Microsoft YaHei"/>
                <a:ea typeface="Microsoft YaHei"/>
              </a:rPr>
              <a:t>docs/06_net/README.md</a:t>
            </a:r>
            <a:r>
              <a:rPr lang="zh-CN" altLang="en-US" sz="750">
                <a:solidFill>
                  <a:srgbClr val="8A96A8"/>
                </a:solidFill>
                <a:latin typeface="Microsoft YaHei"/>
                <a:ea typeface="Microsoft YaHei"/>
              </a:rPr>
              <a:t>、</a:t>
            </a:r>
            <a:r>
              <a:rPr lang="en-US" altLang="zh-CN" sz="750">
                <a:solidFill>
                  <a:srgbClr val="8A96A8"/>
                </a:solidFill>
                <a:latin typeface="Microsoft YaHei"/>
                <a:ea typeface="Microsoft YaHei"/>
              </a:rPr>
              <a:t>os/src/net/routing.rs</a:t>
            </a:r>
            <a:r>
              <a:rPr lang="zh-CN" altLang="en-US" sz="750">
                <a:solidFill>
                  <a:srgbClr val="8A96A8"/>
                </a:solidFill>
                <a:latin typeface="Microsoft YaHei"/>
                <a:ea typeface="Microsoft YaHei"/>
              </a:rPr>
              <a:t>、</a:t>
            </a:r>
            <a:r>
              <a:rPr lang="en-US" altLang="zh-CN" sz="750">
                <a:solidFill>
                  <a:srgbClr val="8A96A8"/>
                </a:solidFill>
                <a:latin typeface="Microsoft YaHei"/>
                <a:ea typeface="Microsoft YaHei"/>
              </a:rPr>
              <a:t>os/src/net/config.rs</a:t>
            </a:r>
            <a:r>
              <a:rPr lang="zh-CN" altLang="en-US" sz="750">
                <a:solidFill>
                  <a:srgbClr val="8A96A8"/>
                </a:solidFill>
                <a:latin typeface="Microsoft YaHei"/>
                <a:ea typeface="Microsoft YaHei"/>
              </a:rPr>
              <a:t>；支持 </a:t>
            </a:r>
            <a:r>
              <a:rPr lang="en-US" altLang="zh-CN" sz="750">
                <a:solidFill>
                  <a:srgbClr val="8A96A8"/>
                </a:solidFill>
                <a:latin typeface="Microsoft YaHei"/>
                <a:ea typeface="Microsoft YaHei"/>
              </a:rPr>
              <a:t>TCP/UDP/RAW/Unix/Netlink/Packet </a:t>
            </a:r>
            <a:r>
              <a:rPr lang="zh-CN" altLang="en-US" sz="750">
                <a:solidFill>
                  <a:srgbClr val="8A96A8"/>
                </a:solidFill>
                <a:latin typeface="Microsoft YaHei"/>
                <a:ea typeface="Microsoft YaHei"/>
              </a:rPr>
              <a:t>与 </a:t>
            </a:r>
            <a:r>
              <a:rPr lang="en-US" altLang="zh-CN" sz="750">
                <a:solidFill>
                  <a:srgbClr val="8A96A8"/>
                </a:solidFill>
                <a:latin typeface="Microsoft YaHei"/>
                <a:ea typeface="Microsoft YaHei"/>
              </a:rPr>
              <a:t>/proc/net</a:t>
            </a:r>
            <a:r>
              <a:rPr lang="zh-CN" altLang="en-US" sz="750">
                <a:solidFill>
                  <a:srgbClr val="8A96A8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7C52A9B-9CA7-4229-9621-996D1857A205}"/>
              </a:ext>
            </a:extLst>
          </p:cNvPr>
          <p:cNvSpPr/>
          <p:nvPr/>
        </p:nvSpPr>
        <p:spPr>
          <a:xfrm>
            <a:off x="254000" y="304800"/>
            <a:ext cx="101600" cy="482600"/>
          </a:xfrm>
          <a:prstGeom prst="rect">
            <a:avLst/>
          </a:prstGeom>
          <a:solidFill>
            <a:srgbClr val="3F70B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8E3D422-76A5-4D12-B9A1-94D1A03C8A70}"/>
              </a:ext>
            </a:extLst>
          </p:cNvPr>
          <p:cNvSpPr/>
          <p:nvPr/>
        </p:nvSpPr>
        <p:spPr>
          <a:xfrm>
            <a:off x="254000" y="838200"/>
            <a:ext cx="11684000" cy="19050"/>
          </a:xfrm>
          <a:prstGeom prst="rect">
            <a:avLst/>
          </a:prstGeom>
          <a:solidFill>
            <a:srgbClr val="3F70B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8E64D4E-9BE1-4EBE-8233-A54266E8BBFE}"/>
              </a:ext>
            </a:extLst>
          </p:cNvPr>
          <p:cNvSpPr txBox="1"/>
          <p:nvPr/>
        </p:nvSpPr>
        <p:spPr>
          <a:xfrm>
            <a:off x="736600" y="228600"/>
            <a:ext cx="81280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2000" b="1">
                <a:solidFill>
                  <a:srgbClr val="3F70B7"/>
                </a:solidFill>
                <a:latin typeface="Microsoft YaHei"/>
                <a:ea typeface="Microsoft YaHei"/>
              </a:rPr>
              <a:t>网络栈：</a:t>
            </a:r>
            <a:r>
              <a:rPr lang="en-US" altLang="zh-CN" sz="2000" b="1">
                <a:solidFill>
                  <a:srgbClr val="3F70B7"/>
                </a:solidFill>
                <a:latin typeface="Microsoft YaHei"/>
                <a:ea typeface="Microsoft YaHei"/>
              </a:rPr>
              <a:t>POSIX Socket </a:t>
            </a:r>
            <a:r>
              <a:rPr lang="zh-CN" altLang="en-US" sz="2000" b="1">
                <a:solidFill>
                  <a:srgbClr val="3F70B7"/>
                </a:solidFill>
                <a:latin typeface="Microsoft YaHei"/>
                <a:ea typeface="Microsoft YaHei"/>
              </a:rPr>
              <a:t>语义与设备数据面解耦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C5155949-7EDE-48FE-97E2-3B089876F6C0}"/>
              </a:ext>
            </a:extLst>
          </p:cNvPr>
          <p:cNvSpPr/>
          <p:nvPr/>
        </p:nvSpPr>
        <p:spPr>
          <a:xfrm>
            <a:off x="0" y="0"/>
            <a:ext cx="8953500" cy="990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621200C-8029-4412-8EE6-D3298FAD6E26}"/>
              </a:ext>
            </a:extLst>
          </p:cNvPr>
          <p:cNvSpPr/>
          <p:nvPr/>
        </p:nvSpPr>
        <p:spPr>
          <a:xfrm>
            <a:off x="254000" y="330200"/>
            <a:ext cx="88900" cy="431800"/>
          </a:xfrm>
          <a:prstGeom prst="rect">
            <a:avLst/>
          </a:prstGeom>
          <a:solidFill>
            <a:srgbClr val="3F70B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318862C3-CBC8-4F3F-842E-F315D0F57EAE}"/>
              </a:ext>
            </a:extLst>
          </p:cNvPr>
          <p:cNvSpPr/>
          <p:nvPr/>
        </p:nvSpPr>
        <p:spPr>
          <a:xfrm>
            <a:off x="254000" y="838200"/>
            <a:ext cx="8763000" cy="17780"/>
          </a:xfrm>
          <a:prstGeom prst="rect">
            <a:avLst/>
          </a:prstGeom>
          <a:solidFill>
            <a:srgbClr val="3F70B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679B8929-2E77-4DDC-8C0F-B3C86839971C}"/>
              </a:ext>
            </a:extLst>
          </p:cNvPr>
          <p:cNvSpPr txBox="1"/>
          <p:nvPr/>
        </p:nvSpPr>
        <p:spPr>
          <a:xfrm>
            <a:off x="711200" y="279400"/>
            <a:ext cx="8064500" cy="3556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spAutoFit/>
          </a:bodyPr>
          <a:lstStyle/>
          <a:p>
            <a:pPr algn="l"/>
            <a:r>
              <a:rPr lang="zh-CN" altLang="en-US" b="1">
                <a:solidFill>
                  <a:srgbClr val="3F70B7"/>
                </a:solidFill>
                <a:latin typeface="Microsoft YaHei UI"/>
                <a:ea typeface="Microsoft YaHei UI"/>
              </a:rPr>
              <a:t>网络栈：</a:t>
            </a:r>
            <a:r>
              <a:rPr lang="en-US" altLang="zh-CN" b="1">
                <a:solidFill>
                  <a:srgbClr val="3F70B7"/>
                </a:solidFill>
                <a:latin typeface="Microsoft YaHei UI"/>
                <a:ea typeface="Microsoft YaHei UI"/>
              </a:rPr>
              <a:t>POSIX Socket </a:t>
            </a:r>
            <a:r>
              <a:rPr lang="zh-CN" altLang="en-US" b="1">
                <a:solidFill>
                  <a:srgbClr val="3F70B7"/>
                </a:solidFill>
                <a:latin typeface="Microsoft YaHei UI"/>
                <a:ea typeface="Microsoft YaHei UI"/>
              </a:rPr>
              <a:t>与设备数据面解耦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760954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王湘浩楼"/>
          <p:cNvPicPr>
            <a:picLocks noChangeAspect="1"/>
          </p:cNvPicPr>
          <p:nvPr/>
        </p:nvPicPr>
        <p:blipFill>
          <a:blip r:embed="rId3">
            <a:alphaModFix amt="36000"/>
          </a:blip>
          <a:srcRect l="4998" t="42898" r="5103"/>
          <a:stretch>
            <a:fillRect/>
          </a:stretch>
        </p:blipFill>
        <p:spPr>
          <a:xfrm>
            <a:off x="-118110" y="4234180"/>
            <a:ext cx="12310110" cy="270446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8" name="矩形 17"/>
          <p:cNvSpPr/>
          <p:nvPr/>
        </p:nvSpPr>
        <p:spPr>
          <a:xfrm>
            <a:off x="0" y="0"/>
            <a:ext cx="12192000" cy="6938010"/>
          </a:xfrm>
          <a:prstGeom prst="rect">
            <a:avLst/>
          </a:prstGeom>
          <a:gradFill>
            <a:gsLst>
              <a:gs pos="42000">
                <a:schemeClr val="bg1">
                  <a:alpha val="83000"/>
                </a:schemeClr>
              </a:gs>
              <a:gs pos="100000">
                <a:schemeClr val="bg1">
                  <a:alpha val="90000"/>
                </a:schemeClr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br>
              <a:rPr lang="zh-CN" altLang="en-US" sz="1200" dirty="0">
                <a:sym typeface="+mn-ea"/>
              </a:rPr>
            </a:br>
            <a:r>
              <a:rPr lang="zh-CN" altLang="en-US" sz="1200" dirty="0">
                <a:sym typeface="+mn-ea"/>
              </a:rPr>
              <a:t>数据洪流与</a:t>
            </a:r>
            <a:r>
              <a:rPr lang="en-US" altLang="zh-CN" sz="1200" dirty="0">
                <a:sym typeface="+mn-ea"/>
              </a:rPr>
              <a:t>AI</a:t>
            </a:r>
            <a:r>
              <a:rPr lang="zh-CN" altLang="en-US" sz="1200" dirty="0">
                <a:sym typeface="+mn-ea"/>
              </a:rPr>
              <a:t>的</a:t>
            </a:r>
            <a:br>
              <a:rPr lang="zh-CN" altLang="en-US" sz="1200" dirty="0">
                <a:sym typeface="+mn-ea"/>
              </a:rPr>
            </a:br>
            <a:r>
              <a:rPr lang="zh-CN" altLang="en-US" sz="1200" dirty="0">
                <a:sym typeface="+mn-ea"/>
              </a:rPr>
              <a:t>变革性影响</a:t>
            </a:r>
            <a:endParaRPr lang="en-US" sz="1200"/>
          </a:p>
        </p:txBody>
      </p:sp>
      <p:sp>
        <p:nvSpPr>
          <p:cNvPr id="4" name="标题"/>
          <p:cNvSpPr>
            <a:spLocks noGrp="1"/>
          </p:cNvSpPr>
          <p:nvPr/>
        </p:nvSpPr>
        <p:spPr>
          <a:xfrm>
            <a:off x="3121025" y="2167890"/>
            <a:ext cx="8462645" cy="212725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30000"/>
              </a:lnSpc>
            </a:pPr>
            <a:br>
              <a:rPr lang="zh-CN" altLang="en-US" sz="40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40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总结</a:t>
            </a:r>
          </a:p>
          <a:p>
            <a:pPr algn="ctr">
              <a:lnSpc>
                <a:spcPct val="130000"/>
              </a:lnSpc>
            </a:pPr>
            <a:r>
              <a:rPr lang="zh-CN" altLang="en-US" sz="40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Benchmark 驱动的工程沉淀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780540" y="2372995"/>
            <a:ext cx="2261870" cy="1861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248424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7DB1022-F0D8-43D7-BCC7-F2F587FCEF07}"/>
              </a:ext>
            </a:extLst>
          </p:cNvPr>
          <p:cNvSpPr/>
          <p:nvPr/>
        </p:nvSpPr>
        <p:spPr>
          <a:xfrm>
            <a:off x="254000" y="330200"/>
            <a:ext cx="88900" cy="431800"/>
          </a:xfrm>
          <a:prstGeom prst="rect">
            <a:avLst/>
          </a:prstGeom>
          <a:solidFill>
            <a:srgbClr val="4472C4"/>
          </a:solidFill>
          <a:ln w="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60FD68A-D109-4B1C-BF20-A652C76C5AA9}"/>
              </a:ext>
            </a:extLst>
          </p:cNvPr>
          <p:cNvSpPr/>
          <p:nvPr/>
        </p:nvSpPr>
        <p:spPr>
          <a:xfrm>
            <a:off x="254000" y="838200"/>
            <a:ext cx="11684000" cy="16510"/>
          </a:xfrm>
          <a:prstGeom prst="rect">
            <a:avLst/>
          </a:prstGeom>
          <a:solidFill>
            <a:srgbClr val="4472C4"/>
          </a:solidFill>
          <a:ln w="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73EEAE4-2310-499D-8319-578693E8150C}"/>
              </a:ext>
            </a:extLst>
          </p:cNvPr>
          <p:cNvSpPr txBox="1"/>
          <p:nvPr/>
        </p:nvSpPr>
        <p:spPr>
          <a:xfrm>
            <a:off x="736600" y="317500"/>
            <a:ext cx="7874000" cy="431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zh-CN" altLang="en-US" sz="2100" b="1">
                <a:solidFill>
                  <a:srgbClr val="3F70B7"/>
                </a:solidFill>
                <a:latin typeface="Microsoft YaHei UI"/>
                <a:ea typeface="Microsoft YaHei UI"/>
              </a:rPr>
              <a:t>总结：</a:t>
            </a:r>
            <a:r>
              <a:rPr lang="en-US" altLang="zh-CN" sz="2100" b="1">
                <a:solidFill>
                  <a:srgbClr val="3F70B7"/>
                </a:solidFill>
                <a:latin typeface="Microsoft YaHei UI"/>
                <a:ea typeface="Microsoft YaHei UI"/>
              </a:rPr>
              <a:t>MangoCore </a:t>
            </a:r>
            <a:r>
              <a:rPr lang="zh-CN" altLang="en-US" sz="2100" b="1">
                <a:solidFill>
                  <a:srgbClr val="3F70B7"/>
                </a:solidFill>
                <a:latin typeface="Microsoft YaHei UI"/>
                <a:ea typeface="Microsoft YaHei UI"/>
              </a:rPr>
              <a:t>的工程化成果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191E51F-2A02-4A02-BE9D-A58CBF293290}"/>
              </a:ext>
            </a:extLst>
          </p:cNvPr>
          <p:cNvSpPr txBox="1"/>
          <p:nvPr/>
        </p:nvSpPr>
        <p:spPr>
          <a:xfrm>
            <a:off x="9652000" y="622300"/>
            <a:ext cx="2159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rmAutofit fontScale="92500" lnSpcReduction="20000"/>
          </a:bodyPr>
          <a:lstStyle/>
          <a:p>
            <a:pPr algn="l"/>
            <a:r>
              <a:rPr lang="en-US" altLang="zh-CN" sz="800">
                <a:solidFill>
                  <a:srgbClr val="153F7C"/>
                </a:solidFill>
              </a:rPr>
              <a:t>Intelligent Computing and System Lab</a:t>
            </a:r>
            <a:endParaRPr lang="zh-CN" altLang="en-US" sz="800">
              <a:solidFill>
                <a:srgbClr val="153F7C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D5F65BE-AB06-47AF-BB93-1B3B19392703}"/>
              </a:ext>
            </a:extLst>
          </p:cNvPr>
          <p:cNvSpPr txBox="1"/>
          <p:nvPr/>
        </p:nvSpPr>
        <p:spPr>
          <a:xfrm>
            <a:off x="812800" y="1206500"/>
            <a:ext cx="10414000" cy="533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rmAutofit fontScale="92500" lnSpcReduction="20000"/>
          </a:bodyPr>
          <a:lstStyle/>
          <a:p>
            <a:pPr algn="l"/>
            <a:r>
              <a:rPr lang="en-US" altLang="zh-CN" sz="1900" b="1">
                <a:solidFill>
                  <a:srgbClr val="001F3F"/>
                </a:solidFill>
              </a:rPr>
              <a:t>MangoCore </a:t>
            </a:r>
            <a:r>
              <a:rPr lang="zh-CN" altLang="en-US" sz="1900" b="1">
                <a:solidFill>
                  <a:srgbClr val="001F3F"/>
                </a:solidFill>
              </a:rPr>
              <a:t>的主线不是“堆功能”，而是把 </a:t>
            </a:r>
            <a:r>
              <a:rPr lang="en-US" altLang="zh-CN" sz="1900" b="1">
                <a:solidFill>
                  <a:srgbClr val="001F3F"/>
                </a:solidFill>
              </a:rPr>
              <a:t>Linux </a:t>
            </a:r>
            <a:r>
              <a:rPr lang="zh-CN" altLang="en-US" sz="1900" b="1">
                <a:solidFill>
                  <a:srgbClr val="001F3F"/>
                </a:solidFill>
              </a:rPr>
              <a:t>兼容能力沉淀成可运行、可观测、可回归的内核工程。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5AAEC7D-9EC9-479A-9849-9DC4BFDBC730}"/>
              </a:ext>
            </a:extLst>
          </p:cNvPr>
          <p:cNvSpPr/>
          <p:nvPr/>
        </p:nvSpPr>
        <p:spPr>
          <a:xfrm>
            <a:off x="990600" y="1905000"/>
            <a:ext cx="4826000" cy="1219200"/>
          </a:xfrm>
          <a:prstGeom prst="rect">
            <a:avLst/>
          </a:prstGeom>
          <a:solidFill>
            <a:srgbClr val="F8FB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3E08278-5277-4F4B-A9C2-51962F3C1147}"/>
              </a:ext>
            </a:extLst>
          </p:cNvPr>
          <p:cNvSpPr/>
          <p:nvPr/>
        </p:nvSpPr>
        <p:spPr>
          <a:xfrm>
            <a:off x="990600" y="1905000"/>
            <a:ext cx="76200" cy="12192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769ABCF-4F41-4F40-86DD-1DE3C0BD6895}"/>
              </a:ext>
            </a:extLst>
          </p:cNvPr>
          <p:cNvSpPr/>
          <p:nvPr/>
        </p:nvSpPr>
        <p:spPr>
          <a:xfrm>
            <a:off x="1219200" y="2133600"/>
            <a:ext cx="685800" cy="3302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zh-CN" altLang="en-US" sz="1300" b="1">
                <a:solidFill>
                  <a:srgbClr val="FFFFFF"/>
                </a:solidFill>
              </a:rPr>
              <a:t>兼容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F956D9A-A879-4EB7-9D50-8399278E9E98}"/>
              </a:ext>
            </a:extLst>
          </p:cNvPr>
          <p:cNvSpPr txBox="1"/>
          <p:nvPr/>
        </p:nvSpPr>
        <p:spPr>
          <a:xfrm>
            <a:off x="2108200" y="2108200"/>
            <a:ext cx="3175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rmAutofit fontScale="92500" lnSpcReduction="20000"/>
          </a:bodyPr>
          <a:lstStyle/>
          <a:p>
            <a:pPr algn="l"/>
            <a:r>
              <a:rPr lang="en-US" altLang="zh-CN" sz="1700" b="1">
                <a:solidFill>
                  <a:srgbClr val="08213F"/>
                </a:solidFill>
              </a:rPr>
              <a:t>Linux </a:t>
            </a:r>
            <a:r>
              <a:rPr lang="zh-CN" altLang="en-US" sz="1700" b="1">
                <a:solidFill>
                  <a:srgbClr val="08213F"/>
                </a:solidFill>
              </a:rPr>
              <a:t>语义承载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5FFEBF8-8C00-42DB-872A-9D1FABB7CF28}"/>
              </a:ext>
            </a:extLst>
          </p:cNvPr>
          <p:cNvSpPr txBox="1"/>
          <p:nvPr/>
        </p:nvSpPr>
        <p:spPr>
          <a:xfrm>
            <a:off x="2108200" y="2514600"/>
            <a:ext cx="3302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zh-CN" altLang="en-US" sz="1100">
                <a:solidFill>
                  <a:srgbClr val="33415C"/>
                </a:solidFill>
              </a:rPr>
              <a:t>覆盖 </a:t>
            </a:r>
            <a:r>
              <a:rPr lang="en-US" altLang="zh-CN" sz="1100">
                <a:solidFill>
                  <a:srgbClr val="33415C"/>
                </a:solidFill>
              </a:rPr>
              <a:t>syscall</a:t>
            </a:r>
            <a:r>
              <a:rPr lang="zh-CN" altLang="en-US" sz="1100">
                <a:solidFill>
                  <a:srgbClr val="33415C"/>
                </a:solidFill>
              </a:rPr>
              <a:t>、</a:t>
            </a:r>
            <a:r>
              <a:rPr lang="en-US" altLang="zh-CN" sz="1100">
                <a:solidFill>
                  <a:srgbClr val="33415C"/>
                </a:solidFill>
              </a:rPr>
              <a:t>VFS</a:t>
            </a:r>
            <a:r>
              <a:rPr lang="zh-CN" altLang="en-US" sz="1100">
                <a:solidFill>
                  <a:srgbClr val="33415C"/>
                </a:solidFill>
              </a:rPr>
              <a:t>、</a:t>
            </a:r>
            <a:r>
              <a:rPr lang="en-US" altLang="zh-CN" sz="1100">
                <a:solidFill>
                  <a:srgbClr val="33415C"/>
                </a:solidFill>
              </a:rPr>
              <a:t>Socket</a:t>
            </a:r>
            <a:r>
              <a:rPr lang="zh-CN" altLang="en-US" sz="1100">
                <a:solidFill>
                  <a:srgbClr val="33415C"/>
                </a:solidFill>
              </a:rPr>
              <a:t>、</a:t>
            </a:r>
            <a:r>
              <a:rPr lang="en-US" altLang="zh-CN" sz="1100">
                <a:solidFill>
                  <a:srgbClr val="33415C"/>
                </a:solidFill>
              </a:rPr>
              <a:t>mmap </a:t>
            </a:r>
            <a:r>
              <a:rPr lang="zh-CN" altLang="en-US" sz="1100">
                <a:solidFill>
                  <a:srgbClr val="33415C"/>
                </a:solidFill>
              </a:rPr>
              <a:t>与事件接口；承载 </a:t>
            </a:r>
            <a:r>
              <a:rPr lang="en-US" altLang="zh-CN" sz="1100">
                <a:solidFill>
                  <a:srgbClr val="33415C"/>
                </a:solidFill>
              </a:rPr>
              <a:t>BusyBox</a:t>
            </a:r>
            <a:r>
              <a:rPr lang="zh-CN" altLang="en-US" sz="1100">
                <a:solidFill>
                  <a:srgbClr val="33415C"/>
                </a:solidFill>
              </a:rPr>
              <a:t>、</a:t>
            </a:r>
            <a:r>
              <a:rPr lang="en-US" altLang="zh-CN" sz="1100">
                <a:solidFill>
                  <a:srgbClr val="33415C"/>
                </a:solidFill>
              </a:rPr>
              <a:t>libc-test</a:t>
            </a:r>
            <a:r>
              <a:rPr lang="zh-CN" altLang="en-US" sz="1100">
                <a:solidFill>
                  <a:srgbClr val="33415C"/>
                </a:solidFill>
              </a:rPr>
              <a:t>、</a:t>
            </a:r>
            <a:r>
              <a:rPr lang="en-US" altLang="zh-CN" sz="1100">
                <a:solidFill>
                  <a:srgbClr val="33415C"/>
                </a:solidFill>
              </a:rPr>
              <a:t>IOzone</a:t>
            </a:r>
            <a:r>
              <a:rPr lang="zh-CN" altLang="en-US" sz="1100">
                <a:solidFill>
                  <a:srgbClr val="33415C"/>
                </a:solidFill>
              </a:rPr>
              <a:t>、</a:t>
            </a:r>
            <a:r>
              <a:rPr lang="en-US" altLang="zh-CN" sz="1100">
                <a:solidFill>
                  <a:srgbClr val="33415C"/>
                </a:solidFill>
              </a:rPr>
              <a:t>iperf </a:t>
            </a:r>
            <a:r>
              <a:rPr lang="zh-CN" altLang="en-US" sz="1100">
                <a:solidFill>
                  <a:srgbClr val="33415C"/>
                </a:solidFill>
              </a:rPr>
              <a:t>等负载。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78CABD9-75C4-4EC8-9A26-30CC7F14F8E6}"/>
              </a:ext>
            </a:extLst>
          </p:cNvPr>
          <p:cNvSpPr/>
          <p:nvPr/>
        </p:nvSpPr>
        <p:spPr>
          <a:xfrm>
            <a:off x="6413500" y="1905000"/>
            <a:ext cx="4826000" cy="1219200"/>
          </a:xfrm>
          <a:prstGeom prst="rect">
            <a:avLst/>
          </a:prstGeom>
          <a:solidFill>
            <a:srgbClr val="F8FB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03DF40F-6F41-4C35-8872-FC4EE4765E79}"/>
              </a:ext>
            </a:extLst>
          </p:cNvPr>
          <p:cNvSpPr/>
          <p:nvPr/>
        </p:nvSpPr>
        <p:spPr>
          <a:xfrm>
            <a:off x="6413500" y="1905000"/>
            <a:ext cx="76200" cy="1219200"/>
          </a:xfrm>
          <a:prstGeom prst="rect">
            <a:avLst/>
          </a:prstGeom>
          <a:solidFill>
            <a:srgbClr val="2FA3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3A01D96-0688-45CB-BDCC-09FF0137884E}"/>
              </a:ext>
            </a:extLst>
          </p:cNvPr>
          <p:cNvSpPr/>
          <p:nvPr/>
        </p:nvSpPr>
        <p:spPr>
          <a:xfrm>
            <a:off x="6642100" y="2133600"/>
            <a:ext cx="685800" cy="330200"/>
          </a:xfrm>
          <a:prstGeom prst="rect">
            <a:avLst/>
          </a:prstGeom>
          <a:solidFill>
            <a:srgbClr val="2FA3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zh-CN" altLang="en-US" sz="1300" b="1">
                <a:solidFill>
                  <a:srgbClr val="FFFFFF"/>
                </a:solidFill>
              </a:rPr>
              <a:t>架构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D93C579-5297-45C5-B5F1-560FABB3470D}"/>
              </a:ext>
            </a:extLst>
          </p:cNvPr>
          <p:cNvSpPr txBox="1"/>
          <p:nvPr/>
        </p:nvSpPr>
        <p:spPr>
          <a:xfrm>
            <a:off x="7531100" y="2108200"/>
            <a:ext cx="3175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rmAutofit fontScale="92500" lnSpcReduction="20000"/>
          </a:bodyPr>
          <a:lstStyle/>
          <a:p>
            <a:pPr algn="l"/>
            <a:r>
              <a:rPr lang="zh-CN" altLang="en-US" sz="1700" b="1">
                <a:solidFill>
                  <a:srgbClr val="08213F"/>
                </a:solidFill>
              </a:rPr>
              <a:t>双架构统一实现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1F22438-99B7-418D-A8FC-AB5EC335F28B}"/>
              </a:ext>
            </a:extLst>
          </p:cNvPr>
          <p:cNvSpPr txBox="1"/>
          <p:nvPr/>
        </p:nvSpPr>
        <p:spPr>
          <a:xfrm>
            <a:off x="7531100" y="2514600"/>
            <a:ext cx="3302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altLang="zh-CN" sz="1100">
                <a:solidFill>
                  <a:srgbClr val="33415C"/>
                </a:solidFill>
              </a:rPr>
              <a:t>RISC-V64 </a:t>
            </a:r>
            <a:r>
              <a:rPr lang="zh-CN" altLang="en-US" sz="1100">
                <a:solidFill>
                  <a:srgbClr val="33415C"/>
                </a:solidFill>
              </a:rPr>
              <a:t>与 </a:t>
            </a:r>
            <a:r>
              <a:rPr lang="en-US" altLang="zh-CN" sz="1100">
                <a:solidFill>
                  <a:srgbClr val="33415C"/>
                </a:solidFill>
              </a:rPr>
              <a:t>LoongArch64 </a:t>
            </a:r>
            <a:r>
              <a:rPr lang="zh-CN" altLang="en-US" sz="1100">
                <a:solidFill>
                  <a:srgbClr val="33415C"/>
                </a:solidFill>
              </a:rPr>
              <a:t>差异由 </a:t>
            </a:r>
            <a:r>
              <a:rPr lang="en-US" altLang="zh-CN" sz="1100">
                <a:solidFill>
                  <a:srgbClr val="33415C"/>
                </a:solidFill>
              </a:rPr>
              <a:t>HAL</a:t>
            </a:r>
            <a:r>
              <a:rPr lang="zh-CN" altLang="en-US" sz="1100">
                <a:solidFill>
                  <a:srgbClr val="33415C"/>
                </a:solidFill>
              </a:rPr>
              <a:t>、</a:t>
            </a:r>
            <a:r>
              <a:rPr lang="en-US" altLang="zh-CN" sz="1100">
                <a:solidFill>
                  <a:srgbClr val="33415C"/>
                </a:solidFill>
              </a:rPr>
              <a:t>trap/TLB</a:t>
            </a:r>
            <a:r>
              <a:rPr lang="zh-CN" altLang="en-US" sz="1100">
                <a:solidFill>
                  <a:srgbClr val="33415C"/>
                </a:solidFill>
              </a:rPr>
              <a:t>、构建链和启动入口承接。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3909870-10AC-44FC-B9D0-F1206DF9483C}"/>
              </a:ext>
            </a:extLst>
          </p:cNvPr>
          <p:cNvSpPr/>
          <p:nvPr/>
        </p:nvSpPr>
        <p:spPr>
          <a:xfrm>
            <a:off x="990600" y="3378200"/>
            <a:ext cx="4826000" cy="1219200"/>
          </a:xfrm>
          <a:prstGeom prst="rect">
            <a:avLst/>
          </a:prstGeom>
          <a:solidFill>
            <a:srgbClr val="F8FB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1120CF5-C37D-4BFB-B9AE-C670BC7D9807}"/>
              </a:ext>
            </a:extLst>
          </p:cNvPr>
          <p:cNvSpPr/>
          <p:nvPr/>
        </p:nvSpPr>
        <p:spPr>
          <a:xfrm>
            <a:off x="990600" y="3378200"/>
            <a:ext cx="76200" cy="1219200"/>
          </a:xfrm>
          <a:prstGeom prst="rect">
            <a:avLst/>
          </a:prstGeom>
          <a:solidFill>
            <a:srgbClr val="F59E2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ECC7BD2-8ACE-4D54-A55E-6580DC308051}"/>
              </a:ext>
            </a:extLst>
          </p:cNvPr>
          <p:cNvSpPr/>
          <p:nvPr/>
        </p:nvSpPr>
        <p:spPr>
          <a:xfrm>
            <a:off x="1219200" y="3606800"/>
            <a:ext cx="685800" cy="330200"/>
          </a:xfrm>
          <a:prstGeom prst="rect">
            <a:avLst/>
          </a:prstGeom>
          <a:solidFill>
            <a:srgbClr val="F59E2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zh-CN" altLang="en-US" sz="1300" b="1">
                <a:solidFill>
                  <a:srgbClr val="FFFFFF"/>
                </a:solidFill>
              </a:rPr>
              <a:t>机制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52286E0-0F35-4B37-8F41-6DB7F50C7361}"/>
              </a:ext>
            </a:extLst>
          </p:cNvPr>
          <p:cNvSpPr txBox="1"/>
          <p:nvPr/>
        </p:nvSpPr>
        <p:spPr>
          <a:xfrm>
            <a:off x="2108200" y="3581400"/>
            <a:ext cx="3175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rmAutofit fontScale="92500" lnSpcReduction="20000"/>
          </a:bodyPr>
          <a:lstStyle/>
          <a:p>
            <a:pPr algn="l"/>
            <a:r>
              <a:rPr lang="zh-CN" altLang="en-US" sz="1700" b="1">
                <a:solidFill>
                  <a:srgbClr val="08213F"/>
                </a:solidFill>
              </a:rPr>
              <a:t>核心子系统成体系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E4CCFB7-5674-4174-B618-1FBC24633056}"/>
              </a:ext>
            </a:extLst>
          </p:cNvPr>
          <p:cNvSpPr txBox="1"/>
          <p:nvPr/>
        </p:nvSpPr>
        <p:spPr>
          <a:xfrm>
            <a:off x="2108200" y="3987800"/>
            <a:ext cx="3302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altLang="zh-CN" sz="1100">
                <a:solidFill>
                  <a:srgbClr val="33415C"/>
                </a:solidFill>
              </a:rPr>
              <a:t>PCB/TCB</a:t>
            </a:r>
            <a:r>
              <a:rPr lang="zh-CN" altLang="en-US" sz="1100">
                <a:solidFill>
                  <a:srgbClr val="33415C"/>
                </a:solidFill>
              </a:rPr>
              <a:t>、</a:t>
            </a:r>
            <a:r>
              <a:rPr lang="en-US" altLang="zh-CN" sz="1100">
                <a:solidFill>
                  <a:srgbClr val="33415C"/>
                </a:solidFill>
              </a:rPr>
              <a:t>AddressSpace</a:t>
            </a:r>
            <a:r>
              <a:rPr lang="zh-CN" altLang="en-US" sz="1100">
                <a:solidFill>
                  <a:srgbClr val="33415C"/>
                </a:solidFill>
              </a:rPr>
              <a:t>、</a:t>
            </a:r>
            <a:r>
              <a:rPr lang="en-US" altLang="zh-CN" sz="1100">
                <a:solidFill>
                  <a:srgbClr val="33415C"/>
                </a:solidFill>
              </a:rPr>
              <a:t>VFS/MountFS</a:t>
            </a:r>
            <a:r>
              <a:rPr lang="zh-CN" altLang="en-US" sz="1100">
                <a:solidFill>
                  <a:srgbClr val="33415C"/>
                </a:solidFill>
              </a:rPr>
              <a:t>、</a:t>
            </a:r>
            <a:r>
              <a:rPr lang="en-US" altLang="zh-CN" sz="1100">
                <a:solidFill>
                  <a:srgbClr val="33415C"/>
                </a:solidFill>
              </a:rPr>
              <a:t>PageCache</a:t>
            </a:r>
            <a:r>
              <a:rPr lang="zh-CN" altLang="en-US" sz="1100">
                <a:solidFill>
                  <a:srgbClr val="33415C"/>
                </a:solidFill>
              </a:rPr>
              <a:t>、</a:t>
            </a:r>
            <a:r>
              <a:rPr lang="en-US" altLang="zh-CN" sz="1100">
                <a:solidFill>
                  <a:srgbClr val="33415C"/>
                </a:solidFill>
              </a:rPr>
              <a:t>DeviceStack </a:t>
            </a:r>
            <a:r>
              <a:rPr lang="zh-CN" altLang="en-US" sz="1100">
                <a:solidFill>
                  <a:srgbClr val="33415C"/>
                </a:solidFill>
              </a:rPr>
              <a:t>等模块边界清晰。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82FAAF5-E20F-48FA-A730-1DE588DA59A8}"/>
              </a:ext>
            </a:extLst>
          </p:cNvPr>
          <p:cNvSpPr/>
          <p:nvPr/>
        </p:nvSpPr>
        <p:spPr>
          <a:xfrm>
            <a:off x="6413500" y="3378200"/>
            <a:ext cx="4826000" cy="1219200"/>
          </a:xfrm>
          <a:prstGeom prst="rect">
            <a:avLst/>
          </a:prstGeom>
          <a:solidFill>
            <a:srgbClr val="F8FB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5512CF3-8AF2-4267-B699-73AA07E06CBE}"/>
              </a:ext>
            </a:extLst>
          </p:cNvPr>
          <p:cNvSpPr/>
          <p:nvPr/>
        </p:nvSpPr>
        <p:spPr>
          <a:xfrm>
            <a:off x="6413500" y="3378200"/>
            <a:ext cx="76200" cy="1219200"/>
          </a:xfrm>
          <a:prstGeom prst="rect">
            <a:avLst/>
          </a:prstGeom>
          <a:solidFill>
            <a:srgbClr val="D84A4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925B4C9-63DE-4AA3-A3F2-E7B0AF27E493}"/>
              </a:ext>
            </a:extLst>
          </p:cNvPr>
          <p:cNvSpPr/>
          <p:nvPr/>
        </p:nvSpPr>
        <p:spPr>
          <a:xfrm>
            <a:off x="6642100" y="3606800"/>
            <a:ext cx="685800" cy="330200"/>
          </a:xfrm>
          <a:prstGeom prst="rect">
            <a:avLst/>
          </a:prstGeom>
          <a:solidFill>
            <a:srgbClr val="D84A4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zh-CN" altLang="en-US" sz="1300" b="1">
                <a:solidFill>
                  <a:srgbClr val="FFFFFF"/>
                </a:solidFill>
              </a:rPr>
              <a:t>工程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24DB0D1-F275-47B7-AFC3-3377EAB4203E}"/>
              </a:ext>
            </a:extLst>
          </p:cNvPr>
          <p:cNvSpPr txBox="1"/>
          <p:nvPr/>
        </p:nvSpPr>
        <p:spPr>
          <a:xfrm>
            <a:off x="7531100" y="3581400"/>
            <a:ext cx="3175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rmAutofit fontScale="92500" lnSpcReduction="20000"/>
          </a:bodyPr>
          <a:lstStyle/>
          <a:p>
            <a:pPr algn="l"/>
            <a:r>
              <a:rPr lang="en-US" altLang="zh-CN" sz="1700" b="1">
                <a:solidFill>
                  <a:srgbClr val="08213F"/>
                </a:solidFill>
              </a:rPr>
              <a:t>Benchmark </a:t>
            </a:r>
            <a:r>
              <a:rPr lang="zh-CN" altLang="en-US" sz="1700" b="1">
                <a:solidFill>
                  <a:srgbClr val="08213F"/>
                </a:solidFill>
              </a:rPr>
              <a:t>驱动闭环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6ECB2F14-376D-44C5-B761-E96FE57BD500}"/>
              </a:ext>
            </a:extLst>
          </p:cNvPr>
          <p:cNvSpPr txBox="1"/>
          <p:nvPr/>
        </p:nvSpPr>
        <p:spPr>
          <a:xfrm>
            <a:off x="7531100" y="3987800"/>
            <a:ext cx="3302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altLang="zh-CN" sz="1100">
                <a:solidFill>
                  <a:srgbClr val="33415C"/>
                </a:solidFill>
              </a:rPr>
              <a:t>Question → Root Cause → Fix → Benchmark → Regression → Knowledge</a:t>
            </a:r>
            <a:r>
              <a:rPr lang="zh-CN" altLang="en-US" sz="1100">
                <a:solidFill>
                  <a:srgbClr val="33415C"/>
                </a:solidFill>
              </a:rPr>
              <a:t>，问题沉淀为 </a:t>
            </a:r>
            <a:r>
              <a:rPr lang="en-US" altLang="zh-CN" sz="1100">
                <a:solidFill>
                  <a:srgbClr val="33415C"/>
                </a:solidFill>
              </a:rPr>
              <a:t>case</a:t>
            </a:r>
            <a:r>
              <a:rPr lang="zh-CN" altLang="en-US" sz="1100">
                <a:solidFill>
                  <a:srgbClr val="33415C"/>
                </a:solidFill>
              </a:rPr>
              <a:t>。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70BD8BB-3C80-44FD-8ED7-69E177D16286}"/>
              </a:ext>
            </a:extLst>
          </p:cNvPr>
          <p:cNvSpPr/>
          <p:nvPr/>
        </p:nvSpPr>
        <p:spPr>
          <a:xfrm>
            <a:off x="1143000" y="5143500"/>
            <a:ext cx="9906000" cy="609600"/>
          </a:xfrm>
          <a:prstGeom prst="rect">
            <a:avLst/>
          </a:prstGeom>
          <a:solidFill>
            <a:srgbClr val="F4F8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0F156E9-6CCD-4449-8007-AB6374BA2840}"/>
              </a:ext>
            </a:extLst>
          </p:cNvPr>
          <p:cNvSpPr/>
          <p:nvPr/>
        </p:nvSpPr>
        <p:spPr>
          <a:xfrm>
            <a:off x="1143000" y="5143500"/>
            <a:ext cx="76200" cy="6096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7D8CBB23-5F91-4873-8DD0-945FEC701FCC}"/>
              </a:ext>
            </a:extLst>
          </p:cNvPr>
          <p:cNvSpPr txBox="1"/>
          <p:nvPr/>
        </p:nvSpPr>
        <p:spPr>
          <a:xfrm>
            <a:off x="1422400" y="5283200"/>
            <a:ext cx="93345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zh-CN" altLang="en-US" sz="1500" b="1">
                <a:solidFill>
                  <a:srgbClr val="08213F"/>
                </a:solidFill>
              </a:rPr>
              <a:t>结论：</a:t>
            </a:r>
            <a:r>
              <a:rPr lang="en-US" altLang="zh-CN" sz="1500" b="1">
                <a:solidFill>
                  <a:srgbClr val="08213F"/>
                </a:solidFill>
              </a:rPr>
              <a:t>MangoCore </a:t>
            </a:r>
            <a:r>
              <a:rPr lang="zh-CN" altLang="en-US" sz="1500" b="1">
                <a:solidFill>
                  <a:srgbClr val="08213F"/>
                </a:solidFill>
              </a:rPr>
              <a:t>已从“能跑测试”演进为“能定位、能回归、能持续演进”的工程化 </a:t>
            </a:r>
            <a:r>
              <a:rPr lang="en-US" altLang="zh-CN" sz="1500" b="1">
                <a:solidFill>
                  <a:srgbClr val="08213F"/>
                </a:solidFill>
              </a:rPr>
              <a:t>Rust OS Kernel</a:t>
            </a:r>
            <a:r>
              <a:rPr lang="zh-CN" altLang="en-US" sz="1500" b="1">
                <a:solidFill>
                  <a:srgbClr val="08213F"/>
                </a:solidFill>
              </a:rPr>
              <a:t>。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DB1A792B-F8D2-431F-88CD-54D9819893E4}"/>
              </a:ext>
            </a:extLst>
          </p:cNvPr>
          <p:cNvSpPr txBox="1"/>
          <p:nvPr/>
        </p:nvSpPr>
        <p:spPr>
          <a:xfrm>
            <a:off x="571500" y="6553200"/>
            <a:ext cx="38100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rmAutofit fontScale="70000" lnSpcReduction="20000"/>
          </a:bodyPr>
          <a:lstStyle/>
          <a:p>
            <a:pPr algn="l"/>
            <a:r>
              <a:rPr lang="en-US" altLang="zh-CN" sz="750">
                <a:solidFill>
                  <a:srgbClr val="7184A3"/>
                </a:solidFill>
              </a:rPr>
              <a:t>MangoCore · OS Kernel Competition 2026 · </a:t>
            </a:r>
            <a:r>
              <a:rPr lang="zh-CN" altLang="en-US" sz="750">
                <a:solidFill>
                  <a:srgbClr val="7184A3"/>
                </a:solidFill>
              </a:rPr>
              <a:t>总结页</a:t>
            </a:r>
          </a:p>
        </p:txBody>
      </p:sp>
    </p:spTree>
    <p:extLst>
      <p:ext uri="{BB962C8B-B14F-4D97-AF65-F5344CB8AC3E}">
        <p14:creationId xmlns:p14="http://schemas.microsoft.com/office/powerpoint/2010/main" val="28370874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王湘浩楼"/>
          <p:cNvPicPr>
            <a:picLocks noChangeAspect="1"/>
          </p:cNvPicPr>
          <p:nvPr/>
        </p:nvPicPr>
        <p:blipFill>
          <a:blip r:embed="rId3"/>
          <a:srcRect l="4998" t="42898" r="5103"/>
          <a:stretch>
            <a:fillRect/>
          </a:stretch>
        </p:blipFill>
        <p:spPr>
          <a:xfrm>
            <a:off x="-118110" y="4272280"/>
            <a:ext cx="12310110" cy="266636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8" name="矩形 17"/>
          <p:cNvSpPr/>
          <p:nvPr/>
        </p:nvSpPr>
        <p:spPr>
          <a:xfrm>
            <a:off x="0" y="80645"/>
            <a:ext cx="12192000" cy="6858000"/>
          </a:xfrm>
          <a:prstGeom prst="rect">
            <a:avLst/>
          </a:prstGeom>
          <a:gradFill>
            <a:gsLst>
              <a:gs pos="42000">
                <a:schemeClr val="bg1">
                  <a:alpha val="83000"/>
                </a:schemeClr>
              </a:gs>
              <a:gs pos="100000">
                <a:schemeClr val="bg1">
                  <a:alpha val="90000"/>
                </a:schemeClr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200"/>
          </a:p>
        </p:txBody>
      </p:sp>
      <p:grpSp>
        <p:nvGrpSpPr>
          <p:cNvPr id="17" name="组合 16"/>
          <p:cNvGrpSpPr/>
          <p:nvPr/>
        </p:nvGrpSpPr>
        <p:grpSpPr>
          <a:xfrm>
            <a:off x="552450" y="326390"/>
            <a:ext cx="2881630" cy="918210"/>
            <a:chOff x="406" y="193"/>
            <a:chExt cx="4538" cy="1446"/>
          </a:xfrm>
          <a:noFill/>
        </p:grpSpPr>
        <p:pic>
          <p:nvPicPr>
            <p:cNvPr id="12" name="图片 11" descr="吉林大学标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994" y="193"/>
              <a:ext cx="2950" cy="915"/>
            </a:xfrm>
            <a:prstGeom prst="rect">
              <a:avLst/>
            </a:prstGeom>
            <a:grpFill/>
          </p:spPr>
        </p:pic>
        <p:pic>
          <p:nvPicPr>
            <p:cNvPr id="14" name="图片 13" descr="吉林大学校徽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06" y="193"/>
              <a:ext cx="1446" cy="1446"/>
            </a:xfrm>
            <a:prstGeom prst="rect">
              <a:avLst/>
            </a:prstGeom>
            <a:grpFill/>
          </p:spPr>
        </p:pic>
        <p:sp>
          <p:nvSpPr>
            <p:cNvPr id="15" name="文本框 14"/>
            <p:cNvSpPr txBox="1"/>
            <p:nvPr/>
          </p:nvSpPr>
          <p:spPr>
            <a:xfrm>
              <a:off x="1994" y="1205"/>
              <a:ext cx="2949" cy="434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836BF"/>
                  </a:solidFill>
                  <a:effectLst/>
                  <a:uLnTx/>
                  <a:uFillTx/>
                  <a:latin typeface="Arial Rounded MT Bold" panose="020F0704030504030204" pitchFamily="34" charset="0"/>
                  <a:ea typeface="宋体" panose="02010600030101010101" pitchFamily="2" charset="-122"/>
                  <a:cs typeface="+mn-cs"/>
                </a:rPr>
                <a:t>JILIN UNIVERSITY</a:t>
              </a:r>
            </a:p>
          </p:txBody>
        </p:sp>
      </p:grpSp>
      <p:pic>
        <p:nvPicPr>
          <p:cNvPr id="8" name="图片 7" descr="001"/>
          <p:cNvPicPr>
            <a:picLocks noChangeAspect="1"/>
          </p:cNvPicPr>
          <p:nvPr/>
        </p:nvPicPr>
        <p:blipFill>
          <a:blip r:embed="rId6"/>
          <a:srcRect l="5389" t="37981" r="4352" b="38194"/>
          <a:stretch>
            <a:fillRect/>
          </a:stretch>
        </p:blipFill>
        <p:spPr>
          <a:xfrm>
            <a:off x="8499793" y="326073"/>
            <a:ext cx="3340735" cy="88201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560830" y="2496185"/>
            <a:ext cx="9330690" cy="12585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6600" b="1" spc="20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敬请批评指正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3277870" y="4653915"/>
            <a:ext cx="15246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汇报人</a:t>
            </a:r>
            <a:endParaRPr lang="en-US" altLang="zh-CN" sz="32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579995" y="4745355"/>
            <a:ext cx="241046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2025.9.1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0C286C7-33EE-4AFE-9032-24837904B2B9}"/>
              </a:ext>
            </a:extLst>
          </p:cNvPr>
          <p:cNvSpPr txBox="1"/>
          <p:nvPr/>
        </p:nvSpPr>
        <p:spPr>
          <a:xfrm>
            <a:off x="2921000" y="3708400"/>
            <a:ext cx="6350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lnSpcReduction="10000"/>
          </a:bodyPr>
          <a:lstStyle/>
          <a:p>
            <a:pPr algn="l"/>
            <a:r>
              <a:rPr lang="zh-CN" altLang="en-US" sz="1250">
                <a:solidFill>
                  <a:srgbClr val="123B67"/>
                </a:solidFill>
                <a:latin typeface="Microsoft YaHei"/>
                <a:ea typeface="Microsoft YaHei"/>
              </a:rPr>
              <a:t>我们希望评委看到：</a:t>
            </a:r>
            <a:r>
              <a:rPr lang="en-US" altLang="zh-CN" sz="1250">
                <a:solidFill>
                  <a:srgbClr val="123B67"/>
                </a:solidFill>
                <a:latin typeface="Microsoft YaHei"/>
                <a:ea typeface="Microsoft YaHei"/>
              </a:rPr>
              <a:t>MangoCore </a:t>
            </a:r>
            <a:r>
              <a:rPr lang="zh-CN" altLang="en-US" sz="1250">
                <a:solidFill>
                  <a:srgbClr val="123B67"/>
                </a:solidFill>
                <a:latin typeface="Microsoft YaHei"/>
                <a:ea typeface="Microsoft YaHei"/>
              </a:rPr>
              <a:t>不是功能堆叠，而是一套能被源码、日志与回归验证的双架构 </a:t>
            </a:r>
            <a:r>
              <a:rPr lang="en-US" altLang="zh-CN" sz="1250">
                <a:solidFill>
                  <a:srgbClr val="123B67"/>
                </a:solidFill>
                <a:latin typeface="Microsoft YaHei"/>
                <a:ea typeface="Microsoft YaHei"/>
              </a:rPr>
              <a:t>Linux </a:t>
            </a:r>
            <a:r>
              <a:rPr lang="zh-CN" altLang="en-US" sz="1250">
                <a:solidFill>
                  <a:srgbClr val="123B67"/>
                </a:solidFill>
                <a:latin typeface="Microsoft YaHei"/>
                <a:ea typeface="Microsoft YaHei"/>
              </a:rPr>
              <a:t>兼容内核工程。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B441636-8215-4E53-9E9A-E7D86888253B}"/>
              </a:ext>
            </a:extLst>
          </p:cNvPr>
          <p:cNvSpPr/>
          <p:nvPr/>
        </p:nvSpPr>
        <p:spPr>
          <a:xfrm>
            <a:off x="3175000" y="3810000"/>
            <a:ext cx="5905500" cy="736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F8FCD11-C128-4597-85E4-B37E5ABF5E8C}"/>
              </a:ext>
            </a:extLst>
          </p:cNvPr>
          <p:cNvSpPr txBox="1"/>
          <p:nvPr/>
        </p:nvSpPr>
        <p:spPr>
          <a:xfrm>
            <a:off x="3175000" y="4000500"/>
            <a:ext cx="59055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altLang="zh-CN" sz="1700" b="1">
                <a:solidFill>
                  <a:srgbClr val="143A5A"/>
                </a:solidFill>
                <a:latin typeface="Microsoft YaHei"/>
                <a:ea typeface="Microsoft YaHei"/>
              </a:rPr>
              <a:t>MangoCore Team · </a:t>
            </a:r>
            <a:r>
              <a:rPr lang="zh-CN" altLang="en-US" sz="1700" b="1">
                <a:solidFill>
                  <a:srgbClr val="143A5A"/>
                </a:solidFill>
                <a:latin typeface="Microsoft YaHei"/>
                <a:ea typeface="Microsoft YaHei"/>
              </a:rPr>
              <a:t>吉林大学 </a:t>
            </a:r>
            <a:r>
              <a:rPr lang="en-US" altLang="zh-CN" sz="1700" b="1">
                <a:solidFill>
                  <a:srgbClr val="143A5A"/>
                </a:solidFill>
                <a:latin typeface="Microsoft YaHei"/>
                <a:ea typeface="Microsoft YaHei"/>
              </a:rPr>
              <a:t>ICS Lab · 2026.6</a:t>
            </a:r>
            <a:endParaRPr lang="zh-CN" altLang="en-US" sz="1700" b="1">
              <a:solidFill>
                <a:srgbClr val="143A5A"/>
              </a:solidFill>
              <a:latin typeface="Microsoft YaHei"/>
              <a:ea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595C86D-F6F0-48AC-BBDB-B50B8E7EF6FE}"/>
              </a:ext>
            </a:extLst>
          </p:cNvPr>
          <p:cNvSpPr/>
          <p:nvPr/>
        </p:nvSpPr>
        <p:spPr>
          <a:xfrm>
            <a:off x="2603500" y="3492500"/>
            <a:ext cx="7112000" cy="1905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15D0BCD-3AA0-42D0-8063-94FB3185EA0E}"/>
              </a:ext>
            </a:extLst>
          </p:cNvPr>
          <p:cNvSpPr txBox="1"/>
          <p:nvPr/>
        </p:nvSpPr>
        <p:spPr>
          <a:xfrm>
            <a:off x="2667000" y="3657600"/>
            <a:ext cx="69850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endParaRPr lang="zh-CN" altLang="en-US" sz="1500" dirty="0">
              <a:solidFill>
                <a:srgbClr val="143A5A"/>
              </a:solidFill>
              <a:latin typeface="Microsoft YaHei"/>
              <a:ea typeface="Microsoft YaHei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47E17F9-E1AB-4CD2-9CDE-9F6856347D1D}"/>
              </a:ext>
            </a:extLst>
          </p:cNvPr>
          <p:cNvSpPr txBox="1"/>
          <p:nvPr/>
        </p:nvSpPr>
        <p:spPr>
          <a:xfrm>
            <a:off x="3587750" y="4069080"/>
            <a:ext cx="59055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altLang="zh-CN" sz="1700" b="1" dirty="0" err="1">
                <a:solidFill>
                  <a:srgbClr val="143A5A"/>
                </a:solidFill>
                <a:latin typeface="Microsoft YaHei"/>
                <a:ea typeface="Microsoft YaHei"/>
              </a:rPr>
              <a:t>MangoCore</a:t>
            </a:r>
            <a:r>
              <a:rPr lang="en-US" altLang="zh-CN" sz="1700" b="1" dirty="0">
                <a:solidFill>
                  <a:srgbClr val="143A5A"/>
                </a:solidFill>
                <a:latin typeface="Microsoft YaHei"/>
                <a:ea typeface="Microsoft YaHei"/>
              </a:rPr>
              <a:t> Team · </a:t>
            </a:r>
            <a:r>
              <a:rPr lang="zh-CN" altLang="en-US" sz="1700" b="1" dirty="0">
                <a:solidFill>
                  <a:srgbClr val="143A5A"/>
                </a:solidFill>
                <a:latin typeface="Microsoft YaHei"/>
                <a:ea typeface="Microsoft YaHei"/>
              </a:rPr>
              <a:t>吉林大学 </a:t>
            </a:r>
            <a:r>
              <a:rPr lang="en-US" altLang="zh-CN" sz="1700" b="1" dirty="0">
                <a:solidFill>
                  <a:srgbClr val="143A5A"/>
                </a:solidFill>
                <a:latin typeface="Microsoft YaHei"/>
                <a:ea typeface="Microsoft YaHei"/>
              </a:rPr>
              <a:t>ICS Lab · 2026.6</a:t>
            </a:r>
            <a:endParaRPr lang="zh-CN" altLang="en-US" sz="1700" b="1" dirty="0">
              <a:solidFill>
                <a:srgbClr val="143A5A"/>
              </a:solidFill>
              <a:latin typeface="Microsoft YaHei"/>
              <a:ea typeface="Microsoft YaHei"/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  <p:tag name="OOFV49UTZTO7NAF8CT2I6W==" val="Gxo9d9GqO8k="/>
  <p:tag name="ICJA5AH5LE1OU3CEJ/NSQG==" val="vcWzgmgObhHX/jrSVqzGmQ==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417C0A0-BEC2-4319-BBBC-7D3ED541DB62}">
  <we:reference id="wa200010215" version="2.0.0.0" store="zh-CN" storeType="OMEX"/>
  <we:alternateReferences>
    <we:reference id="wa200010215" version="2.0.0.0" store="wa200010215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825</TotalTime>
  <Words>2630</Words>
  <Application>Microsoft Office PowerPoint</Application>
  <PresentationFormat>宽屏</PresentationFormat>
  <Paragraphs>373</Paragraphs>
  <Slides>20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20</vt:i4>
      </vt:variant>
    </vt:vector>
  </HeadingPairs>
  <TitlesOfParts>
    <vt:vector size="30" baseType="lpstr">
      <vt:lpstr>HarmonyOS Sans SC</vt:lpstr>
      <vt:lpstr>Microsoft YaHei UI</vt:lpstr>
      <vt:lpstr>等线</vt:lpstr>
      <vt:lpstr>微软雅黑</vt:lpstr>
      <vt:lpstr>微软雅黑</vt:lpstr>
      <vt:lpstr>Arial</vt:lpstr>
      <vt:lpstr>Arial Rounded MT Bold</vt:lpstr>
      <vt:lpstr>Wingdings</vt:lpstr>
      <vt:lpstr>WPS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Peach Pan</cp:lastModifiedBy>
  <cp:revision>162</cp:revision>
  <dcterms:created xsi:type="dcterms:W3CDTF">2019-06-19T02:08:00Z</dcterms:created>
  <dcterms:modified xsi:type="dcterms:W3CDTF">2026-06-30T04:37:56Z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>F8B6EEE30A47416085B7532919555A19_11</vt:lpwstr>
  </property>
</Properties>
</file>